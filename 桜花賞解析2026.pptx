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081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2024360" cy="54864"/>
          </a:xfrm>
          <a:prstGeom prst="rect">
            <a:avLst/>
          </a:prstGeom>
          <a:solidFill>
            <a:srgbClr val="7B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704320" y="0"/>
            <a:ext cx="73152" cy="685800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1463040"/>
            <a:ext cx="1280160" cy="50292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463040"/>
            <a:ext cx="1280160" cy="502920"/>
          </a:xfrm>
          <a:prstGeom prst="rect">
            <a:avLst/>
          </a:prstGeom>
          <a:noFill/>
        </p:spPr>
        <p:txBody>
          <a:bodyPr wrap="square">
            <a:spAutoFit/>
          </a:bodyPr>
          <a:lstStyle/>
          <a:p>
            <a:pPr algn="ctr"/>
            <a:r>
              <a:rPr sz="2200" b="1" i="0">
                <a:solidFill>
                  <a:srgbClr val="1A0814"/>
                </a:solidFill>
                <a:latin typeface="游明朝"/>
                <a:ea typeface="游明朝"/>
              </a:rPr>
              <a:t>G1</a:t>
            </a:r>
          </a:p>
        </p:txBody>
      </p:sp>
      <p:sp>
        <p:nvSpPr>
          <p:cNvPr id="7" name="TextBox 6"/>
          <p:cNvSpPr txBox="1"/>
          <p:nvPr/>
        </p:nvSpPr>
        <p:spPr>
          <a:xfrm>
            <a:off x="1280160" y="2011680"/>
            <a:ext cx="9144000" cy="1737360"/>
          </a:xfrm>
          <a:prstGeom prst="rect">
            <a:avLst/>
          </a:prstGeom>
          <a:noFill/>
        </p:spPr>
        <p:txBody>
          <a:bodyPr wrap="square">
            <a:spAutoFit/>
          </a:bodyPr>
          <a:lstStyle/>
          <a:p>
            <a:pPr algn="l"/>
            <a:r>
              <a:rPr sz="8200" b="1" i="0">
                <a:solidFill>
                  <a:srgbClr val="FFFFFF"/>
                </a:solidFill>
                <a:latin typeface="游明朝"/>
                <a:ea typeface="游明朝"/>
              </a:rPr>
              <a:t>桜　花　賞</a:t>
            </a:r>
          </a:p>
        </p:txBody>
      </p:sp>
      <p:sp>
        <p:nvSpPr>
          <p:cNvPr id="8" name="TextBox 7"/>
          <p:cNvSpPr txBox="1"/>
          <p:nvPr/>
        </p:nvSpPr>
        <p:spPr>
          <a:xfrm>
            <a:off x="1280160" y="3931920"/>
            <a:ext cx="9144000" cy="502920"/>
          </a:xfrm>
          <a:prstGeom prst="rect">
            <a:avLst/>
          </a:prstGeom>
          <a:noFill/>
        </p:spPr>
        <p:txBody>
          <a:bodyPr wrap="square">
            <a:spAutoFit/>
          </a:bodyPr>
          <a:lstStyle/>
          <a:p>
            <a:pPr algn="l"/>
            <a:r>
              <a:rPr sz="1600" b="0" i="0">
                <a:solidFill>
                  <a:srgbClr val="FFC8DC"/>
                </a:solidFill>
                <a:latin typeface="游ゴシック"/>
                <a:ea typeface="游ゴシック"/>
              </a:rPr>
              <a:t>2026年4月12日（日）　阪神競馬場　芝1600m外回り　19頭立て</a:t>
            </a:r>
          </a:p>
        </p:txBody>
      </p:sp>
      <p:sp>
        <p:nvSpPr>
          <p:cNvPr id="9" name="Rectangle 8"/>
          <p:cNvSpPr/>
          <p:nvPr/>
        </p:nvSpPr>
        <p:spPr>
          <a:xfrm>
            <a:off x="1280160" y="4572000"/>
            <a:ext cx="9601200" cy="36576"/>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709160"/>
            <a:ext cx="9601200" cy="502920"/>
          </a:xfrm>
          <a:prstGeom prst="rect">
            <a:avLst/>
          </a:prstGeom>
          <a:noFill/>
        </p:spPr>
        <p:txBody>
          <a:bodyPr wrap="square">
            <a:spAutoFit/>
          </a:bodyPr>
          <a:lstStyle/>
          <a:p>
            <a:pPr algn="l"/>
            <a:r>
              <a:rPr sz="1500" b="0" i="1">
                <a:solidFill>
                  <a:srgbClr val="FCD34D"/>
                </a:solidFill>
                <a:latin typeface="游ゴシック"/>
                <a:ea typeface="游ゴシック"/>
              </a:rPr>
              <a:t>ドリームコア vs スターアニス　—— スコアが示す真の一番人気を解剖する</a:t>
            </a:r>
          </a:p>
        </p:txBody>
      </p:sp>
      <p:sp>
        <p:nvSpPr>
          <p:cNvPr id="11" name="Rectangle 10"/>
          <p:cNvSpPr/>
          <p:nvPr/>
        </p:nvSpPr>
        <p:spPr>
          <a:xfrm>
            <a:off x="0" y="6446520"/>
            <a:ext cx="12188952" cy="411480"/>
          </a:xfrm>
          <a:prstGeom prst="rect">
            <a:avLst/>
          </a:prstGeom>
          <a:solidFill>
            <a:srgbClr val="7B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492240"/>
            <a:ext cx="10972800" cy="320040"/>
          </a:xfrm>
          <a:prstGeom prst="rect">
            <a:avLst/>
          </a:prstGeom>
          <a:noFill/>
        </p:spPr>
        <p:txBody>
          <a:bodyPr wrap="square">
            <a:spAutoFit/>
          </a:bodyPr>
          <a:lstStyle/>
          <a:p>
            <a:pPr algn="l"/>
            <a:r>
              <a:rPr sz="1200" b="0" i="0">
                <a:solidFill>
                  <a:srgbClr val="FFB4D2"/>
                </a:solidFill>
                <a:latin typeface="游ゴシック"/>
                <a:ea typeface="游ゴシック"/>
              </a:rPr>
              <a:t>UG競馬 競馬予想チャンネル  ／  桜花賞解析レポート 2026</a:t>
            </a:r>
          </a:p>
        </p:txBody>
      </p:sp>
      <p:sp>
        <p:nvSpPr>
          <p:cNvPr id="13" name="TextBox 12"/>
          <p:cNvSpPr txBox="1"/>
          <p:nvPr/>
        </p:nvSpPr>
        <p:spPr>
          <a:xfrm>
            <a:off x="9875520" y="6473952"/>
            <a:ext cx="2103120" cy="347472"/>
          </a:xfrm>
          <a:prstGeom prst="rect">
            <a:avLst/>
          </a:prstGeom>
          <a:noFill/>
        </p:spPr>
        <p:txBody>
          <a:bodyPr wrap="square">
            <a:spAutoFit/>
          </a:bodyPr>
          <a:lstStyle/>
          <a:p>
            <a:pPr algn="r"/>
            <a:r>
              <a:rPr sz="1300" b="1" i="0">
                <a:solidFill>
                  <a:srgbClr val="FCD34D"/>
                </a:solidFill>
                <a:latin typeface="游ゴシック"/>
                <a:ea typeface="游ゴシック"/>
              </a:rPr>
              <a:t>無料公開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081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01168"/>
            <a:ext cx="4572000" cy="548640"/>
          </a:xfrm>
          <a:prstGeom prst="rect">
            <a:avLst/>
          </a:prstGeom>
          <a:noFill/>
        </p:spPr>
        <p:txBody>
          <a:bodyPr wrap="square">
            <a:spAutoFit/>
          </a:bodyPr>
          <a:lstStyle/>
          <a:p>
            <a:pPr algn="l"/>
            <a:r>
              <a:rPr sz="3200" b="1" i="0">
                <a:solidFill>
                  <a:srgbClr val="FFFFFF"/>
                </a:solidFill>
                <a:latin typeface="游明朝"/>
                <a:ea typeface="游明朝"/>
              </a:rPr>
              <a:t>レース判定</a:t>
            </a:r>
          </a:p>
        </p:txBody>
      </p:sp>
      <p:sp>
        <p:nvSpPr>
          <p:cNvPr id="4" name="Rectangle 3"/>
          <p:cNvSpPr/>
          <p:nvPr/>
        </p:nvSpPr>
        <p:spPr>
          <a:xfrm>
            <a:off x="320040" y="822960"/>
            <a:ext cx="11430000" cy="36576"/>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960120"/>
            <a:ext cx="2011680" cy="64008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960120"/>
            <a:ext cx="2011680" cy="640080"/>
          </a:xfrm>
          <a:prstGeom prst="rect">
            <a:avLst/>
          </a:prstGeom>
          <a:noFill/>
        </p:spPr>
        <p:txBody>
          <a:bodyPr wrap="square">
            <a:spAutoFit/>
          </a:bodyPr>
          <a:lstStyle/>
          <a:p>
            <a:pPr algn="ctr"/>
            <a:r>
              <a:rPr sz="2600" b="1" i="0">
                <a:solidFill>
                  <a:srgbClr val="1A0814"/>
                </a:solidFill>
                <a:latin typeface="游明朝"/>
                <a:ea typeface="游明朝"/>
              </a:rPr>
              <a:t>1強戦</a:t>
            </a:r>
          </a:p>
        </p:txBody>
      </p:sp>
      <p:sp>
        <p:nvSpPr>
          <p:cNvPr id="7" name="TextBox 6"/>
          <p:cNvSpPr txBox="1"/>
          <p:nvPr/>
        </p:nvSpPr>
        <p:spPr>
          <a:xfrm>
            <a:off x="2468880" y="1005840"/>
            <a:ext cx="9144000" cy="548640"/>
          </a:xfrm>
          <a:prstGeom prst="rect">
            <a:avLst/>
          </a:prstGeom>
          <a:noFill/>
        </p:spPr>
        <p:txBody>
          <a:bodyPr wrap="square">
            <a:spAutoFit/>
          </a:bodyPr>
          <a:lstStyle/>
          <a:p>
            <a:pPr algn="l"/>
            <a:r>
              <a:rPr sz="1400" b="0" i="0">
                <a:solidFill>
                  <a:srgbClr val="FFC8DC"/>
                </a:solidFill>
                <a:latin typeface="游ゴシック"/>
                <a:ea typeface="游ゴシック"/>
              </a:rPr>
              <a:t>単勝スコア1位「スターアニス」(61.8%)が2位「アランカール」(52.5%)を9.3pt上回る</a:t>
            </a:r>
          </a:p>
        </p:txBody>
      </p:sp>
      <p:sp>
        <p:nvSpPr>
          <p:cNvPr id="8" name="TextBox 7"/>
          <p:cNvSpPr txBox="1"/>
          <p:nvPr/>
        </p:nvSpPr>
        <p:spPr>
          <a:xfrm>
            <a:off x="320040" y="1755648"/>
            <a:ext cx="4572000" cy="365760"/>
          </a:xfrm>
          <a:prstGeom prst="rect">
            <a:avLst/>
          </a:prstGeom>
          <a:noFill/>
        </p:spPr>
        <p:txBody>
          <a:bodyPr wrap="square">
            <a:spAutoFit/>
          </a:bodyPr>
          <a:lstStyle/>
          <a:p>
            <a:pPr algn="l"/>
            <a:r>
              <a:rPr sz="1300" b="1" i="0">
                <a:solidFill>
                  <a:srgbClr val="FCD34D"/>
                </a:solidFill>
                <a:latin typeface="游ゴシック"/>
                <a:ea typeface="游ゴシック"/>
              </a:rPr>
              <a:t>▍ 単勝スコア TOP6</a:t>
            </a:r>
          </a:p>
        </p:txBody>
      </p:sp>
      <p:sp>
        <p:nvSpPr>
          <p:cNvPr id="9" name="TextBox 8"/>
          <p:cNvSpPr txBox="1"/>
          <p:nvPr/>
        </p:nvSpPr>
        <p:spPr>
          <a:xfrm>
            <a:off x="6583680" y="1755648"/>
            <a:ext cx="5029200" cy="365760"/>
          </a:xfrm>
          <a:prstGeom prst="rect">
            <a:avLst/>
          </a:prstGeom>
          <a:noFill/>
        </p:spPr>
        <p:txBody>
          <a:bodyPr wrap="square">
            <a:spAutoFit/>
          </a:bodyPr>
          <a:lstStyle/>
          <a:p>
            <a:pPr algn="r"/>
            <a:r>
              <a:rPr sz="1300" b="1" i="0">
                <a:solidFill>
                  <a:srgbClr val="10B981"/>
                </a:solidFill>
                <a:latin typeface="游ゴシック"/>
                <a:ea typeface="游ゴシック"/>
              </a:rPr>
              <a:t>複勝スコア TOP6 ▶</a:t>
            </a:r>
          </a:p>
        </p:txBody>
      </p:sp>
      <p:sp>
        <p:nvSpPr>
          <p:cNvPr id="10" name="Rectangle 9"/>
          <p:cNvSpPr/>
          <p:nvPr/>
        </p:nvSpPr>
        <p:spPr>
          <a:xfrm>
            <a:off x="320040" y="2212848"/>
            <a:ext cx="384048" cy="475488"/>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212848"/>
            <a:ext cx="384048" cy="475488"/>
          </a:xfrm>
          <a:prstGeom prst="rect">
            <a:avLst/>
          </a:prstGeom>
          <a:noFill/>
        </p:spPr>
        <p:txBody>
          <a:bodyPr wrap="square">
            <a:spAutoFit/>
          </a:bodyPr>
          <a:lstStyle/>
          <a:p>
            <a:pPr algn="ctr"/>
            <a:r>
              <a:rPr sz="1400" b="1" i="0">
                <a:solidFill>
                  <a:srgbClr val="1A0814"/>
                </a:solidFill>
                <a:latin typeface="游ゴシック"/>
                <a:ea typeface="游ゴシック"/>
              </a:rPr>
              <a:t>#1</a:t>
            </a:r>
          </a:p>
        </p:txBody>
      </p:sp>
      <p:sp>
        <p:nvSpPr>
          <p:cNvPr id="12" name="TextBox 11"/>
          <p:cNvSpPr txBox="1"/>
          <p:nvPr/>
        </p:nvSpPr>
        <p:spPr>
          <a:xfrm>
            <a:off x="777240" y="2212848"/>
            <a:ext cx="2103120" cy="274320"/>
          </a:xfrm>
          <a:prstGeom prst="rect">
            <a:avLst/>
          </a:prstGeom>
          <a:noFill/>
        </p:spPr>
        <p:txBody>
          <a:bodyPr wrap="square">
            <a:spAutoFit/>
          </a:bodyPr>
          <a:lstStyle/>
          <a:p>
            <a:pPr algn="l"/>
            <a:r>
              <a:rPr sz="1200" b="1" i="0">
                <a:solidFill>
                  <a:srgbClr val="FFFFFF"/>
                </a:solidFill>
                <a:latin typeface="游ゴシック"/>
                <a:ea typeface="游ゴシック"/>
              </a:rPr>
              <a:t>スターアニス</a:t>
            </a:r>
          </a:p>
        </p:txBody>
      </p:sp>
      <p:sp>
        <p:nvSpPr>
          <p:cNvPr id="13" name="TextBox 12"/>
          <p:cNvSpPr txBox="1"/>
          <p:nvPr/>
        </p:nvSpPr>
        <p:spPr>
          <a:xfrm>
            <a:off x="777240" y="2468880"/>
            <a:ext cx="914400" cy="219456"/>
          </a:xfrm>
          <a:prstGeom prst="rect">
            <a:avLst/>
          </a:prstGeom>
          <a:noFill/>
        </p:spPr>
        <p:txBody>
          <a:bodyPr wrap="square">
            <a:spAutoFit/>
          </a:bodyPr>
          <a:lstStyle/>
          <a:p>
            <a:pPr algn="l"/>
            <a:r>
              <a:rPr sz="900" b="0" i="0">
                <a:solidFill>
                  <a:srgbClr val="FFC864"/>
                </a:solidFill>
                <a:latin typeface="游ゴシック"/>
                <a:ea typeface="游ゴシック"/>
              </a:rPr>
              <a:t>4.2倍</a:t>
            </a:r>
          </a:p>
        </p:txBody>
      </p:sp>
      <p:sp>
        <p:nvSpPr>
          <p:cNvPr id="14" name="Rectangle 13"/>
          <p:cNvSpPr/>
          <p:nvPr/>
        </p:nvSpPr>
        <p:spPr>
          <a:xfrm>
            <a:off x="2971800" y="2322576"/>
            <a:ext cx="246888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71800" y="2322576"/>
            <a:ext cx="1524896" cy="256032"/>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0" y="2304288"/>
            <a:ext cx="640080" cy="256032"/>
          </a:xfrm>
          <a:prstGeom prst="rect">
            <a:avLst/>
          </a:prstGeom>
          <a:noFill/>
        </p:spPr>
        <p:txBody>
          <a:bodyPr wrap="square">
            <a:spAutoFit/>
          </a:bodyPr>
          <a:lstStyle/>
          <a:p>
            <a:pPr algn="r"/>
            <a:r>
              <a:rPr sz="1000" b="1" i="0">
                <a:solidFill>
                  <a:srgbClr val="FCD34D"/>
                </a:solidFill>
                <a:latin typeface="游ゴシック"/>
                <a:ea typeface="游ゴシック"/>
              </a:rPr>
              <a:t>61.8%</a:t>
            </a:r>
          </a:p>
        </p:txBody>
      </p:sp>
      <p:sp>
        <p:nvSpPr>
          <p:cNvPr id="17" name="Rectangle 16"/>
          <p:cNvSpPr/>
          <p:nvPr/>
        </p:nvSpPr>
        <p:spPr>
          <a:xfrm>
            <a:off x="320040" y="2871215"/>
            <a:ext cx="384048" cy="475488"/>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871215"/>
            <a:ext cx="384048" cy="475488"/>
          </a:xfrm>
          <a:prstGeom prst="rect">
            <a:avLst/>
          </a:prstGeom>
          <a:noFill/>
        </p:spPr>
        <p:txBody>
          <a:bodyPr wrap="square">
            <a:spAutoFit/>
          </a:bodyPr>
          <a:lstStyle/>
          <a:p>
            <a:pPr algn="ctr"/>
            <a:r>
              <a:rPr sz="1400" b="1" i="0">
                <a:solidFill>
                  <a:srgbClr val="1A0814"/>
                </a:solidFill>
                <a:latin typeface="游ゴシック"/>
                <a:ea typeface="游ゴシック"/>
              </a:rPr>
              <a:t>#2</a:t>
            </a:r>
          </a:p>
        </p:txBody>
      </p:sp>
      <p:sp>
        <p:nvSpPr>
          <p:cNvPr id="19" name="TextBox 18"/>
          <p:cNvSpPr txBox="1"/>
          <p:nvPr/>
        </p:nvSpPr>
        <p:spPr>
          <a:xfrm>
            <a:off x="777240" y="2871215"/>
            <a:ext cx="2103120" cy="274320"/>
          </a:xfrm>
          <a:prstGeom prst="rect">
            <a:avLst/>
          </a:prstGeom>
          <a:noFill/>
        </p:spPr>
        <p:txBody>
          <a:bodyPr wrap="square">
            <a:spAutoFit/>
          </a:bodyPr>
          <a:lstStyle/>
          <a:p>
            <a:pPr algn="l"/>
            <a:r>
              <a:rPr sz="1200" b="0" i="0">
                <a:solidFill>
                  <a:srgbClr val="FFC8DC"/>
                </a:solidFill>
                <a:latin typeface="游ゴシック"/>
                <a:ea typeface="游ゴシック"/>
              </a:rPr>
              <a:t>アランカール</a:t>
            </a:r>
          </a:p>
        </p:txBody>
      </p:sp>
      <p:sp>
        <p:nvSpPr>
          <p:cNvPr id="20" name="TextBox 19"/>
          <p:cNvSpPr txBox="1"/>
          <p:nvPr/>
        </p:nvSpPr>
        <p:spPr>
          <a:xfrm>
            <a:off x="777240" y="3127248"/>
            <a:ext cx="914400" cy="219456"/>
          </a:xfrm>
          <a:prstGeom prst="rect">
            <a:avLst/>
          </a:prstGeom>
          <a:noFill/>
        </p:spPr>
        <p:txBody>
          <a:bodyPr wrap="square">
            <a:spAutoFit/>
          </a:bodyPr>
          <a:lstStyle/>
          <a:p>
            <a:pPr algn="l"/>
            <a:r>
              <a:rPr sz="900" b="0" i="0">
                <a:solidFill>
                  <a:srgbClr val="FFC864"/>
                </a:solidFill>
                <a:latin typeface="游ゴシック"/>
                <a:ea typeface="游ゴシック"/>
              </a:rPr>
              <a:t>5.9倍</a:t>
            </a:r>
          </a:p>
        </p:txBody>
      </p:sp>
      <p:sp>
        <p:nvSpPr>
          <p:cNvPr id="21" name="Rectangle 20"/>
          <p:cNvSpPr/>
          <p:nvPr/>
        </p:nvSpPr>
        <p:spPr>
          <a:xfrm>
            <a:off x="2971800" y="2980944"/>
            <a:ext cx="246888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971800" y="2980944"/>
            <a:ext cx="1294951" cy="256032"/>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0" y="2962656"/>
            <a:ext cx="640080" cy="256032"/>
          </a:xfrm>
          <a:prstGeom prst="rect">
            <a:avLst/>
          </a:prstGeom>
          <a:noFill/>
        </p:spPr>
        <p:txBody>
          <a:bodyPr wrap="square">
            <a:spAutoFit/>
          </a:bodyPr>
          <a:lstStyle/>
          <a:p>
            <a:pPr algn="r"/>
            <a:r>
              <a:rPr sz="1000" b="1" i="0">
                <a:solidFill>
                  <a:srgbClr val="FCD34D"/>
                </a:solidFill>
                <a:latin typeface="游ゴシック"/>
                <a:ea typeface="游ゴシック"/>
              </a:rPr>
              <a:t>52.5%</a:t>
            </a:r>
          </a:p>
        </p:txBody>
      </p:sp>
      <p:sp>
        <p:nvSpPr>
          <p:cNvPr id="24" name="Rectangle 23"/>
          <p:cNvSpPr/>
          <p:nvPr/>
        </p:nvSpPr>
        <p:spPr>
          <a:xfrm>
            <a:off x="320040" y="3529584"/>
            <a:ext cx="384048" cy="47548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3529584"/>
            <a:ext cx="384048" cy="475488"/>
          </a:xfrm>
          <a:prstGeom prst="rect">
            <a:avLst/>
          </a:prstGeom>
          <a:noFill/>
        </p:spPr>
        <p:txBody>
          <a:bodyPr wrap="square">
            <a:spAutoFit/>
          </a:bodyPr>
          <a:lstStyle/>
          <a:p>
            <a:pPr algn="ctr"/>
            <a:r>
              <a:rPr sz="1400" b="1" i="0">
                <a:solidFill>
                  <a:srgbClr val="1A0814"/>
                </a:solidFill>
                <a:latin typeface="游ゴシック"/>
                <a:ea typeface="游ゴシック"/>
              </a:rPr>
              <a:t>#3</a:t>
            </a:r>
          </a:p>
        </p:txBody>
      </p:sp>
      <p:sp>
        <p:nvSpPr>
          <p:cNvPr id="26" name="TextBox 25"/>
          <p:cNvSpPr txBox="1"/>
          <p:nvPr/>
        </p:nvSpPr>
        <p:spPr>
          <a:xfrm>
            <a:off x="777240" y="3529584"/>
            <a:ext cx="2103120" cy="274320"/>
          </a:xfrm>
          <a:prstGeom prst="rect">
            <a:avLst/>
          </a:prstGeom>
          <a:noFill/>
        </p:spPr>
        <p:txBody>
          <a:bodyPr wrap="square">
            <a:spAutoFit/>
          </a:bodyPr>
          <a:lstStyle/>
          <a:p>
            <a:pPr algn="l"/>
            <a:r>
              <a:rPr sz="1200" b="0" i="0">
                <a:solidFill>
                  <a:srgbClr val="FFC8DC"/>
                </a:solidFill>
                <a:latin typeface="游ゴシック"/>
                <a:ea typeface="游ゴシック"/>
              </a:rPr>
              <a:t>ドリームコア</a:t>
            </a:r>
          </a:p>
        </p:txBody>
      </p:sp>
      <p:sp>
        <p:nvSpPr>
          <p:cNvPr id="27" name="TextBox 26"/>
          <p:cNvSpPr txBox="1"/>
          <p:nvPr/>
        </p:nvSpPr>
        <p:spPr>
          <a:xfrm>
            <a:off x="777240" y="3785615"/>
            <a:ext cx="914400" cy="219456"/>
          </a:xfrm>
          <a:prstGeom prst="rect">
            <a:avLst/>
          </a:prstGeom>
          <a:noFill/>
        </p:spPr>
        <p:txBody>
          <a:bodyPr wrap="square">
            <a:spAutoFit/>
          </a:bodyPr>
          <a:lstStyle/>
          <a:p>
            <a:pPr algn="l"/>
            <a:r>
              <a:rPr sz="900" b="0" i="0">
                <a:solidFill>
                  <a:srgbClr val="FFC864"/>
                </a:solidFill>
                <a:latin typeface="游ゴシック"/>
                <a:ea typeface="游ゴシック"/>
              </a:rPr>
              <a:t>3.0倍</a:t>
            </a:r>
          </a:p>
        </p:txBody>
      </p:sp>
      <p:sp>
        <p:nvSpPr>
          <p:cNvPr id="28" name="Rectangle 27"/>
          <p:cNvSpPr/>
          <p:nvPr/>
        </p:nvSpPr>
        <p:spPr>
          <a:xfrm>
            <a:off x="2971800" y="3639312"/>
            <a:ext cx="246888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71800" y="3639312"/>
            <a:ext cx="1193292" cy="256032"/>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0" y="3621024"/>
            <a:ext cx="640080" cy="256032"/>
          </a:xfrm>
          <a:prstGeom prst="rect">
            <a:avLst/>
          </a:prstGeom>
          <a:noFill/>
        </p:spPr>
        <p:txBody>
          <a:bodyPr wrap="square">
            <a:spAutoFit/>
          </a:bodyPr>
          <a:lstStyle/>
          <a:p>
            <a:pPr algn="r"/>
            <a:r>
              <a:rPr sz="1000" b="1" i="0">
                <a:solidFill>
                  <a:srgbClr val="FCD34D"/>
                </a:solidFill>
                <a:latin typeface="游ゴシック"/>
                <a:ea typeface="游ゴシック"/>
              </a:rPr>
              <a:t>48.3%</a:t>
            </a:r>
          </a:p>
        </p:txBody>
      </p:sp>
      <p:sp>
        <p:nvSpPr>
          <p:cNvPr id="31" name="Rectangle 30"/>
          <p:cNvSpPr/>
          <p:nvPr/>
        </p:nvSpPr>
        <p:spPr>
          <a:xfrm>
            <a:off x="320040" y="4187952"/>
            <a:ext cx="384048" cy="475488"/>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4187952"/>
            <a:ext cx="384048" cy="475488"/>
          </a:xfrm>
          <a:prstGeom prst="rect">
            <a:avLst/>
          </a:prstGeom>
          <a:noFill/>
        </p:spPr>
        <p:txBody>
          <a:bodyPr wrap="square">
            <a:spAutoFit/>
          </a:bodyPr>
          <a:lstStyle/>
          <a:p>
            <a:pPr algn="ctr"/>
            <a:r>
              <a:rPr sz="1400" b="1" i="0">
                <a:solidFill>
                  <a:srgbClr val="FFC8DC"/>
                </a:solidFill>
                <a:latin typeface="游ゴシック"/>
                <a:ea typeface="游ゴシック"/>
              </a:rPr>
              <a:t>#4</a:t>
            </a:r>
          </a:p>
        </p:txBody>
      </p:sp>
      <p:sp>
        <p:nvSpPr>
          <p:cNvPr id="33" name="TextBox 32"/>
          <p:cNvSpPr txBox="1"/>
          <p:nvPr/>
        </p:nvSpPr>
        <p:spPr>
          <a:xfrm>
            <a:off x="777240" y="4187952"/>
            <a:ext cx="2103120" cy="274320"/>
          </a:xfrm>
          <a:prstGeom prst="rect">
            <a:avLst/>
          </a:prstGeom>
          <a:noFill/>
        </p:spPr>
        <p:txBody>
          <a:bodyPr wrap="square">
            <a:spAutoFit/>
          </a:bodyPr>
          <a:lstStyle/>
          <a:p>
            <a:pPr algn="l"/>
            <a:r>
              <a:rPr sz="1200" b="0" i="0">
                <a:solidFill>
                  <a:srgbClr val="FFC8DC"/>
                </a:solidFill>
                <a:latin typeface="游ゴシック"/>
                <a:ea typeface="游ゴシック"/>
              </a:rPr>
              <a:t>サンアントワーヌ</a:t>
            </a:r>
          </a:p>
        </p:txBody>
      </p:sp>
      <p:sp>
        <p:nvSpPr>
          <p:cNvPr id="34" name="TextBox 33"/>
          <p:cNvSpPr txBox="1"/>
          <p:nvPr/>
        </p:nvSpPr>
        <p:spPr>
          <a:xfrm>
            <a:off x="777240" y="4443984"/>
            <a:ext cx="914400" cy="219456"/>
          </a:xfrm>
          <a:prstGeom prst="rect">
            <a:avLst/>
          </a:prstGeom>
          <a:noFill/>
        </p:spPr>
        <p:txBody>
          <a:bodyPr wrap="square">
            <a:spAutoFit/>
          </a:bodyPr>
          <a:lstStyle/>
          <a:p>
            <a:pPr algn="l"/>
            <a:r>
              <a:rPr sz="900" b="0" i="0">
                <a:solidFill>
                  <a:srgbClr val="FFC864"/>
                </a:solidFill>
                <a:latin typeface="游ゴシック"/>
                <a:ea typeface="游ゴシック"/>
              </a:rPr>
              <a:t>45.5倍</a:t>
            </a:r>
          </a:p>
        </p:txBody>
      </p:sp>
      <p:sp>
        <p:nvSpPr>
          <p:cNvPr id="35" name="Rectangle 34"/>
          <p:cNvSpPr/>
          <p:nvPr/>
        </p:nvSpPr>
        <p:spPr>
          <a:xfrm>
            <a:off x="2971800" y="4297680"/>
            <a:ext cx="246888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971800" y="4297680"/>
            <a:ext cx="1170146" cy="256032"/>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0" y="4279392"/>
            <a:ext cx="640080" cy="256032"/>
          </a:xfrm>
          <a:prstGeom prst="rect">
            <a:avLst/>
          </a:prstGeom>
          <a:noFill/>
        </p:spPr>
        <p:txBody>
          <a:bodyPr wrap="square">
            <a:spAutoFit/>
          </a:bodyPr>
          <a:lstStyle/>
          <a:p>
            <a:pPr algn="r"/>
            <a:r>
              <a:rPr sz="1000" b="1" i="0">
                <a:solidFill>
                  <a:srgbClr val="FCD34D"/>
                </a:solidFill>
                <a:latin typeface="游ゴシック"/>
                <a:ea typeface="游ゴシック"/>
              </a:rPr>
              <a:t>47.4%</a:t>
            </a:r>
          </a:p>
        </p:txBody>
      </p:sp>
      <p:sp>
        <p:nvSpPr>
          <p:cNvPr id="38" name="Rectangle 37"/>
          <p:cNvSpPr/>
          <p:nvPr/>
        </p:nvSpPr>
        <p:spPr>
          <a:xfrm>
            <a:off x="320040" y="4846320"/>
            <a:ext cx="384048" cy="475488"/>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0040" y="4846320"/>
            <a:ext cx="384048" cy="475488"/>
          </a:xfrm>
          <a:prstGeom prst="rect">
            <a:avLst/>
          </a:prstGeom>
          <a:noFill/>
        </p:spPr>
        <p:txBody>
          <a:bodyPr wrap="square">
            <a:spAutoFit/>
          </a:bodyPr>
          <a:lstStyle/>
          <a:p>
            <a:pPr algn="ctr"/>
            <a:r>
              <a:rPr sz="1400" b="1" i="0">
                <a:solidFill>
                  <a:srgbClr val="FFC8DC"/>
                </a:solidFill>
                <a:latin typeface="游ゴシック"/>
                <a:ea typeface="游ゴシック"/>
              </a:rPr>
              <a:t>#5</a:t>
            </a:r>
          </a:p>
        </p:txBody>
      </p:sp>
      <p:sp>
        <p:nvSpPr>
          <p:cNvPr id="40" name="TextBox 39"/>
          <p:cNvSpPr txBox="1"/>
          <p:nvPr/>
        </p:nvSpPr>
        <p:spPr>
          <a:xfrm>
            <a:off x="777240" y="4846320"/>
            <a:ext cx="2103120" cy="274320"/>
          </a:xfrm>
          <a:prstGeom prst="rect">
            <a:avLst/>
          </a:prstGeom>
          <a:noFill/>
        </p:spPr>
        <p:txBody>
          <a:bodyPr wrap="square">
            <a:spAutoFit/>
          </a:bodyPr>
          <a:lstStyle/>
          <a:p>
            <a:pPr algn="l"/>
            <a:r>
              <a:rPr sz="1200" b="0" i="0">
                <a:solidFill>
                  <a:srgbClr val="FFC8DC"/>
                </a:solidFill>
                <a:latin typeface="游ゴシック"/>
                <a:ea typeface="游ゴシック"/>
              </a:rPr>
              <a:t>ナムラコスモス</a:t>
            </a:r>
          </a:p>
        </p:txBody>
      </p:sp>
      <p:sp>
        <p:nvSpPr>
          <p:cNvPr id="41" name="TextBox 40"/>
          <p:cNvSpPr txBox="1"/>
          <p:nvPr/>
        </p:nvSpPr>
        <p:spPr>
          <a:xfrm>
            <a:off x="777240" y="5102352"/>
            <a:ext cx="914400" cy="219456"/>
          </a:xfrm>
          <a:prstGeom prst="rect">
            <a:avLst/>
          </a:prstGeom>
          <a:noFill/>
        </p:spPr>
        <p:txBody>
          <a:bodyPr wrap="square">
            <a:spAutoFit/>
          </a:bodyPr>
          <a:lstStyle/>
          <a:p>
            <a:pPr algn="l"/>
            <a:r>
              <a:rPr sz="900" b="0" i="0">
                <a:solidFill>
                  <a:srgbClr val="FFC864"/>
                </a:solidFill>
                <a:latin typeface="游ゴシック"/>
                <a:ea typeface="游ゴシック"/>
              </a:rPr>
              <a:t>27.0倍</a:t>
            </a:r>
          </a:p>
        </p:txBody>
      </p:sp>
      <p:sp>
        <p:nvSpPr>
          <p:cNvPr id="42" name="Rectangle 41"/>
          <p:cNvSpPr/>
          <p:nvPr/>
        </p:nvSpPr>
        <p:spPr>
          <a:xfrm>
            <a:off x="2971800" y="4956048"/>
            <a:ext cx="246888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971800" y="4956048"/>
            <a:ext cx="1076178" cy="256032"/>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0" y="4937759"/>
            <a:ext cx="640080" cy="256032"/>
          </a:xfrm>
          <a:prstGeom prst="rect">
            <a:avLst/>
          </a:prstGeom>
          <a:noFill/>
        </p:spPr>
        <p:txBody>
          <a:bodyPr wrap="square">
            <a:spAutoFit/>
          </a:bodyPr>
          <a:lstStyle/>
          <a:p>
            <a:pPr algn="r"/>
            <a:r>
              <a:rPr sz="1000" b="1" i="0">
                <a:solidFill>
                  <a:srgbClr val="FCD34D"/>
                </a:solidFill>
                <a:latin typeface="游ゴシック"/>
                <a:ea typeface="游ゴシック"/>
              </a:rPr>
              <a:t>43.6%</a:t>
            </a:r>
          </a:p>
        </p:txBody>
      </p:sp>
      <p:sp>
        <p:nvSpPr>
          <p:cNvPr id="45" name="Rectangle 44"/>
          <p:cNvSpPr/>
          <p:nvPr/>
        </p:nvSpPr>
        <p:spPr>
          <a:xfrm>
            <a:off x="320040" y="5504688"/>
            <a:ext cx="384048" cy="475488"/>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0040" y="5504688"/>
            <a:ext cx="384048" cy="475488"/>
          </a:xfrm>
          <a:prstGeom prst="rect">
            <a:avLst/>
          </a:prstGeom>
          <a:noFill/>
        </p:spPr>
        <p:txBody>
          <a:bodyPr wrap="square">
            <a:spAutoFit/>
          </a:bodyPr>
          <a:lstStyle/>
          <a:p>
            <a:pPr algn="ctr"/>
            <a:r>
              <a:rPr sz="1400" b="1" i="0">
                <a:solidFill>
                  <a:srgbClr val="FFC8DC"/>
                </a:solidFill>
                <a:latin typeface="游ゴシック"/>
                <a:ea typeface="游ゴシック"/>
              </a:rPr>
              <a:t>#6</a:t>
            </a:r>
          </a:p>
        </p:txBody>
      </p:sp>
      <p:sp>
        <p:nvSpPr>
          <p:cNvPr id="47" name="TextBox 46"/>
          <p:cNvSpPr txBox="1"/>
          <p:nvPr/>
        </p:nvSpPr>
        <p:spPr>
          <a:xfrm>
            <a:off x="777240" y="5504688"/>
            <a:ext cx="2103120" cy="274320"/>
          </a:xfrm>
          <a:prstGeom prst="rect">
            <a:avLst/>
          </a:prstGeom>
          <a:noFill/>
        </p:spPr>
        <p:txBody>
          <a:bodyPr wrap="square">
            <a:spAutoFit/>
          </a:bodyPr>
          <a:lstStyle/>
          <a:p>
            <a:pPr algn="l"/>
            <a:r>
              <a:rPr sz="1200" b="0" i="0">
                <a:solidFill>
                  <a:srgbClr val="FFC8DC"/>
                </a:solidFill>
                <a:latin typeface="游ゴシック"/>
                <a:ea typeface="游ゴシック"/>
              </a:rPr>
              <a:t>フェスティバルヒル</a:t>
            </a:r>
          </a:p>
        </p:txBody>
      </p:sp>
      <p:sp>
        <p:nvSpPr>
          <p:cNvPr id="48" name="TextBox 47"/>
          <p:cNvSpPr txBox="1"/>
          <p:nvPr/>
        </p:nvSpPr>
        <p:spPr>
          <a:xfrm>
            <a:off x="777240" y="5760720"/>
            <a:ext cx="914400" cy="219456"/>
          </a:xfrm>
          <a:prstGeom prst="rect">
            <a:avLst/>
          </a:prstGeom>
          <a:noFill/>
        </p:spPr>
        <p:txBody>
          <a:bodyPr wrap="square">
            <a:spAutoFit/>
          </a:bodyPr>
          <a:lstStyle/>
          <a:p>
            <a:pPr algn="l"/>
            <a:r>
              <a:rPr sz="900" b="0" i="0">
                <a:solidFill>
                  <a:srgbClr val="FFC864"/>
                </a:solidFill>
                <a:latin typeface="游ゴシック"/>
                <a:ea typeface="游ゴシック"/>
              </a:rPr>
              <a:t>17.5倍</a:t>
            </a:r>
          </a:p>
        </p:txBody>
      </p:sp>
      <p:sp>
        <p:nvSpPr>
          <p:cNvPr id="49" name="Rectangle 48"/>
          <p:cNvSpPr/>
          <p:nvPr/>
        </p:nvSpPr>
        <p:spPr>
          <a:xfrm>
            <a:off x="2971800" y="5614416"/>
            <a:ext cx="246888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971800" y="5614416"/>
            <a:ext cx="1043395" cy="256032"/>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0" y="5596127"/>
            <a:ext cx="640080" cy="256032"/>
          </a:xfrm>
          <a:prstGeom prst="rect">
            <a:avLst/>
          </a:prstGeom>
          <a:noFill/>
        </p:spPr>
        <p:txBody>
          <a:bodyPr wrap="square">
            <a:spAutoFit/>
          </a:bodyPr>
          <a:lstStyle/>
          <a:p>
            <a:pPr algn="r"/>
            <a:r>
              <a:rPr sz="1000" b="1" i="0">
                <a:solidFill>
                  <a:srgbClr val="FCD34D"/>
                </a:solidFill>
                <a:latin typeface="游ゴシック"/>
                <a:ea typeface="游ゴシック"/>
              </a:rPr>
              <a:t>42.3%</a:t>
            </a:r>
          </a:p>
        </p:txBody>
      </p:sp>
      <p:sp>
        <p:nvSpPr>
          <p:cNvPr id="52" name="Rectangle 51"/>
          <p:cNvSpPr/>
          <p:nvPr/>
        </p:nvSpPr>
        <p:spPr>
          <a:xfrm>
            <a:off x="6583680" y="2212848"/>
            <a:ext cx="384048"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83680" y="2212848"/>
            <a:ext cx="384048" cy="475488"/>
          </a:xfrm>
          <a:prstGeom prst="rect">
            <a:avLst/>
          </a:prstGeom>
          <a:noFill/>
        </p:spPr>
        <p:txBody>
          <a:bodyPr wrap="square">
            <a:spAutoFit/>
          </a:bodyPr>
          <a:lstStyle/>
          <a:p>
            <a:pPr algn="ctr"/>
            <a:r>
              <a:rPr sz="1400" b="1" i="0">
                <a:solidFill>
                  <a:srgbClr val="1A0814"/>
                </a:solidFill>
                <a:latin typeface="游ゴシック"/>
                <a:ea typeface="游ゴシック"/>
              </a:rPr>
              <a:t>#1</a:t>
            </a:r>
          </a:p>
        </p:txBody>
      </p:sp>
      <p:sp>
        <p:nvSpPr>
          <p:cNvPr id="54" name="TextBox 53"/>
          <p:cNvSpPr txBox="1"/>
          <p:nvPr/>
        </p:nvSpPr>
        <p:spPr>
          <a:xfrm>
            <a:off x="7040880" y="2212848"/>
            <a:ext cx="2103120" cy="274320"/>
          </a:xfrm>
          <a:prstGeom prst="rect">
            <a:avLst/>
          </a:prstGeom>
          <a:noFill/>
        </p:spPr>
        <p:txBody>
          <a:bodyPr wrap="square">
            <a:spAutoFit/>
          </a:bodyPr>
          <a:lstStyle/>
          <a:p>
            <a:pPr algn="l"/>
            <a:r>
              <a:rPr sz="1200" b="1" i="0">
                <a:solidFill>
                  <a:srgbClr val="FFFFFF"/>
                </a:solidFill>
                <a:latin typeface="游ゴシック"/>
                <a:ea typeface="游ゴシック"/>
              </a:rPr>
              <a:t>アランカール</a:t>
            </a:r>
          </a:p>
        </p:txBody>
      </p:sp>
      <p:sp>
        <p:nvSpPr>
          <p:cNvPr id="55" name="TextBox 54"/>
          <p:cNvSpPr txBox="1"/>
          <p:nvPr/>
        </p:nvSpPr>
        <p:spPr>
          <a:xfrm>
            <a:off x="7040880" y="2468880"/>
            <a:ext cx="914400" cy="219456"/>
          </a:xfrm>
          <a:prstGeom prst="rect">
            <a:avLst/>
          </a:prstGeom>
          <a:noFill/>
        </p:spPr>
        <p:txBody>
          <a:bodyPr wrap="square">
            <a:spAutoFit/>
          </a:bodyPr>
          <a:lstStyle/>
          <a:p>
            <a:pPr algn="l"/>
            <a:r>
              <a:rPr sz="900" b="0" i="0">
                <a:solidFill>
                  <a:srgbClr val="FFC864"/>
                </a:solidFill>
                <a:latin typeface="游ゴシック"/>
                <a:ea typeface="游ゴシック"/>
              </a:rPr>
              <a:t>5.9倍</a:t>
            </a:r>
          </a:p>
        </p:txBody>
      </p:sp>
      <p:sp>
        <p:nvSpPr>
          <p:cNvPr id="56" name="Rectangle 55"/>
          <p:cNvSpPr/>
          <p:nvPr/>
        </p:nvSpPr>
        <p:spPr>
          <a:xfrm>
            <a:off x="9235440" y="2322576"/>
            <a:ext cx="192024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235440" y="2322576"/>
            <a:ext cx="1195443" cy="2560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201400" y="2304288"/>
            <a:ext cx="502920" cy="256032"/>
          </a:xfrm>
          <a:prstGeom prst="rect">
            <a:avLst/>
          </a:prstGeom>
          <a:noFill/>
        </p:spPr>
        <p:txBody>
          <a:bodyPr wrap="square">
            <a:spAutoFit/>
          </a:bodyPr>
          <a:lstStyle/>
          <a:p>
            <a:pPr algn="r"/>
            <a:r>
              <a:rPr sz="1000" b="1" i="0">
                <a:solidFill>
                  <a:srgbClr val="10B981"/>
                </a:solidFill>
                <a:latin typeface="游ゴシック"/>
                <a:ea typeface="游ゴシック"/>
              </a:rPr>
              <a:t>62.3%</a:t>
            </a:r>
          </a:p>
        </p:txBody>
      </p:sp>
      <p:sp>
        <p:nvSpPr>
          <p:cNvPr id="59" name="Rectangle 58"/>
          <p:cNvSpPr/>
          <p:nvPr/>
        </p:nvSpPr>
        <p:spPr>
          <a:xfrm>
            <a:off x="6583680" y="2871215"/>
            <a:ext cx="384048" cy="475488"/>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83680" y="2871215"/>
            <a:ext cx="384048" cy="475488"/>
          </a:xfrm>
          <a:prstGeom prst="rect">
            <a:avLst/>
          </a:prstGeom>
          <a:noFill/>
        </p:spPr>
        <p:txBody>
          <a:bodyPr wrap="square">
            <a:spAutoFit/>
          </a:bodyPr>
          <a:lstStyle/>
          <a:p>
            <a:pPr algn="ctr"/>
            <a:r>
              <a:rPr sz="1400" b="1" i="0">
                <a:solidFill>
                  <a:srgbClr val="1A0814"/>
                </a:solidFill>
                <a:latin typeface="游ゴシック"/>
                <a:ea typeface="游ゴシック"/>
              </a:rPr>
              <a:t>#2</a:t>
            </a:r>
          </a:p>
        </p:txBody>
      </p:sp>
      <p:sp>
        <p:nvSpPr>
          <p:cNvPr id="61" name="TextBox 60"/>
          <p:cNvSpPr txBox="1"/>
          <p:nvPr/>
        </p:nvSpPr>
        <p:spPr>
          <a:xfrm>
            <a:off x="7040880" y="2871215"/>
            <a:ext cx="2103120" cy="274320"/>
          </a:xfrm>
          <a:prstGeom prst="rect">
            <a:avLst/>
          </a:prstGeom>
          <a:noFill/>
        </p:spPr>
        <p:txBody>
          <a:bodyPr wrap="square">
            <a:spAutoFit/>
          </a:bodyPr>
          <a:lstStyle/>
          <a:p>
            <a:pPr algn="l"/>
            <a:r>
              <a:rPr sz="1200" b="0" i="0">
                <a:solidFill>
                  <a:srgbClr val="FFC8DC"/>
                </a:solidFill>
                <a:latin typeface="游ゴシック"/>
                <a:ea typeface="游ゴシック"/>
              </a:rPr>
              <a:t>スターアニス</a:t>
            </a:r>
          </a:p>
        </p:txBody>
      </p:sp>
      <p:sp>
        <p:nvSpPr>
          <p:cNvPr id="62" name="TextBox 61"/>
          <p:cNvSpPr txBox="1"/>
          <p:nvPr/>
        </p:nvSpPr>
        <p:spPr>
          <a:xfrm>
            <a:off x="7040880" y="3127248"/>
            <a:ext cx="914400" cy="219456"/>
          </a:xfrm>
          <a:prstGeom prst="rect">
            <a:avLst/>
          </a:prstGeom>
          <a:noFill/>
        </p:spPr>
        <p:txBody>
          <a:bodyPr wrap="square">
            <a:spAutoFit/>
          </a:bodyPr>
          <a:lstStyle/>
          <a:p>
            <a:pPr algn="l"/>
            <a:r>
              <a:rPr sz="900" b="0" i="0">
                <a:solidFill>
                  <a:srgbClr val="FFC864"/>
                </a:solidFill>
                <a:latin typeface="游ゴシック"/>
                <a:ea typeface="游ゴシック"/>
              </a:rPr>
              <a:t>4.2倍</a:t>
            </a:r>
          </a:p>
        </p:txBody>
      </p:sp>
      <p:sp>
        <p:nvSpPr>
          <p:cNvPr id="63" name="Rectangle 62"/>
          <p:cNvSpPr/>
          <p:nvPr/>
        </p:nvSpPr>
        <p:spPr>
          <a:xfrm>
            <a:off x="9235440" y="2980944"/>
            <a:ext cx="192024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235440" y="2980944"/>
            <a:ext cx="1195443" cy="2560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201400" y="2962656"/>
            <a:ext cx="502920" cy="256032"/>
          </a:xfrm>
          <a:prstGeom prst="rect">
            <a:avLst/>
          </a:prstGeom>
          <a:noFill/>
        </p:spPr>
        <p:txBody>
          <a:bodyPr wrap="square">
            <a:spAutoFit/>
          </a:bodyPr>
          <a:lstStyle/>
          <a:p>
            <a:pPr algn="r"/>
            <a:r>
              <a:rPr sz="1000" b="1" i="0">
                <a:solidFill>
                  <a:srgbClr val="10B981"/>
                </a:solidFill>
                <a:latin typeface="游ゴシック"/>
                <a:ea typeface="游ゴシック"/>
              </a:rPr>
              <a:t>62.3%</a:t>
            </a:r>
          </a:p>
        </p:txBody>
      </p:sp>
      <p:sp>
        <p:nvSpPr>
          <p:cNvPr id="66" name="Rectangle 65"/>
          <p:cNvSpPr/>
          <p:nvPr/>
        </p:nvSpPr>
        <p:spPr>
          <a:xfrm>
            <a:off x="6583680" y="3529584"/>
            <a:ext cx="384048" cy="47548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583680" y="3529584"/>
            <a:ext cx="384048" cy="475488"/>
          </a:xfrm>
          <a:prstGeom prst="rect">
            <a:avLst/>
          </a:prstGeom>
          <a:noFill/>
        </p:spPr>
        <p:txBody>
          <a:bodyPr wrap="square">
            <a:spAutoFit/>
          </a:bodyPr>
          <a:lstStyle/>
          <a:p>
            <a:pPr algn="ctr"/>
            <a:r>
              <a:rPr sz="1400" b="1" i="0">
                <a:solidFill>
                  <a:srgbClr val="1A0814"/>
                </a:solidFill>
                <a:latin typeface="游ゴシック"/>
                <a:ea typeface="游ゴシック"/>
              </a:rPr>
              <a:t>#3</a:t>
            </a:r>
          </a:p>
        </p:txBody>
      </p:sp>
      <p:sp>
        <p:nvSpPr>
          <p:cNvPr id="68" name="TextBox 67"/>
          <p:cNvSpPr txBox="1"/>
          <p:nvPr/>
        </p:nvSpPr>
        <p:spPr>
          <a:xfrm>
            <a:off x="7040880" y="3529584"/>
            <a:ext cx="2103120" cy="274320"/>
          </a:xfrm>
          <a:prstGeom prst="rect">
            <a:avLst/>
          </a:prstGeom>
          <a:noFill/>
        </p:spPr>
        <p:txBody>
          <a:bodyPr wrap="square">
            <a:spAutoFit/>
          </a:bodyPr>
          <a:lstStyle/>
          <a:p>
            <a:pPr algn="l"/>
            <a:r>
              <a:rPr sz="1200" b="0" i="0">
                <a:solidFill>
                  <a:srgbClr val="FFC8DC"/>
                </a:solidFill>
                <a:latin typeface="游ゴシック"/>
                <a:ea typeface="游ゴシック"/>
              </a:rPr>
              <a:t>ナムラコスモス</a:t>
            </a:r>
          </a:p>
        </p:txBody>
      </p:sp>
      <p:sp>
        <p:nvSpPr>
          <p:cNvPr id="69" name="TextBox 68"/>
          <p:cNvSpPr txBox="1"/>
          <p:nvPr/>
        </p:nvSpPr>
        <p:spPr>
          <a:xfrm>
            <a:off x="7040880" y="3785615"/>
            <a:ext cx="914400" cy="219456"/>
          </a:xfrm>
          <a:prstGeom prst="rect">
            <a:avLst/>
          </a:prstGeom>
          <a:noFill/>
        </p:spPr>
        <p:txBody>
          <a:bodyPr wrap="square">
            <a:spAutoFit/>
          </a:bodyPr>
          <a:lstStyle/>
          <a:p>
            <a:pPr algn="l"/>
            <a:r>
              <a:rPr sz="900" b="0" i="0">
                <a:solidFill>
                  <a:srgbClr val="FFC864"/>
                </a:solidFill>
                <a:latin typeface="游ゴシック"/>
                <a:ea typeface="游ゴシック"/>
              </a:rPr>
              <a:t>27.0倍</a:t>
            </a:r>
          </a:p>
        </p:txBody>
      </p:sp>
      <p:sp>
        <p:nvSpPr>
          <p:cNvPr id="70" name="Rectangle 69"/>
          <p:cNvSpPr/>
          <p:nvPr/>
        </p:nvSpPr>
        <p:spPr>
          <a:xfrm>
            <a:off x="9235440" y="3639312"/>
            <a:ext cx="192024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235440" y="3639312"/>
            <a:ext cx="1120140" cy="2560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201400" y="3621024"/>
            <a:ext cx="502920" cy="256032"/>
          </a:xfrm>
          <a:prstGeom prst="rect">
            <a:avLst/>
          </a:prstGeom>
          <a:noFill/>
        </p:spPr>
        <p:txBody>
          <a:bodyPr wrap="square">
            <a:spAutoFit/>
          </a:bodyPr>
          <a:lstStyle/>
          <a:p>
            <a:pPr algn="r"/>
            <a:r>
              <a:rPr sz="1000" b="1" i="0">
                <a:solidFill>
                  <a:srgbClr val="10B981"/>
                </a:solidFill>
                <a:latin typeface="游ゴシック"/>
                <a:ea typeface="游ゴシック"/>
              </a:rPr>
              <a:t>58.3%</a:t>
            </a:r>
          </a:p>
        </p:txBody>
      </p:sp>
      <p:sp>
        <p:nvSpPr>
          <p:cNvPr id="73" name="Rectangle 72"/>
          <p:cNvSpPr/>
          <p:nvPr/>
        </p:nvSpPr>
        <p:spPr>
          <a:xfrm>
            <a:off x="6583680" y="4187952"/>
            <a:ext cx="384048" cy="475488"/>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583680" y="4187952"/>
            <a:ext cx="384048" cy="475488"/>
          </a:xfrm>
          <a:prstGeom prst="rect">
            <a:avLst/>
          </a:prstGeom>
          <a:noFill/>
        </p:spPr>
        <p:txBody>
          <a:bodyPr wrap="square">
            <a:spAutoFit/>
          </a:bodyPr>
          <a:lstStyle/>
          <a:p>
            <a:pPr algn="ctr"/>
            <a:r>
              <a:rPr sz="1400" b="1" i="0">
                <a:solidFill>
                  <a:srgbClr val="FFC8DC"/>
                </a:solidFill>
                <a:latin typeface="游ゴシック"/>
                <a:ea typeface="游ゴシック"/>
              </a:rPr>
              <a:t>#4</a:t>
            </a:r>
          </a:p>
        </p:txBody>
      </p:sp>
      <p:sp>
        <p:nvSpPr>
          <p:cNvPr id="75" name="TextBox 74"/>
          <p:cNvSpPr txBox="1"/>
          <p:nvPr/>
        </p:nvSpPr>
        <p:spPr>
          <a:xfrm>
            <a:off x="7040880" y="4187952"/>
            <a:ext cx="2103120" cy="274320"/>
          </a:xfrm>
          <a:prstGeom prst="rect">
            <a:avLst/>
          </a:prstGeom>
          <a:noFill/>
        </p:spPr>
        <p:txBody>
          <a:bodyPr wrap="square">
            <a:spAutoFit/>
          </a:bodyPr>
          <a:lstStyle/>
          <a:p>
            <a:pPr algn="l"/>
            <a:r>
              <a:rPr sz="1200" b="0" i="0">
                <a:solidFill>
                  <a:srgbClr val="FFC8DC"/>
                </a:solidFill>
                <a:latin typeface="游ゴシック"/>
                <a:ea typeface="游ゴシック"/>
              </a:rPr>
              <a:t>フェスティバルヒル</a:t>
            </a:r>
          </a:p>
        </p:txBody>
      </p:sp>
      <p:sp>
        <p:nvSpPr>
          <p:cNvPr id="76" name="TextBox 75"/>
          <p:cNvSpPr txBox="1"/>
          <p:nvPr/>
        </p:nvSpPr>
        <p:spPr>
          <a:xfrm>
            <a:off x="7040880" y="4443984"/>
            <a:ext cx="914400" cy="219456"/>
          </a:xfrm>
          <a:prstGeom prst="rect">
            <a:avLst/>
          </a:prstGeom>
          <a:noFill/>
        </p:spPr>
        <p:txBody>
          <a:bodyPr wrap="square">
            <a:spAutoFit/>
          </a:bodyPr>
          <a:lstStyle/>
          <a:p>
            <a:pPr algn="l"/>
            <a:r>
              <a:rPr sz="900" b="0" i="0">
                <a:solidFill>
                  <a:srgbClr val="FFC864"/>
                </a:solidFill>
                <a:latin typeface="游ゴシック"/>
                <a:ea typeface="游ゴシック"/>
              </a:rPr>
              <a:t>17.5倍</a:t>
            </a:r>
          </a:p>
        </p:txBody>
      </p:sp>
      <p:sp>
        <p:nvSpPr>
          <p:cNvPr id="77" name="Rectangle 76"/>
          <p:cNvSpPr/>
          <p:nvPr/>
        </p:nvSpPr>
        <p:spPr>
          <a:xfrm>
            <a:off x="9235440" y="4297680"/>
            <a:ext cx="192024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235440" y="4297680"/>
            <a:ext cx="1074420" cy="2560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1201400" y="4279392"/>
            <a:ext cx="502920" cy="256032"/>
          </a:xfrm>
          <a:prstGeom prst="rect">
            <a:avLst/>
          </a:prstGeom>
          <a:noFill/>
        </p:spPr>
        <p:txBody>
          <a:bodyPr wrap="square">
            <a:spAutoFit/>
          </a:bodyPr>
          <a:lstStyle/>
          <a:p>
            <a:pPr algn="r"/>
            <a:r>
              <a:rPr sz="1000" b="1" i="0">
                <a:solidFill>
                  <a:srgbClr val="10B981"/>
                </a:solidFill>
                <a:latin typeface="游ゴシック"/>
                <a:ea typeface="游ゴシック"/>
              </a:rPr>
              <a:t>56.0%</a:t>
            </a:r>
          </a:p>
        </p:txBody>
      </p:sp>
      <p:sp>
        <p:nvSpPr>
          <p:cNvPr id="80" name="Rectangle 79"/>
          <p:cNvSpPr/>
          <p:nvPr/>
        </p:nvSpPr>
        <p:spPr>
          <a:xfrm>
            <a:off x="6583680" y="4846320"/>
            <a:ext cx="384048" cy="475488"/>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583680" y="4846320"/>
            <a:ext cx="384048" cy="475488"/>
          </a:xfrm>
          <a:prstGeom prst="rect">
            <a:avLst/>
          </a:prstGeom>
          <a:noFill/>
        </p:spPr>
        <p:txBody>
          <a:bodyPr wrap="square">
            <a:spAutoFit/>
          </a:bodyPr>
          <a:lstStyle/>
          <a:p>
            <a:pPr algn="ctr"/>
            <a:r>
              <a:rPr sz="1400" b="1" i="0">
                <a:solidFill>
                  <a:srgbClr val="FFC8DC"/>
                </a:solidFill>
                <a:latin typeface="游ゴシック"/>
                <a:ea typeface="游ゴシック"/>
              </a:rPr>
              <a:t>#5</a:t>
            </a:r>
          </a:p>
        </p:txBody>
      </p:sp>
      <p:sp>
        <p:nvSpPr>
          <p:cNvPr id="82" name="TextBox 81"/>
          <p:cNvSpPr txBox="1"/>
          <p:nvPr/>
        </p:nvSpPr>
        <p:spPr>
          <a:xfrm>
            <a:off x="7040880" y="4846320"/>
            <a:ext cx="2103120" cy="274320"/>
          </a:xfrm>
          <a:prstGeom prst="rect">
            <a:avLst/>
          </a:prstGeom>
          <a:noFill/>
        </p:spPr>
        <p:txBody>
          <a:bodyPr wrap="square">
            <a:spAutoFit/>
          </a:bodyPr>
          <a:lstStyle/>
          <a:p>
            <a:pPr algn="l"/>
            <a:r>
              <a:rPr sz="1200" b="0" i="0">
                <a:solidFill>
                  <a:srgbClr val="FFC8DC"/>
                </a:solidFill>
                <a:latin typeface="游ゴシック"/>
                <a:ea typeface="游ゴシック"/>
              </a:rPr>
              <a:t>ドリームコア</a:t>
            </a:r>
          </a:p>
        </p:txBody>
      </p:sp>
      <p:sp>
        <p:nvSpPr>
          <p:cNvPr id="83" name="TextBox 82"/>
          <p:cNvSpPr txBox="1"/>
          <p:nvPr/>
        </p:nvSpPr>
        <p:spPr>
          <a:xfrm>
            <a:off x="7040880" y="5102352"/>
            <a:ext cx="914400" cy="219456"/>
          </a:xfrm>
          <a:prstGeom prst="rect">
            <a:avLst/>
          </a:prstGeom>
          <a:noFill/>
        </p:spPr>
        <p:txBody>
          <a:bodyPr wrap="square">
            <a:spAutoFit/>
          </a:bodyPr>
          <a:lstStyle/>
          <a:p>
            <a:pPr algn="l"/>
            <a:r>
              <a:rPr sz="900" b="0" i="0">
                <a:solidFill>
                  <a:srgbClr val="FFC864"/>
                </a:solidFill>
                <a:latin typeface="游ゴシック"/>
                <a:ea typeface="游ゴシック"/>
              </a:rPr>
              <a:t>3.0倍</a:t>
            </a:r>
          </a:p>
        </p:txBody>
      </p:sp>
      <p:sp>
        <p:nvSpPr>
          <p:cNvPr id="84" name="Rectangle 83"/>
          <p:cNvSpPr/>
          <p:nvPr/>
        </p:nvSpPr>
        <p:spPr>
          <a:xfrm>
            <a:off x="9235440" y="4956048"/>
            <a:ext cx="192024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235440" y="4956048"/>
            <a:ext cx="1056132" cy="2560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1201400" y="4937759"/>
            <a:ext cx="502920" cy="256032"/>
          </a:xfrm>
          <a:prstGeom prst="rect">
            <a:avLst/>
          </a:prstGeom>
          <a:noFill/>
        </p:spPr>
        <p:txBody>
          <a:bodyPr wrap="square">
            <a:spAutoFit/>
          </a:bodyPr>
          <a:lstStyle/>
          <a:p>
            <a:pPr algn="r"/>
            <a:r>
              <a:rPr sz="1000" b="1" i="0">
                <a:solidFill>
                  <a:srgbClr val="10B981"/>
                </a:solidFill>
                <a:latin typeface="游ゴシック"/>
                <a:ea typeface="游ゴシック"/>
              </a:rPr>
              <a:t>55.0%</a:t>
            </a:r>
          </a:p>
        </p:txBody>
      </p:sp>
      <p:sp>
        <p:nvSpPr>
          <p:cNvPr id="87" name="Rectangle 86"/>
          <p:cNvSpPr/>
          <p:nvPr/>
        </p:nvSpPr>
        <p:spPr>
          <a:xfrm>
            <a:off x="6583680" y="5504688"/>
            <a:ext cx="384048" cy="475488"/>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583680" y="5504688"/>
            <a:ext cx="384048" cy="475488"/>
          </a:xfrm>
          <a:prstGeom prst="rect">
            <a:avLst/>
          </a:prstGeom>
          <a:noFill/>
        </p:spPr>
        <p:txBody>
          <a:bodyPr wrap="square">
            <a:spAutoFit/>
          </a:bodyPr>
          <a:lstStyle/>
          <a:p>
            <a:pPr algn="ctr"/>
            <a:r>
              <a:rPr sz="1400" b="1" i="0">
                <a:solidFill>
                  <a:srgbClr val="FFC8DC"/>
                </a:solidFill>
                <a:latin typeface="游ゴシック"/>
                <a:ea typeface="游ゴシック"/>
              </a:rPr>
              <a:t>#6</a:t>
            </a:r>
          </a:p>
        </p:txBody>
      </p:sp>
      <p:sp>
        <p:nvSpPr>
          <p:cNvPr id="89" name="TextBox 88"/>
          <p:cNvSpPr txBox="1"/>
          <p:nvPr/>
        </p:nvSpPr>
        <p:spPr>
          <a:xfrm>
            <a:off x="7040880" y="5504688"/>
            <a:ext cx="2103120" cy="274320"/>
          </a:xfrm>
          <a:prstGeom prst="rect">
            <a:avLst/>
          </a:prstGeom>
          <a:noFill/>
        </p:spPr>
        <p:txBody>
          <a:bodyPr wrap="square">
            <a:spAutoFit/>
          </a:bodyPr>
          <a:lstStyle/>
          <a:p>
            <a:pPr algn="l"/>
            <a:r>
              <a:rPr sz="1200" b="0" i="0">
                <a:solidFill>
                  <a:srgbClr val="FFC8DC"/>
                </a:solidFill>
                <a:latin typeface="游ゴシック"/>
                <a:ea typeface="游ゴシック"/>
              </a:rPr>
              <a:t>ブラックチャリス</a:t>
            </a:r>
          </a:p>
        </p:txBody>
      </p:sp>
      <p:sp>
        <p:nvSpPr>
          <p:cNvPr id="90" name="TextBox 89"/>
          <p:cNvSpPr txBox="1"/>
          <p:nvPr/>
        </p:nvSpPr>
        <p:spPr>
          <a:xfrm>
            <a:off x="7040880" y="5760720"/>
            <a:ext cx="914400" cy="219456"/>
          </a:xfrm>
          <a:prstGeom prst="rect">
            <a:avLst/>
          </a:prstGeom>
          <a:noFill/>
        </p:spPr>
        <p:txBody>
          <a:bodyPr wrap="square">
            <a:spAutoFit/>
          </a:bodyPr>
          <a:lstStyle/>
          <a:p>
            <a:pPr algn="l"/>
            <a:r>
              <a:rPr sz="900" b="0" i="0">
                <a:solidFill>
                  <a:srgbClr val="FFC864"/>
                </a:solidFill>
                <a:latin typeface="游ゴシック"/>
                <a:ea typeface="游ゴシック"/>
              </a:rPr>
              <a:t>27.7倍</a:t>
            </a:r>
          </a:p>
        </p:txBody>
      </p:sp>
      <p:sp>
        <p:nvSpPr>
          <p:cNvPr id="91" name="Rectangle 90"/>
          <p:cNvSpPr/>
          <p:nvPr/>
        </p:nvSpPr>
        <p:spPr>
          <a:xfrm>
            <a:off x="9235440" y="5614416"/>
            <a:ext cx="1920240" cy="25603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235440" y="5614416"/>
            <a:ext cx="1034795" cy="2560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201400" y="5596127"/>
            <a:ext cx="502920" cy="256032"/>
          </a:xfrm>
          <a:prstGeom prst="rect">
            <a:avLst/>
          </a:prstGeom>
          <a:noFill/>
        </p:spPr>
        <p:txBody>
          <a:bodyPr wrap="square">
            <a:spAutoFit/>
          </a:bodyPr>
          <a:lstStyle/>
          <a:p>
            <a:pPr algn="r"/>
            <a:r>
              <a:rPr sz="1000" b="1" i="0">
                <a:solidFill>
                  <a:srgbClr val="10B981"/>
                </a:solidFill>
                <a:latin typeface="游ゴシック"/>
                <a:ea typeface="游ゴシック"/>
              </a:rPr>
              <a:t>53.9%</a:t>
            </a:r>
          </a:p>
        </p:txBody>
      </p:sp>
      <p:sp>
        <p:nvSpPr>
          <p:cNvPr id="94" name="Rectangle 93"/>
          <p:cNvSpPr/>
          <p:nvPr/>
        </p:nvSpPr>
        <p:spPr>
          <a:xfrm>
            <a:off x="0" y="6446520"/>
            <a:ext cx="12188952" cy="411480"/>
          </a:xfrm>
          <a:prstGeom prst="rect">
            <a:avLst/>
          </a:prstGeom>
          <a:solidFill>
            <a:srgbClr val="7B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74320" y="6492240"/>
            <a:ext cx="11612880" cy="320040"/>
          </a:xfrm>
          <a:prstGeom prst="rect">
            <a:avLst/>
          </a:prstGeom>
          <a:noFill/>
        </p:spPr>
        <p:txBody>
          <a:bodyPr wrap="square">
            <a:spAutoFit/>
          </a:bodyPr>
          <a:lstStyle/>
          <a:p>
            <a:pPr algn="l"/>
            <a:r>
              <a:rPr sz="1000" b="0" i="0">
                <a:solidFill>
                  <a:srgbClr val="FFB4D2"/>
                </a:solidFill>
                <a:latin typeface="游ゴシック"/>
                <a:ea typeface="游ゴシック"/>
              </a:rPr>
              <a:t>UG競馬 競馬予想チャンネル  ／  桜花賞解析レポート 2026  ———  2/9</a:t>
            </a:r>
          </a:p>
        </p:txBody>
      </p:sp>
      <p:sp>
        <p:nvSpPr>
          <p:cNvPr id="96" name="TextBox 95"/>
          <p:cNvSpPr txBox="1"/>
          <p:nvPr/>
        </p:nvSpPr>
        <p:spPr>
          <a:xfrm>
            <a:off x="9875520" y="6473952"/>
            <a:ext cx="2103120" cy="347472"/>
          </a:xfrm>
          <a:prstGeom prst="rect">
            <a:avLst/>
          </a:prstGeom>
          <a:noFill/>
        </p:spPr>
        <p:txBody>
          <a:bodyPr wrap="square">
            <a:spAutoFit/>
          </a:bodyPr>
          <a:lstStyle/>
          <a:p>
            <a:pPr algn="r"/>
            <a:r>
              <a:rPr sz="1200" b="1" i="0">
                <a:solidFill>
                  <a:srgbClr val="FCD34D"/>
                </a:solidFill>
                <a:latin typeface="游ゴシック"/>
                <a:ea typeface="游ゴシック"/>
              </a:rPr>
              <a:t>無料公開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081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01168"/>
            <a:ext cx="7315200" cy="548640"/>
          </a:xfrm>
          <a:prstGeom prst="rect">
            <a:avLst/>
          </a:prstGeom>
          <a:noFill/>
        </p:spPr>
        <p:txBody>
          <a:bodyPr wrap="square">
            <a:spAutoFit/>
          </a:bodyPr>
          <a:lstStyle/>
          <a:p>
            <a:pPr algn="l"/>
            <a:r>
              <a:rPr sz="3200" b="1" i="0">
                <a:solidFill>
                  <a:srgbClr val="FFFFFF"/>
                </a:solidFill>
                <a:latin typeface="游明朝"/>
                <a:ea typeface="游明朝"/>
              </a:rPr>
              <a:t>注目馬ランキング</a:t>
            </a:r>
          </a:p>
        </p:txBody>
      </p:sp>
      <p:sp>
        <p:nvSpPr>
          <p:cNvPr id="4" name="Rectangle 3"/>
          <p:cNvSpPr/>
          <p:nvPr/>
        </p:nvSpPr>
        <p:spPr>
          <a:xfrm>
            <a:off x="320040" y="822960"/>
            <a:ext cx="11430000" cy="36576"/>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987552"/>
            <a:ext cx="3931920" cy="5029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987552"/>
            <a:ext cx="3931920" cy="502920"/>
          </a:xfrm>
          <a:prstGeom prst="rect">
            <a:avLst/>
          </a:prstGeom>
          <a:noFill/>
        </p:spPr>
        <p:txBody>
          <a:bodyPr wrap="square">
            <a:spAutoFit/>
          </a:bodyPr>
          <a:lstStyle/>
          <a:p>
            <a:pPr algn="ctr"/>
            <a:r>
              <a:rPr sz="1800" b="1" i="0">
                <a:solidFill>
                  <a:srgbClr val="FFFFFF"/>
                </a:solidFill>
                <a:latin typeface="游明朝"/>
                <a:ea typeface="游明朝"/>
              </a:rPr>
              <a:t>単勝ランク</a:t>
            </a:r>
          </a:p>
        </p:txBody>
      </p:sp>
      <p:sp>
        <p:nvSpPr>
          <p:cNvPr id="7" name="Rounded Rectangle 6"/>
          <p:cNvSpPr/>
          <p:nvPr/>
        </p:nvSpPr>
        <p:spPr>
          <a:xfrm>
            <a:off x="320040" y="1600200"/>
            <a:ext cx="3931920" cy="146304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600200"/>
            <a:ext cx="3931920" cy="402336"/>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636776"/>
            <a:ext cx="1828800" cy="347472"/>
          </a:xfrm>
          <a:prstGeom prst="rect">
            <a:avLst/>
          </a:prstGeom>
          <a:noFill/>
        </p:spPr>
        <p:txBody>
          <a:bodyPr wrap="square">
            <a:spAutoFit/>
          </a:bodyPr>
          <a:lstStyle/>
          <a:p>
            <a:pPr algn="l"/>
            <a:r>
              <a:rPr sz="1200" b="1" i="0">
                <a:solidFill>
                  <a:srgbClr val="1A0814"/>
                </a:solidFill>
                <a:latin typeface="游ゴシック"/>
                <a:ea typeface="游ゴシック"/>
              </a:rPr>
              <a:t>🥇 1位</a:t>
            </a:r>
          </a:p>
        </p:txBody>
      </p:sp>
      <p:sp>
        <p:nvSpPr>
          <p:cNvPr id="10" name="TextBox 9"/>
          <p:cNvSpPr txBox="1"/>
          <p:nvPr/>
        </p:nvSpPr>
        <p:spPr>
          <a:xfrm>
            <a:off x="3154679" y="1636776"/>
            <a:ext cx="1005840" cy="347472"/>
          </a:xfrm>
          <a:prstGeom prst="rect">
            <a:avLst/>
          </a:prstGeom>
          <a:noFill/>
        </p:spPr>
        <p:txBody>
          <a:bodyPr wrap="square">
            <a:spAutoFit/>
          </a:bodyPr>
          <a:lstStyle/>
          <a:p>
            <a:pPr algn="r"/>
            <a:r>
              <a:rPr sz="1300" b="1" i="0">
                <a:solidFill>
                  <a:srgbClr val="1A0814"/>
                </a:solidFill>
                <a:latin typeface="游ゴシック"/>
                <a:ea typeface="游ゴシック"/>
              </a:rPr>
              <a:t>4.2倍</a:t>
            </a:r>
          </a:p>
        </p:txBody>
      </p:sp>
      <p:sp>
        <p:nvSpPr>
          <p:cNvPr id="11" name="TextBox 10"/>
          <p:cNvSpPr txBox="1"/>
          <p:nvPr/>
        </p:nvSpPr>
        <p:spPr>
          <a:xfrm>
            <a:off x="429768" y="2075688"/>
            <a:ext cx="3712463" cy="438912"/>
          </a:xfrm>
          <a:prstGeom prst="rect">
            <a:avLst/>
          </a:prstGeom>
          <a:noFill/>
        </p:spPr>
        <p:txBody>
          <a:bodyPr wrap="square">
            <a:spAutoFit/>
          </a:bodyPr>
          <a:lstStyle/>
          <a:p>
            <a:pPr algn="l"/>
            <a:r>
              <a:rPr sz="1700" b="1" i="0">
                <a:solidFill>
                  <a:srgbClr val="FFFFFF"/>
                </a:solidFill>
                <a:latin typeface="游明朝"/>
                <a:ea typeface="游明朝"/>
              </a:rPr>
              <a:t>スターアニス</a:t>
            </a:r>
          </a:p>
        </p:txBody>
      </p:sp>
      <p:sp>
        <p:nvSpPr>
          <p:cNvPr id="12" name="TextBox 11"/>
          <p:cNvSpPr txBox="1"/>
          <p:nvPr/>
        </p:nvSpPr>
        <p:spPr>
          <a:xfrm>
            <a:off x="429768" y="2587752"/>
            <a:ext cx="3712463" cy="274320"/>
          </a:xfrm>
          <a:prstGeom prst="rect">
            <a:avLst/>
          </a:prstGeom>
          <a:noFill/>
        </p:spPr>
        <p:txBody>
          <a:bodyPr wrap="square">
            <a:spAutoFit/>
          </a:bodyPr>
          <a:lstStyle/>
          <a:p>
            <a:pPr algn="l"/>
            <a:r>
              <a:rPr sz="1100" b="0" i="0">
                <a:solidFill>
                  <a:srgbClr val="FCD34D"/>
                </a:solidFill>
                <a:latin typeface="游ゴシック"/>
                <a:ea typeface="游ゴシック"/>
              </a:rPr>
              <a:t>スコア 61.8%</a:t>
            </a:r>
          </a:p>
        </p:txBody>
      </p:sp>
      <p:sp>
        <p:nvSpPr>
          <p:cNvPr id="13" name="TextBox 12"/>
          <p:cNvSpPr txBox="1"/>
          <p:nvPr/>
        </p:nvSpPr>
        <p:spPr>
          <a:xfrm>
            <a:off x="429768" y="2834640"/>
            <a:ext cx="3712463" cy="228600"/>
          </a:xfrm>
          <a:prstGeom prst="rect">
            <a:avLst/>
          </a:prstGeom>
          <a:noFill/>
        </p:spPr>
        <p:txBody>
          <a:bodyPr wrap="square">
            <a:spAutoFit/>
          </a:bodyPr>
          <a:lstStyle/>
          <a:p>
            <a:pPr algn="l"/>
            <a:r>
              <a:rPr sz="900" b="0" i="1">
                <a:solidFill>
                  <a:srgbClr val="FFC8DC"/>
                </a:solidFill>
                <a:latin typeface="游ゴシック"/>
                <a:ea typeface="游ゴシック"/>
              </a:rPr>
              <a:t>前走：阪神ジュG1</a:t>
            </a:r>
          </a:p>
        </p:txBody>
      </p:sp>
      <p:sp>
        <p:nvSpPr>
          <p:cNvPr id="14" name="Rounded Rectangle 13"/>
          <p:cNvSpPr/>
          <p:nvPr/>
        </p:nvSpPr>
        <p:spPr>
          <a:xfrm>
            <a:off x="320040" y="3172968"/>
            <a:ext cx="3931920" cy="14630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3172968"/>
            <a:ext cx="3931920" cy="402336"/>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 y="3209544"/>
            <a:ext cx="1828800" cy="347472"/>
          </a:xfrm>
          <a:prstGeom prst="rect">
            <a:avLst/>
          </a:prstGeom>
          <a:noFill/>
        </p:spPr>
        <p:txBody>
          <a:bodyPr wrap="square">
            <a:spAutoFit/>
          </a:bodyPr>
          <a:lstStyle/>
          <a:p>
            <a:pPr algn="l"/>
            <a:r>
              <a:rPr sz="1200" b="1" i="0">
                <a:solidFill>
                  <a:srgbClr val="1A0814"/>
                </a:solidFill>
                <a:latin typeface="游ゴシック"/>
                <a:ea typeface="游ゴシック"/>
              </a:rPr>
              <a:t>🥈 2位</a:t>
            </a:r>
          </a:p>
        </p:txBody>
      </p:sp>
      <p:sp>
        <p:nvSpPr>
          <p:cNvPr id="17" name="TextBox 16"/>
          <p:cNvSpPr txBox="1"/>
          <p:nvPr/>
        </p:nvSpPr>
        <p:spPr>
          <a:xfrm>
            <a:off x="3154679" y="3209544"/>
            <a:ext cx="1005840" cy="347472"/>
          </a:xfrm>
          <a:prstGeom prst="rect">
            <a:avLst/>
          </a:prstGeom>
          <a:noFill/>
        </p:spPr>
        <p:txBody>
          <a:bodyPr wrap="square">
            <a:spAutoFit/>
          </a:bodyPr>
          <a:lstStyle/>
          <a:p>
            <a:pPr algn="r"/>
            <a:r>
              <a:rPr sz="1300" b="1" i="0">
                <a:solidFill>
                  <a:srgbClr val="1A0814"/>
                </a:solidFill>
                <a:latin typeface="游ゴシック"/>
                <a:ea typeface="游ゴシック"/>
              </a:rPr>
              <a:t>5.9倍</a:t>
            </a:r>
          </a:p>
        </p:txBody>
      </p:sp>
      <p:sp>
        <p:nvSpPr>
          <p:cNvPr id="18" name="TextBox 17"/>
          <p:cNvSpPr txBox="1"/>
          <p:nvPr/>
        </p:nvSpPr>
        <p:spPr>
          <a:xfrm>
            <a:off x="429768" y="3648456"/>
            <a:ext cx="3712463" cy="438912"/>
          </a:xfrm>
          <a:prstGeom prst="rect">
            <a:avLst/>
          </a:prstGeom>
          <a:noFill/>
        </p:spPr>
        <p:txBody>
          <a:bodyPr wrap="square">
            <a:spAutoFit/>
          </a:bodyPr>
          <a:lstStyle/>
          <a:p>
            <a:pPr algn="l"/>
            <a:r>
              <a:rPr sz="1700" b="1" i="0">
                <a:solidFill>
                  <a:srgbClr val="FFFFFF"/>
                </a:solidFill>
                <a:latin typeface="游明朝"/>
                <a:ea typeface="游明朝"/>
              </a:rPr>
              <a:t>アランカール</a:t>
            </a:r>
          </a:p>
        </p:txBody>
      </p:sp>
      <p:sp>
        <p:nvSpPr>
          <p:cNvPr id="19" name="TextBox 18"/>
          <p:cNvSpPr txBox="1"/>
          <p:nvPr/>
        </p:nvSpPr>
        <p:spPr>
          <a:xfrm>
            <a:off x="429768" y="4160520"/>
            <a:ext cx="3712463" cy="274320"/>
          </a:xfrm>
          <a:prstGeom prst="rect">
            <a:avLst/>
          </a:prstGeom>
          <a:noFill/>
        </p:spPr>
        <p:txBody>
          <a:bodyPr wrap="square">
            <a:spAutoFit/>
          </a:bodyPr>
          <a:lstStyle/>
          <a:p>
            <a:pPr algn="l"/>
            <a:r>
              <a:rPr sz="1100" b="0" i="0">
                <a:solidFill>
                  <a:srgbClr val="FCD34D"/>
                </a:solidFill>
                <a:latin typeface="游ゴシック"/>
                <a:ea typeface="游ゴシック"/>
              </a:rPr>
              <a:t>スコア 52.5%</a:t>
            </a:r>
          </a:p>
        </p:txBody>
      </p:sp>
      <p:sp>
        <p:nvSpPr>
          <p:cNvPr id="20" name="TextBox 19"/>
          <p:cNvSpPr txBox="1"/>
          <p:nvPr/>
        </p:nvSpPr>
        <p:spPr>
          <a:xfrm>
            <a:off x="429768" y="4407408"/>
            <a:ext cx="3712463" cy="228600"/>
          </a:xfrm>
          <a:prstGeom prst="rect">
            <a:avLst/>
          </a:prstGeom>
          <a:noFill/>
        </p:spPr>
        <p:txBody>
          <a:bodyPr wrap="square">
            <a:spAutoFit/>
          </a:bodyPr>
          <a:lstStyle/>
          <a:p>
            <a:pPr algn="l"/>
            <a:r>
              <a:rPr sz="900" b="0" i="1">
                <a:solidFill>
                  <a:srgbClr val="FFC8DC"/>
                </a:solidFill>
                <a:latin typeface="游ゴシック"/>
                <a:ea typeface="游ゴシック"/>
              </a:rPr>
              <a:t>前走：チューリG2</a:t>
            </a:r>
          </a:p>
        </p:txBody>
      </p:sp>
      <p:sp>
        <p:nvSpPr>
          <p:cNvPr id="21" name="Rounded Rectangle 20"/>
          <p:cNvSpPr/>
          <p:nvPr/>
        </p:nvSpPr>
        <p:spPr>
          <a:xfrm>
            <a:off x="320040" y="4745736"/>
            <a:ext cx="3931920" cy="14630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 y="4745736"/>
            <a:ext cx="3931920" cy="402336"/>
          </a:xfrm>
          <a:prstGeom prst="rect">
            <a:avLst/>
          </a:prstGeom>
          <a:solidFill>
            <a:srgbClr val="B45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782312"/>
            <a:ext cx="1828800" cy="347472"/>
          </a:xfrm>
          <a:prstGeom prst="rect">
            <a:avLst/>
          </a:prstGeom>
          <a:noFill/>
        </p:spPr>
        <p:txBody>
          <a:bodyPr wrap="square">
            <a:spAutoFit/>
          </a:bodyPr>
          <a:lstStyle/>
          <a:p>
            <a:pPr algn="l"/>
            <a:r>
              <a:rPr sz="1200" b="1" i="0">
                <a:solidFill>
                  <a:srgbClr val="1A0814"/>
                </a:solidFill>
                <a:latin typeface="游ゴシック"/>
                <a:ea typeface="游ゴシック"/>
              </a:rPr>
              <a:t>🥉 3位</a:t>
            </a:r>
          </a:p>
        </p:txBody>
      </p:sp>
      <p:sp>
        <p:nvSpPr>
          <p:cNvPr id="24" name="TextBox 23"/>
          <p:cNvSpPr txBox="1"/>
          <p:nvPr/>
        </p:nvSpPr>
        <p:spPr>
          <a:xfrm>
            <a:off x="3154679" y="4782312"/>
            <a:ext cx="1005840" cy="347472"/>
          </a:xfrm>
          <a:prstGeom prst="rect">
            <a:avLst/>
          </a:prstGeom>
          <a:noFill/>
        </p:spPr>
        <p:txBody>
          <a:bodyPr wrap="square">
            <a:spAutoFit/>
          </a:bodyPr>
          <a:lstStyle/>
          <a:p>
            <a:pPr algn="r"/>
            <a:r>
              <a:rPr sz="1300" b="1" i="0">
                <a:solidFill>
                  <a:srgbClr val="1A0814"/>
                </a:solidFill>
                <a:latin typeface="游ゴシック"/>
                <a:ea typeface="游ゴシック"/>
              </a:rPr>
              <a:t>3.0倍</a:t>
            </a:r>
          </a:p>
        </p:txBody>
      </p:sp>
      <p:sp>
        <p:nvSpPr>
          <p:cNvPr id="25" name="TextBox 24"/>
          <p:cNvSpPr txBox="1"/>
          <p:nvPr/>
        </p:nvSpPr>
        <p:spPr>
          <a:xfrm>
            <a:off x="429768" y="5221223"/>
            <a:ext cx="3712463" cy="438912"/>
          </a:xfrm>
          <a:prstGeom prst="rect">
            <a:avLst/>
          </a:prstGeom>
          <a:noFill/>
        </p:spPr>
        <p:txBody>
          <a:bodyPr wrap="square">
            <a:spAutoFit/>
          </a:bodyPr>
          <a:lstStyle/>
          <a:p>
            <a:pPr algn="l"/>
            <a:r>
              <a:rPr sz="1700" b="1" i="0">
                <a:solidFill>
                  <a:srgbClr val="FFFFFF"/>
                </a:solidFill>
                <a:latin typeface="游明朝"/>
                <a:ea typeface="游明朝"/>
              </a:rPr>
              <a:t>ドリームコア</a:t>
            </a:r>
          </a:p>
        </p:txBody>
      </p:sp>
      <p:sp>
        <p:nvSpPr>
          <p:cNvPr id="26" name="TextBox 25"/>
          <p:cNvSpPr txBox="1"/>
          <p:nvPr/>
        </p:nvSpPr>
        <p:spPr>
          <a:xfrm>
            <a:off x="429768" y="5733288"/>
            <a:ext cx="3712463" cy="274320"/>
          </a:xfrm>
          <a:prstGeom prst="rect">
            <a:avLst/>
          </a:prstGeom>
          <a:noFill/>
        </p:spPr>
        <p:txBody>
          <a:bodyPr wrap="square">
            <a:spAutoFit/>
          </a:bodyPr>
          <a:lstStyle/>
          <a:p>
            <a:pPr algn="l"/>
            <a:r>
              <a:rPr sz="1100" b="0" i="0">
                <a:solidFill>
                  <a:srgbClr val="FCD34D"/>
                </a:solidFill>
                <a:latin typeface="游ゴシック"/>
                <a:ea typeface="游ゴシック"/>
              </a:rPr>
              <a:t>スコア 48.3%</a:t>
            </a:r>
          </a:p>
        </p:txBody>
      </p:sp>
      <p:sp>
        <p:nvSpPr>
          <p:cNvPr id="27" name="TextBox 26"/>
          <p:cNvSpPr txBox="1"/>
          <p:nvPr/>
        </p:nvSpPr>
        <p:spPr>
          <a:xfrm>
            <a:off x="429768" y="5980175"/>
            <a:ext cx="3712463" cy="228600"/>
          </a:xfrm>
          <a:prstGeom prst="rect">
            <a:avLst/>
          </a:prstGeom>
          <a:noFill/>
        </p:spPr>
        <p:txBody>
          <a:bodyPr wrap="square">
            <a:spAutoFit/>
          </a:bodyPr>
          <a:lstStyle/>
          <a:p>
            <a:pPr algn="l"/>
            <a:r>
              <a:rPr sz="900" b="0" i="1">
                <a:solidFill>
                  <a:srgbClr val="FFC8DC"/>
                </a:solidFill>
                <a:latin typeface="游ゴシック"/>
                <a:ea typeface="游ゴシック"/>
              </a:rPr>
              <a:t>前走：クイーンG3</a:t>
            </a:r>
          </a:p>
        </p:txBody>
      </p:sp>
      <p:sp>
        <p:nvSpPr>
          <p:cNvPr id="28" name="Rectangle 27"/>
          <p:cNvSpPr/>
          <p:nvPr/>
        </p:nvSpPr>
        <p:spPr>
          <a:xfrm>
            <a:off x="4434840" y="987552"/>
            <a:ext cx="3931920" cy="50292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987552"/>
            <a:ext cx="3931920" cy="502920"/>
          </a:xfrm>
          <a:prstGeom prst="rect">
            <a:avLst/>
          </a:prstGeom>
          <a:noFill/>
        </p:spPr>
        <p:txBody>
          <a:bodyPr wrap="square">
            <a:spAutoFit/>
          </a:bodyPr>
          <a:lstStyle/>
          <a:p>
            <a:pPr algn="ctr"/>
            <a:r>
              <a:rPr sz="1800" b="1" i="0">
                <a:solidFill>
                  <a:srgbClr val="FFFFFF"/>
                </a:solidFill>
                <a:latin typeface="游明朝"/>
                <a:ea typeface="游明朝"/>
              </a:rPr>
              <a:t>複勝ランク</a:t>
            </a:r>
          </a:p>
        </p:txBody>
      </p:sp>
      <p:sp>
        <p:nvSpPr>
          <p:cNvPr id="30" name="Rounded Rectangle 29"/>
          <p:cNvSpPr/>
          <p:nvPr/>
        </p:nvSpPr>
        <p:spPr>
          <a:xfrm>
            <a:off x="4434840" y="1600200"/>
            <a:ext cx="3931920" cy="1463040"/>
          </a:xfrm>
          <a:prstGeom prst="round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34840" y="1600200"/>
            <a:ext cx="3931920" cy="40233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79" y="1636776"/>
            <a:ext cx="1828800" cy="347472"/>
          </a:xfrm>
          <a:prstGeom prst="rect">
            <a:avLst/>
          </a:prstGeom>
          <a:noFill/>
        </p:spPr>
        <p:txBody>
          <a:bodyPr wrap="square">
            <a:spAutoFit/>
          </a:bodyPr>
          <a:lstStyle/>
          <a:p>
            <a:pPr algn="l"/>
            <a:r>
              <a:rPr sz="1200" b="1" i="0">
                <a:solidFill>
                  <a:srgbClr val="1A0814"/>
                </a:solidFill>
                <a:latin typeface="游ゴシック"/>
                <a:ea typeface="游ゴシック"/>
              </a:rPr>
              <a:t>🥇 1位</a:t>
            </a:r>
          </a:p>
        </p:txBody>
      </p:sp>
      <p:sp>
        <p:nvSpPr>
          <p:cNvPr id="33" name="TextBox 32"/>
          <p:cNvSpPr txBox="1"/>
          <p:nvPr/>
        </p:nvSpPr>
        <p:spPr>
          <a:xfrm>
            <a:off x="7269479" y="1636776"/>
            <a:ext cx="1005840" cy="347472"/>
          </a:xfrm>
          <a:prstGeom prst="rect">
            <a:avLst/>
          </a:prstGeom>
          <a:noFill/>
        </p:spPr>
        <p:txBody>
          <a:bodyPr wrap="square">
            <a:spAutoFit/>
          </a:bodyPr>
          <a:lstStyle/>
          <a:p>
            <a:pPr algn="r"/>
            <a:r>
              <a:rPr sz="1300" b="1" i="0">
                <a:solidFill>
                  <a:srgbClr val="1A0814"/>
                </a:solidFill>
                <a:latin typeface="游ゴシック"/>
                <a:ea typeface="游ゴシック"/>
              </a:rPr>
              <a:t>5.9倍</a:t>
            </a:r>
          </a:p>
        </p:txBody>
      </p:sp>
      <p:sp>
        <p:nvSpPr>
          <p:cNvPr id="34" name="TextBox 33"/>
          <p:cNvSpPr txBox="1"/>
          <p:nvPr/>
        </p:nvSpPr>
        <p:spPr>
          <a:xfrm>
            <a:off x="4544568" y="2075688"/>
            <a:ext cx="3712463" cy="438912"/>
          </a:xfrm>
          <a:prstGeom prst="rect">
            <a:avLst/>
          </a:prstGeom>
          <a:noFill/>
        </p:spPr>
        <p:txBody>
          <a:bodyPr wrap="square">
            <a:spAutoFit/>
          </a:bodyPr>
          <a:lstStyle/>
          <a:p>
            <a:pPr algn="l"/>
            <a:r>
              <a:rPr sz="1700" b="1" i="0">
                <a:solidFill>
                  <a:srgbClr val="FFFFFF"/>
                </a:solidFill>
                <a:latin typeface="游明朝"/>
                <a:ea typeface="游明朝"/>
              </a:rPr>
              <a:t>アランカール</a:t>
            </a:r>
          </a:p>
        </p:txBody>
      </p:sp>
      <p:sp>
        <p:nvSpPr>
          <p:cNvPr id="35" name="TextBox 34"/>
          <p:cNvSpPr txBox="1"/>
          <p:nvPr/>
        </p:nvSpPr>
        <p:spPr>
          <a:xfrm>
            <a:off x="4544568" y="2587752"/>
            <a:ext cx="3712463" cy="274320"/>
          </a:xfrm>
          <a:prstGeom prst="rect">
            <a:avLst/>
          </a:prstGeom>
          <a:noFill/>
        </p:spPr>
        <p:txBody>
          <a:bodyPr wrap="square">
            <a:spAutoFit/>
          </a:bodyPr>
          <a:lstStyle/>
          <a:p>
            <a:pPr algn="l"/>
            <a:r>
              <a:rPr sz="1100" b="0" i="0">
                <a:solidFill>
                  <a:srgbClr val="10B981"/>
                </a:solidFill>
                <a:latin typeface="游ゴシック"/>
                <a:ea typeface="游ゴシック"/>
              </a:rPr>
              <a:t>スコア 62.3%</a:t>
            </a:r>
          </a:p>
        </p:txBody>
      </p:sp>
      <p:sp>
        <p:nvSpPr>
          <p:cNvPr id="36" name="TextBox 35"/>
          <p:cNvSpPr txBox="1"/>
          <p:nvPr/>
        </p:nvSpPr>
        <p:spPr>
          <a:xfrm>
            <a:off x="4544568" y="2834640"/>
            <a:ext cx="3712463" cy="228600"/>
          </a:xfrm>
          <a:prstGeom prst="rect">
            <a:avLst/>
          </a:prstGeom>
          <a:noFill/>
        </p:spPr>
        <p:txBody>
          <a:bodyPr wrap="square">
            <a:spAutoFit/>
          </a:bodyPr>
          <a:lstStyle/>
          <a:p>
            <a:pPr algn="l"/>
            <a:r>
              <a:rPr sz="900" b="0" i="1">
                <a:solidFill>
                  <a:srgbClr val="FFC8DC"/>
                </a:solidFill>
                <a:latin typeface="游ゴシック"/>
                <a:ea typeface="游ゴシック"/>
              </a:rPr>
              <a:t>前走：チューリG2</a:t>
            </a:r>
          </a:p>
        </p:txBody>
      </p:sp>
      <p:sp>
        <p:nvSpPr>
          <p:cNvPr id="37" name="Rounded Rectangle 36"/>
          <p:cNvSpPr/>
          <p:nvPr/>
        </p:nvSpPr>
        <p:spPr>
          <a:xfrm>
            <a:off x="4434840" y="3172968"/>
            <a:ext cx="3931920" cy="14630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4840" y="3172968"/>
            <a:ext cx="3931920" cy="402336"/>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26279" y="3209544"/>
            <a:ext cx="1828800" cy="347472"/>
          </a:xfrm>
          <a:prstGeom prst="rect">
            <a:avLst/>
          </a:prstGeom>
          <a:noFill/>
        </p:spPr>
        <p:txBody>
          <a:bodyPr wrap="square">
            <a:spAutoFit/>
          </a:bodyPr>
          <a:lstStyle/>
          <a:p>
            <a:pPr algn="l"/>
            <a:r>
              <a:rPr sz="1200" b="1" i="0">
                <a:solidFill>
                  <a:srgbClr val="1A0814"/>
                </a:solidFill>
                <a:latin typeface="游ゴシック"/>
                <a:ea typeface="游ゴシック"/>
              </a:rPr>
              <a:t>🥈 2位</a:t>
            </a:r>
          </a:p>
        </p:txBody>
      </p:sp>
      <p:sp>
        <p:nvSpPr>
          <p:cNvPr id="40" name="TextBox 39"/>
          <p:cNvSpPr txBox="1"/>
          <p:nvPr/>
        </p:nvSpPr>
        <p:spPr>
          <a:xfrm>
            <a:off x="7269479" y="3209544"/>
            <a:ext cx="1005840" cy="347472"/>
          </a:xfrm>
          <a:prstGeom prst="rect">
            <a:avLst/>
          </a:prstGeom>
          <a:noFill/>
        </p:spPr>
        <p:txBody>
          <a:bodyPr wrap="square">
            <a:spAutoFit/>
          </a:bodyPr>
          <a:lstStyle/>
          <a:p>
            <a:pPr algn="r"/>
            <a:r>
              <a:rPr sz="1300" b="1" i="0">
                <a:solidFill>
                  <a:srgbClr val="1A0814"/>
                </a:solidFill>
                <a:latin typeface="游ゴシック"/>
                <a:ea typeface="游ゴシック"/>
              </a:rPr>
              <a:t>4.2倍</a:t>
            </a:r>
          </a:p>
        </p:txBody>
      </p:sp>
      <p:sp>
        <p:nvSpPr>
          <p:cNvPr id="41" name="TextBox 40"/>
          <p:cNvSpPr txBox="1"/>
          <p:nvPr/>
        </p:nvSpPr>
        <p:spPr>
          <a:xfrm>
            <a:off x="4544568" y="3648456"/>
            <a:ext cx="3712463" cy="438912"/>
          </a:xfrm>
          <a:prstGeom prst="rect">
            <a:avLst/>
          </a:prstGeom>
          <a:noFill/>
        </p:spPr>
        <p:txBody>
          <a:bodyPr wrap="square">
            <a:spAutoFit/>
          </a:bodyPr>
          <a:lstStyle/>
          <a:p>
            <a:pPr algn="l"/>
            <a:r>
              <a:rPr sz="1700" b="1" i="0">
                <a:solidFill>
                  <a:srgbClr val="FFFFFF"/>
                </a:solidFill>
                <a:latin typeface="游明朝"/>
                <a:ea typeface="游明朝"/>
              </a:rPr>
              <a:t>スターアニス</a:t>
            </a:r>
          </a:p>
        </p:txBody>
      </p:sp>
      <p:sp>
        <p:nvSpPr>
          <p:cNvPr id="42" name="TextBox 41"/>
          <p:cNvSpPr txBox="1"/>
          <p:nvPr/>
        </p:nvSpPr>
        <p:spPr>
          <a:xfrm>
            <a:off x="4544568" y="4160520"/>
            <a:ext cx="3712463" cy="274320"/>
          </a:xfrm>
          <a:prstGeom prst="rect">
            <a:avLst/>
          </a:prstGeom>
          <a:noFill/>
        </p:spPr>
        <p:txBody>
          <a:bodyPr wrap="square">
            <a:spAutoFit/>
          </a:bodyPr>
          <a:lstStyle/>
          <a:p>
            <a:pPr algn="l"/>
            <a:r>
              <a:rPr sz="1100" b="0" i="0">
                <a:solidFill>
                  <a:srgbClr val="10B981"/>
                </a:solidFill>
                <a:latin typeface="游ゴシック"/>
                <a:ea typeface="游ゴシック"/>
              </a:rPr>
              <a:t>スコア 62.3%</a:t>
            </a:r>
          </a:p>
        </p:txBody>
      </p:sp>
      <p:sp>
        <p:nvSpPr>
          <p:cNvPr id="43" name="TextBox 42"/>
          <p:cNvSpPr txBox="1"/>
          <p:nvPr/>
        </p:nvSpPr>
        <p:spPr>
          <a:xfrm>
            <a:off x="4544568" y="4407408"/>
            <a:ext cx="3712463" cy="228600"/>
          </a:xfrm>
          <a:prstGeom prst="rect">
            <a:avLst/>
          </a:prstGeom>
          <a:noFill/>
        </p:spPr>
        <p:txBody>
          <a:bodyPr wrap="square">
            <a:spAutoFit/>
          </a:bodyPr>
          <a:lstStyle/>
          <a:p>
            <a:pPr algn="l"/>
            <a:r>
              <a:rPr sz="900" b="0" i="1">
                <a:solidFill>
                  <a:srgbClr val="FFC8DC"/>
                </a:solidFill>
                <a:latin typeface="游ゴシック"/>
                <a:ea typeface="游ゴシック"/>
              </a:rPr>
              <a:t>前走：阪神ジュG1</a:t>
            </a:r>
          </a:p>
        </p:txBody>
      </p:sp>
      <p:sp>
        <p:nvSpPr>
          <p:cNvPr id="44" name="Rounded Rectangle 43"/>
          <p:cNvSpPr/>
          <p:nvPr/>
        </p:nvSpPr>
        <p:spPr>
          <a:xfrm>
            <a:off x="4434840" y="4745736"/>
            <a:ext cx="3931920" cy="14630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434840" y="4745736"/>
            <a:ext cx="3931920" cy="402336"/>
          </a:xfrm>
          <a:prstGeom prst="rect">
            <a:avLst/>
          </a:prstGeom>
          <a:solidFill>
            <a:srgbClr val="B45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26279" y="4782312"/>
            <a:ext cx="1828800" cy="347472"/>
          </a:xfrm>
          <a:prstGeom prst="rect">
            <a:avLst/>
          </a:prstGeom>
          <a:noFill/>
        </p:spPr>
        <p:txBody>
          <a:bodyPr wrap="square">
            <a:spAutoFit/>
          </a:bodyPr>
          <a:lstStyle/>
          <a:p>
            <a:pPr algn="l"/>
            <a:r>
              <a:rPr sz="1200" b="1" i="0">
                <a:solidFill>
                  <a:srgbClr val="1A0814"/>
                </a:solidFill>
                <a:latin typeface="游ゴシック"/>
                <a:ea typeface="游ゴシック"/>
              </a:rPr>
              <a:t>🥉 3位</a:t>
            </a:r>
          </a:p>
        </p:txBody>
      </p:sp>
      <p:sp>
        <p:nvSpPr>
          <p:cNvPr id="47" name="TextBox 46"/>
          <p:cNvSpPr txBox="1"/>
          <p:nvPr/>
        </p:nvSpPr>
        <p:spPr>
          <a:xfrm>
            <a:off x="7269479" y="4782312"/>
            <a:ext cx="1005840" cy="347472"/>
          </a:xfrm>
          <a:prstGeom prst="rect">
            <a:avLst/>
          </a:prstGeom>
          <a:noFill/>
        </p:spPr>
        <p:txBody>
          <a:bodyPr wrap="square">
            <a:spAutoFit/>
          </a:bodyPr>
          <a:lstStyle/>
          <a:p>
            <a:pPr algn="r"/>
            <a:r>
              <a:rPr sz="1300" b="1" i="0">
                <a:solidFill>
                  <a:srgbClr val="1A0814"/>
                </a:solidFill>
                <a:latin typeface="游ゴシック"/>
                <a:ea typeface="游ゴシック"/>
              </a:rPr>
              <a:t>27.0倍</a:t>
            </a:r>
          </a:p>
        </p:txBody>
      </p:sp>
      <p:sp>
        <p:nvSpPr>
          <p:cNvPr id="48" name="TextBox 47"/>
          <p:cNvSpPr txBox="1"/>
          <p:nvPr/>
        </p:nvSpPr>
        <p:spPr>
          <a:xfrm>
            <a:off x="4544568" y="5221223"/>
            <a:ext cx="3712463" cy="438912"/>
          </a:xfrm>
          <a:prstGeom prst="rect">
            <a:avLst/>
          </a:prstGeom>
          <a:noFill/>
        </p:spPr>
        <p:txBody>
          <a:bodyPr wrap="square">
            <a:spAutoFit/>
          </a:bodyPr>
          <a:lstStyle/>
          <a:p>
            <a:pPr algn="l"/>
            <a:r>
              <a:rPr sz="1700" b="1" i="0">
                <a:solidFill>
                  <a:srgbClr val="FFFFFF"/>
                </a:solidFill>
                <a:latin typeface="游明朝"/>
                <a:ea typeface="游明朝"/>
              </a:rPr>
              <a:t>ナムラコスモス</a:t>
            </a:r>
          </a:p>
        </p:txBody>
      </p:sp>
      <p:sp>
        <p:nvSpPr>
          <p:cNvPr id="49" name="TextBox 48"/>
          <p:cNvSpPr txBox="1"/>
          <p:nvPr/>
        </p:nvSpPr>
        <p:spPr>
          <a:xfrm>
            <a:off x="4544568" y="5733288"/>
            <a:ext cx="3712463" cy="274320"/>
          </a:xfrm>
          <a:prstGeom prst="rect">
            <a:avLst/>
          </a:prstGeom>
          <a:noFill/>
        </p:spPr>
        <p:txBody>
          <a:bodyPr wrap="square">
            <a:spAutoFit/>
          </a:bodyPr>
          <a:lstStyle/>
          <a:p>
            <a:pPr algn="l"/>
            <a:r>
              <a:rPr sz="1100" b="0" i="0">
                <a:solidFill>
                  <a:srgbClr val="10B981"/>
                </a:solidFill>
                <a:latin typeface="游ゴシック"/>
                <a:ea typeface="游ゴシック"/>
              </a:rPr>
              <a:t>スコア 58.3%</a:t>
            </a:r>
          </a:p>
        </p:txBody>
      </p:sp>
      <p:sp>
        <p:nvSpPr>
          <p:cNvPr id="50" name="TextBox 49"/>
          <p:cNvSpPr txBox="1"/>
          <p:nvPr/>
        </p:nvSpPr>
        <p:spPr>
          <a:xfrm>
            <a:off x="4544568" y="5980175"/>
            <a:ext cx="3712463" cy="228600"/>
          </a:xfrm>
          <a:prstGeom prst="rect">
            <a:avLst/>
          </a:prstGeom>
          <a:noFill/>
        </p:spPr>
        <p:txBody>
          <a:bodyPr wrap="square">
            <a:spAutoFit/>
          </a:bodyPr>
          <a:lstStyle/>
          <a:p>
            <a:pPr algn="l"/>
            <a:r>
              <a:rPr sz="900" b="0" i="1">
                <a:solidFill>
                  <a:srgbClr val="FFC8DC"/>
                </a:solidFill>
                <a:latin typeface="游ゴシック"/>
                <a:ea typeface="游ゴシック"/>
              </a:rPr>
              <a:t>前走：チューリG2</a:t>
            </a:r>
          </a:p>
        </p:txBody>
      </p:sp>
      <p:sp>
        <p:nvSpPr>
          <p:cNvPr id="51" name="Rectangle 50"/>
          <p:cNvSpPr/>
          <p:nvPr/>
        </p:nvSpPr>
        <p:spPr>
          <a:xfrm>
            <a:off x="8549640" y="987552"/>
            <a:ext cx="3931920" cy="502920"/>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49640" y="987552"/>
            <a:ext cx="3931920" cy="502920"/>
          </a:xfrm>
          <a:prstGeom prst="rect">
            <a:avLst/>
          </a:prstGeom>
          <a:noFill/>
        </p:spPr>
        <p:txBody>
          <a:bodyPr wrap="square">
            <a:spAutoFit/>
          </a:bodyPr>
          <a:lstStyle/>
          <a:p>
            <a:pPr algn="ctr"/>
            <a:r>
              <a:rPr sz="1800" b="1" i="0">
                <a:solidFill>
                  <a:srgbClr val="FFFFFF"/>
                </a:solidFill>
                <a:latin typeface="游明朝"/>
                <a:ea typeface="游明朝"/>
              </a:rPr>
              <a:t>穴馬ランク</a:t>
            </a:r>
          </a:p>
        </p:txBody>
      </p:sp>
      <p:sp>
        <p:nvSpPr>
          <p:cNvPr id="53" name="Rounded Rectangle 52"/>
          <p:cNvSpPr/>
          <p:nvPr/>
        </p:nvSpPr>
        <p:spPr>
          <a:xfrm>
            <a:off x="8549640" y="1600200"/>
            <a:ext cx="3931920" cy="1463040"/>
          </a:xfrm>
          <a:prstGeom prst="round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549640" y="1600200"/>
            <a:ext cx="3931920" cy="40233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41080" y="1636776"/>
            <a:ext cx="1828800" cy="347472"/>
          </a:xfrm>
          <a:prstGeom prst="rect">
            <a:avLst/>
          </a:prstGeom>
          <a:noFill/>
        </p:spPr>
        <p:txBody>
          <a:bodyPr wrap="square">
            <a:spAutoFit/>
          </a:bodyPr>
          <a:lstStyle/>
          <a:p>
            <a:pPr algn="l"/>
            <a:r>
              <a:rPr sz="1200" b="1" i="0">
                <a:solidFill>
                  <a:srgbClr val="1A0814"/>
                </a:solidFill>
                <a:latin typeface="游ゴシック"/>
                <a:ea typeface="游ゴシック"/>
              </a:rPr>
              <a:t>🥇 1位</a:t>
            </a:r>
          </a:p>
        </p:txBody>
      </p:sp>
      <p:sp>
        <p:nvSpPr>
          <p:cNvPr id="56" name="TextBox 55"/>
          <p:cNvSpPr txBox="1"/>
          <p:nvPr/>
        </p:nvSpPr>
        <p:spPr>
          <a:xfrm>
            <a:off x="11384280" y="1636776"/>
            <a:ext cx="1005840" cy="347472"/>
          </a:xfrm>
          <a:prstGeom prst="rect">
            <a:avLst/>
          </a:prstGeom>
          <a:noFill/>
        </p:spPr>
        <p:txBody>
          <a:bodyPr wrap="square">
            <a:spAutoFit/>
          </a:bodyPr>
          <a:lstStyle/>
          <a:p>
            <a:pPr algn="r"/>
            <a:r>
              <a:rPr sz="1300" b="1" i="0">
                <a:solidFill>
                  <a:srgbClr val="1A0814"/>
                </a:solidFill>
                <a:latin typeface="游ゴシック"/>
                <a:ea typeface="游ゴシック"/>
              </a:rPr>
              <a:t>27.7倍</a:t>
            </a:r>
          </a:p>
        </p:txBody>
      </p:sp>
      <p:sp>
        <p:nvSpPr>
          <p:cNvPr id="57" name="TextBox 56"/>
          <p:cNvSpPr txBox="1"/>
          <p:nvPr/>
        </p:nvSpPr>
        <p:spPr>
          <a:xfrm>
            <a:off x="8659367" y="2075688"/>
            <a:ext cx="3712463" cy="438912"/>
          </a:xfrm>
          <a:prstGeom prst="rect">
            <a:avLst/>
          </a:prstGeom>
          <a:noFill/>
        </p:spPr>
        <p:txBody>
          <a:bodyPr wrap="square">
            <a:spAutoFit/>
          </a:bodyPr>
          <a:lstStyle/>
          <a:p>
            <a:pPr algn="l"/>
            <a:r>
              <a:rPr sz="1700" b="1" i="0">
                <a:solidFill>
                  <a:srgbClr val="FFFFFF"/>
                </a:solidFill>
                <a:latin typeface="游明朝"/>
                <a:ea typeface="游明朝"/>
              </a:rPr>
              <a:t>ブラックチャリス</a:t>
            </a:r>
          </a:p>
        </p:txBody>
      </p:sp>
      <p:sp>
        <p:nvSpPr>
          <p:cNvPr id="58" name="TextBox 57"/>
          <p:cNvSpPr txBox="1"/>
          <p:nvPr/>
        </p:nvSpPr>
        <p:spPr>
          <a:xfrm>
            <a:off x="8659367" y="2587752"/>
            <a:ext cx="3712463" cy="274320"/>
          </a:xfrm>
          <a:prstGeom prst="rect">
            <a:avLst/>
          </a:prstGeom>
          <a:noFill/>
        </p:spPr>
        <p:txBody>
          <a:bodyPr wrap="square">
            <a:spAutoFit/>
          </a:bodyPr>
          <a:lstStyle/>
          <a:p>
            <a:pPr algn="l"/>
            <a:r>
              <a:rPr sz="1100" b="0" i="0">
                <a:solidFill>
                  <a:srgbClr val="6D28D9"/>
                </a:solidFill>
                <a:latin typeface="游ゴシック"/>
                <a:ea typeface="游ゴシック"/>
              </a:rPr>
              <a:t>スコア 1.8pt</a:t>
            </a:r>
          </a:p>
        </p:txBody>
      </p:sp>
      <p:sp>
        <p:nvSpPr>
          <p:cNvPr id="59" name="TextBox 58"/>
          <p:cNvSpPr txBox="1"/>
          <p:nvPr/>
        </p:nvSpPr>
        <p:spPr>
          <a:xfrm>
            <a:off x="8659367" y="2834640"/>
            <a:ext cx="3712463" cy="228600"/>
          </a:xfrm>
          <a:prstGeom prst="rect">
            <a:avLst/>
          </a:prstGeom>
          <a:noFill/>
        </p:spPr>
        <p:txBody>
          <a:bodyPr wrap="square">
            <a:spAutoFit/>
          </a:bodyPr>
          <a:lstStyle/>
          <a:p>
            <a:pPr algn="l"/>
            <a:r>
              <a:rPr sz="900" b="0" i="1">
                <a:solidFill>
                  <a:srgbClr val="FFC8DC"/>
                </a:solidFill>
                <a:latin typeface="游ゴシック"/>
                <a:ea typeface="游ゴシック"/>
              </a:rPr>
              <a:t>前走：フェアリG3</a:t>
            </a:r>
          </a:p>
        </p:txBody>
      </p:sp>
      <p:sp>
        <p:nvSpPr>
          <p:cNvPr id="60" name="Rounded Rectangle 59"/>
          <p:cNvSpPr/>
          <p:nvPr/>
        </p:nvSpPr>
        <p:spPr>
          <a:xfrm>
            <a:off x="8549640" y="3172968"/>
            <a:ext cx="3931920" cy="14630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549640" y="3172968"/>
            <a:ext cx="3931920" cy="402336"/>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641080" y="3209544"/>
            <a:ext cx="1828800" cy="347472"/>
          </a:xfrm>
          <a:prstGeom prst="rect">
            <a:avLst/>
          </a:prstGeom>
          <a:noFill/>
        </p:spPr>
        <p:txBody>
          <a:bodyPr wrap="square">
            <a:spAutoFit/>
          </a:bodyPr>
          <a:lstStyle/>
          <a:p>
            <a:pPr algn="l"/>
            <a:r>
              <a:rPr sz="1200" b="1" i="0">
                <a:solidFill>
                  <a:srgbClr val="1A0814"/>
                </a:solidFill>
                <a:latin typeface="游ゴシック"/>
                <a:ea typeface="游ゴシック"/>
              </a:rPr>
              <a:t>🥈 2位</a:t>
            </a:r>
          </a:p>
        </p:txBody>
      </p:sp>
      <p:sp>
        <p:nvSpPr>
          <p:cNvPr id="63" name="TextBox 62"/>
          <p:cNvSpPr txBox="1"/>
          <p:nvPr/>
        </p:nvSpPr>
        <p:spPr>
          <a:xfrm>
            <a:off x="11384280" y="3209544"/>
            <a:ext cx="1005840" cy="347472"/>
          </a:xfrm>
          <a:prstGeom prst="rect">
            <a:avLst/>
          </a:prstGeom>
          <a:noFill/>
        </p:spPr>
        <p:txBody>
          <a:bodyPr wrap="square">
            <a:spAutoFit/>
          </a:bodyPr>
          <a:lstStyle/>
          <a:p>
            <a:pPr algn="r"/>
            <a:r>
              <a:rPr sz="1300" b="1" i="0">
                <a:solidFill>
                  <a:srgbClr val="1A0814"/>
                </a:solidFill>
                <a:latin typeface="游ゴシック"/>
                <a:ea typeface="游ゴシック"/>
              </a:rPr>
              <a:t>5.9倍</a:t>
            </a:r>
          </a:p>
        </p:txBody>
      </p:sp>
      <p:sp>
        <p:nvSpPr>
          <p:cNvPr id="64" name="TextBox 63"/>
          <p:cNvSpPr txBox="1"/>
          <p:nvPr/>
        </p:nvSpPr>
        <p:spPr>
          <a:xfrm>
            <a:off x="8659367" y="3648456"/>
            <a:ext cx="3712463" cy="438912"/>
          </a:xfrm>
          <a:prstGeom prst="rect">
            <a:avLst/>
          </a:prstGeom>
          <a:noFill/>
        </p:spPr>
        <p:txBody>
          <a:bodyPr wrap="square">
            <a:spAutoFit/>
          </a:bodyPr>
          <a:lstStyle/>
          <a:p>
            <a:pPr algn="l"/>
            <a:r>
              <a:rPr sz="1700" b="1" i="0">
                <a:solidFill>
                  <a:srgbClr val="FFFFFF"/>
                </a:solidFill>
                <a:latin typeface="游明朝"/>
                <a:ea typeface="游明朝"/>
              </a:rPr>
              <a:t>アランカール</a:t>
            </a:r>
          </a:p>
        </p:txBody>
      </p:sp>
      <p:sp>
        <p:nvSpPr>
          <p:cNvPr id="65" name="TextBox 64"/>
          <p:cNvSpPr txBox="1"/>
          <p:nvPr/>
        </p:nvSpPr>
        <p:spPr>
          <a:xfrm>
            <a:off x="8659367" y="4160520"/>
            <a:ext cx="3712463" cy="274320"/>
          </a:xfrm>
          <a:prstGeom prst="rect">
            <a:avLst/>
          </a:prstGeom>
          <a:noFill/>
        </p:spPr>
        <p:txBody>
          <a:bodyPr wrap="square">
            <a:spAutoFit/>
          </a:bodyPr>
          <a:lstStyle/>
          <a:p>
            <a:pPr algn="l"/>
            <a:r>
              <a:rPr sz="1100" b="0" i="0">
                <a:solidFill>
                  <a:srgbClr val="6D28D9"/>
                </a:solidFill>
                <a:latin typeface="游ゴシック"/>
                <a:ea typeface="游ゴシック"/>
              </a:rPr>
              <a:t>スコア 1.7pt</a:t>
            </a:r>
          </a:p>
        </p:txBody>
      </p:sp>
      <p:sp>
        <p:nvSpPr>
          <p:cNvPr id="66" name="TextBox 65"/>
          <p:cNvSpPr txBox="1"/>
          <p:nvPr/>
        </p:nvSpPr>
        <p:spPr>
          <a:xfrm>
            <a:off x="8659367" y="4407408"/>
            <a:ext cx="3712463" cy="228600"/>
          </a:xfrm>
          <a:prstGeom prst="rect">
            <a:avLst/>
          </a:prstGeom>
          <a:noFill/>
        </p:spPr>
        <p:txBody>
          <a:bodyPr wrap="square">
            <a:spAutoFit/>
          </a:bodyPr>
          <a:lstStyle/>
          <a:p>
            <a:pPr algn="l"/>
            <a:r>
              <a:rPr sz="900" b="0" i="1">
                <a:solidFill>
                  <a:srgbClr val="FFC8DC"/>
                </a:solidFill>
                <a:latin typeface="游ゴシック"/>
                <a:ea typeface="游ゴシック"/>
              </a:rPr>
              <a:t>前走：チューリG2</a:t>
            </a:r>
          </a:p>
        </p:txBody>
      </p:sp>
      <p:sp>
        <p:nvSpPr>
          <p:cNvPr id="67" name="Rounded Rectangle 66"/>
          <p:cNvSpPr/>
          <p:nvPr/>
        </p:nvSpPr>
        <p:spPr>
          <a:xfrm>
            <a:off x="8549640" y="4745736"/>
            <a:ext cx="3931920" cy="14630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549640" y="4745736"/>
            <a:ext cx="3931920" cy="402336"/>
          </a:xfrm>
          <a:prstGeom prst="rect">
            <a:avLst/>
          </a:prstGeom>
          <a:solidFill>
            <a:srgbClr val="B45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641080" y="4782312"/>
            <a:ext cx="1828800" cy="347472"/>
          </a:xfrm>
          <a:prstGeom prst="rect">
            <a:avLst/>
          </a:prstGeom>
          <a:noFill/>
        </p:spPr>
        <p:txBody>
          <a:bodyPr wrap="square">
            <a:spAutoFit/>
          </a:bodyPr>
          <a:lstStyle/>
          <a:p>
            <a:pPr algn="l"/>
            <a:r>
              <a:rPr sz="1200" b="1" i="0">
                <a:solidFill>
                  <a:srgbClr val="1A0814"/>
                </a:solidFill>
                <a:latin typeface="游ゴシック"/>
                <a:ea typeface="游ゴシック"/>
              </a:rPr>
              <a:t>🥉 3位</a:t>
            </a:r>
          </a:p>
        </p:txBody>
      </p:sp>
      <p:sp>
        <p:nvSpPr>
          <p:cNvPr id="70" name="TextBox 69"/>
          <p:cNvSpPr txBox="1"/>
          <p:nvPr/>
        </p:nvSpPr>
        <p:spPr>
          <a:xfrm>
            <a:off x="11384280" y="4782312"/>
            <a:ext cx="1005840" cy="347472"/>
          </a:xfrm>
          <a:prstGeom prst="rect">
            <a:avLst/>
          </a:prstGeom>
          <a:noFill/>
        </p:spPr>
        <p:txBody>
          <a:bodyPr wrap="square">
            <a:spAutoFit/>
          </a:bodyPr>
          <a:lstStyle/>
          <a:p>
            <a:pPr algn="r"/>
            <a:r>
              <a:rPr sz="1300" b="1" i="0">
                <a:solidFill>
                  <a:srgbClr val="1A0814"/>
                </a:solidFill>
                <a:latin typeface="游ゴシック"/>
                <a:ea typeface="游ゴシック"/>
              </a:rPr>
              <a:t>18.6倍</a:t>
            </a:r>
          </a:p>
        </p:txBody>
      </p:sp>
      <p:sp>
        <p:nvSpPr>
          <p:cNvPr id="71" name="TextBox 70"/>
          <p:cNvSpPr txBox="1"/>
          <p:nvPr/>
        </p:nvSpPr>
        <p:spPr>
          <a:xfrm>
            <a:off x="8659367" y="5221223"/>
            <a:ext cx="3712463" cy="438912"/>
          </a:xfrm>
          <a:prstGeom prst="rect">
            <a:avLst/>
          </a:prstGeom>
          <a:noFill/>
        </p:spPr>
        <p:txBody>
          <a:bodyPr wrap="square">
            <a:spAutoFit/>
          </a:bodyPr>
          <a:lstStyle/>
          <a:p>
            <a:pPr algn="l"/>
            <a:r>
              <a:rPr sz="1700" b="1" i="0">
                <a:solidFill>
                  <a:srgbClr val="FFFFFF"/>
                </a:solidFill>
                <a:latin typeface="游明朝"/>
                <a:ea typeface="游明朝"/>
              </a:rPr>
              <a:t>ディアダイヤモンド</a:t>
            </a:r>
          </a:p>
        </p:txBody>
      </p:sp>
      <p:sp>
        <p:nvSpPr>
          <p:cNvPr id="72" name="TextBox 71"/>
          <p:cNvSpPr txBox="1"/>
          <p:nvPr/>
        </p:nvSpPr>
        <p:spPr>
          <a:xfrm>
            <a:off x="8659367" y="5733288"/>
            <a:ext cx="3712463" cy="274320"/>
          </a:xfrm>
          <a:prstGeom prst="rect">
            <a:avLst/>
          </a:prstGeom>
          <a:noFill/>
        </p:spPr>
        <p:txBody>
          <a:bodyPr wrap="square">
            <a:spAutoFit/>
          </a:bodyPr>
          <a:lstStyle/>
          <a:p>
            <a:pPr algn="l"/>
            <a:r>
              <a:rPr sz="1100" b="0" i="0">
                <a:solidFill>
                  <a:srgbClr val="6D28D9"/>
                </a:solidFill>
                <a:latin typeface="游ゴシック"/>
                <a:ea typeface="游ゴシック"/>
              </a:rPr>
              <a:t>スコア 1.5pt</a:t>
            </a:r>
          </a:p>
        </p:txBody>
      </p:sp>
      <p:sp>
        <p:nvSpPr>
          <p:cNvPr id="73" name="TextBox 72"/>
          <p:cNvSpPr txBox="1"/>
          <p:nvPr/>
        </p:nvSpPr>
        <p:spPr>
          <a:xfrm>
            <a:off x="8659367" y="5980175"/>
            <a:ext cx="3712463" cy="228600"/>
          </a:xfrm>
          <a:prstGeom prst="rect">
            <a:avLst/>
          </a:prstGeom>
          <a:noFill/>
        </p:spPr>
        <p:txBody>
          <a:bodyPr wrap="square">
            <a:spAutoFit/>
          </a:bodyPr>
          <a:lstStyle/>
          <a:p>
            <a:pPr algn="l"/>
            <a:r>
              <a:rPr sz="900" b="0" i="1">
                <a:solidFill>
                  <a:srgbClr val="FFC8DC"/>
                </a:solidFill>
                <a:latin typeface="游ゴシック"/>
                <a:ea typeface="游ゴシック"/>
              </a:rPr>
              <a:t>前走：アネモネ(L)</a:t>
            </a:r>
          </a:p>
        </p:txBody>
      </p:sp>
      <p:sp>
        <p:nvSpPr>
          <p:cNvPr id="74" name="Rectangle 73"/>
          <p:cNvSpPr/>
          <p:nvPr/>
        </p:nvSpPr>
        <p:spPr>
          <a:xfrm>
            <a:off x="0" y="6446520"/>
            <a:ext cx="12188952" cy="411480"/>
          </a:xfrm>
          <a:prstGeom prst="rect">
            <a:avLst/>
          </a:prstGeom>
          <a:solidFill>
            <a:srgbClr val="7B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74320" y="6492240"/>
            <a:ext cx="11612880" cy="320040"/>
          </a:xfrm>
          <a:prstGeom prst="rect">
            <a:avLst/>
          </a:prstGeom>
          <a:noFill/>
        </p:spPr>
        <p:txBody>
          <a:bodyPr wrap="square">
            <a:spAutoFit/>
          </a:bodyPr>
          <a:lstStyle/>
          <a:p>
            <a:pPr algn="l"/>
            <a:r>
              <a:rPr sz="1000" b="0" i="0">
                <a:solidFill>
                  <a:srgbClr val="FFB4D2"/>
                </a:solidFill>
                <a:latin typeface="游ゴシック"/>
                <a:ea typeface="游ゴシック"/>
              </a:rPr>
              <a:t>UG競馬 競馬予想チャンネル  ／  桜花賞解析レポート 2026  ———  3/9</a:t>
            </a:r>
          </a:p>
        </p:txBody>
      </p:sp>
      <p:sp>
        <p:nvSpPr>
          <p:cNvPr id="76" name="TextBox 75"/>
          <p:cNvSpPr txBox="1"/>
          <p:nvPr/>
        </p:nvSpPr>
        <p:spPr>
          <a:xfrm>
            <a:off x="9875520" y="6473952"/>
            <a:ext cx="2103120" cy="347472"/>
          </a:xfrm>
          <a:prstGeom prst="rect">
            <a:avLst/>
          </a:prstGeom>
          <a:noFill/>
        </p:spPr>
        <p:txBody>
          <a:bodyPr wrap="square">
            <a:spAutoFit/>
          </a:bodyPr>
          <a:lstStyle/>
          <a:p>
            <a:pPr algn="r"/>
            <a:r>
              <a:rPr sz="1200" b="1" i="0">
                <a:solidFill>
                  <a:srgbClr val="FCD34D"/>
                </a:solidFill>
                <a:latin typeface="游ゴシック"/>
                <a:ea typeface="游ゴシック"/>
              </a:rPr>
              <a:t>無料公開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081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01168"/>
            <a:ext cx="7315200" cy="548640"/>
          </a:xfrm>
          <a:prstGeom prst="rect">
            <a:avLst/>
          </a:prstGeom>
          <a:noFill/>
        </p:spPr>
        <p:txBody>
          <a:bodyPr wrap="square">
            <a:spAutoFit/>
          </a:bodyPr>
          <a:lstStyle/>
          <a:p>
            <a:pPr algn="l"/>
            <a:r>
              <a:rPr sz="3200" b="1" i="0">
                <a:solidFill>
                  <a:srgbClr val="FFFFFF"/>
                </a:solidFill>
                <a:latin typeface="游明朝"/>
                <a:ea typeface="游明朝"/>
              </a:rPr>
              <a:t>全頭スコア一覧</a:t>
            </a:r>
          </a:p>
        </p:txBody>
      </p:sp>
      <p:sp>
        <p:nvSpPr>
          <p:cNvPr id="4" name="Rectangle 3"/>
          <p:cNvSpPr/>
          <p:nvPr/>
        </p:nvSpPr>
        <p:spPr>
          <a:xfrm>
            <a:off x="320040" y="822960"/>
            <a:ext cx="11430000" cy="36576"/>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932688"/>
            <a:ext cx="11430000" cy="384048"/>
          </a:xfrm>
          <a:prstGeom prst="rect">
            <a:avLst/>
          </a:prstGeom>
          <a:solidFill>
            <a:srgbClr val="7B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59" y="978408"/>
            <a:ext cx="2468879" cy="320040"/>
          </a:xfrm>
          <a:prstGeom prst="rect">
            <a:avLst/>
          </a:prstGeom>
          <a:noFill/>
        </p:spPr>
        <p:txBody>
          <a:bodyPr wrap="square">
            <a:spAutoFit/>
          </a:bodyPr>
          <a:lstStyle/>
          <a:p>
            <a:pPr algn="ctr"/>
            <a:r>
              <a:rPr sz="1000" b="1" i="0">
                <a:solidFill>
                  <a:srgbClr val="FCD34D"/>
                </a:solidFill>
                <a:latin typeface="游ゴシック"/>
                <a:ea typeface="游ゴシック"/>
              </a:rPr>
              <a:t>馬　名</a:t>
            </a:r>
          </a:p>
        </p:txBody>
      </p:sp>
      <p:sp>
        <p:nvSpPr>
          <p:cNvPr id="7" name="TextBox 6"/>
          <p:cNvSpPr txBox="1"/>
          <p:nvPr/>
        </p:nvSpPr>
        <p:spPr>
          <a:xfrm>
            <a:off x="2926079" y="978408"/>
            <a:ext cx="822960" cy="320040"/>
          </a:xfrm>
          <a:prstGeom prst="rect">
            <a:avLst/>
          </a:prstGeom>
          <a:noFill/>
        </p:spPr>
        <p:txBody>
          <a:bodyPr wrap="square">
            <a:spAutoFit/>
          </a:bodyPr>
          <a:lstStyle/>
          <a:p>
            <a:pPr algn="ctr"/>
            <a:r>
              <a:rPr sz="1000" b="1" i="0">
                <a:solidFill>
                  <a:srgbClr val="FCD34D"/>
                </a:solidFill>
                <a:latin typeface="游ゴシック"/>
                <a:ea typeface="游ゴシック"/>
              </a:rPr>
              <a:t>単勝%</a:t>
            </a:r>
          </a:p>
        </p:txBody>
      </p:sp>
      <p:sp>
        <p:nvSpPr>
          <p:cNvPr id="8" name="TextBox 7"/>
          <p:cNvSpPr txBox="1"/>
          <p:nvPr/>
        </p:nvSpPr>
        <p:spPr>
          <a:xfrm>
            <a:off x="3840480" y="978408"/>
            <a:ext cx="822960" cy="320040"/>
          </a:xfrm>
          <a:prstGeom prst="rect">
            <a:avLst/>
          </a:prstGeom>
          <a:noFill/>
        </p:spPr>
        <p:txBody>
          <a:bodyPr wrap="square">
            <a:spAutoFit/>
          </a:bodyPr>
          <a:lstStyle/>
          <a:p>
            <a:pPr algn="ctr"/>
            <a:r>
              <a:rPr sz="1000" b="1" i="0">
                <a:solidFill>
                  <a:srgbClr val="FCD34D"/>
                </a:solidFill>
                <a:latin typeface="游ゴシック"/>
                <a:ea typeface="游ゴシック"/>
              </a:rPr>
              <a:t>複勝%</a:t>
            </a:r>
          </a:p>
        </p:txBody>
      </p:sp>
      <p:sp>
        <p:nvSpPr>
          <p:cNvPr id="9" name="TextBox 8"/>
          <p:cNvSpPr txBox="1"/>
          <p:nvPr/>
        </p:nvSpPr>
        <p:spPr>
          <a:xfrm>
            <a:off x="4754880" y="978408"/>
            <a:ext cx="822960" cy="320040"/>
          </a:xfrm>
          <a:prstGeom prst="rect">
            <a:avLst/>
          </a:prstGeom>
          <a:noFill/>
        </p:spPr>
        <p:txBody>
          <a:bodyPr wrap="square">
            <a:spAutoFit/>
          </a:bodyPr>
          <a:lstStyle/>
          <a:p>
            <a:pPr algn="ctr"/>
            <a:r>
              <a:rPr sz="1000" b="1" i="0">
                <a:solidFill>
                  <a:srgbClr val="FCD34D"/>
                </a:solidFill>
                <a:latin typeface="游ゴシック"/>
                <a:ea typeface="游ゴシック"/>
              </a:rPr>
              <a:t>穴スコ</a:t>
            </a:r>
          </a:p>
        </p:txBody>
      </p:sp>
      <p:sp>
        <p:nvSpPr>
          <p:cNvPr id="10" name="TextBox 9"/>
          <p:cNvSpPr txBox="1"/>
          <p:nvPr/>
        </p:nvSpPr>
        <p:spPr>
          <a:xfrm>
            <a:off x="5669280" y="978408"/>
            <a:ext cx="822960" cy="320040"/>
          </a:xfrm>
          <a:prstGeom prst="rect">
            <a:avLst/>
          </a:prstGeom>
          <a:noFill/>
        </p:spPr>
        <p:txBody>
          <a:bodyPr wrap="square">
            <a:spAutoFit/>
          </a:bodyPr>
          <a:lstStyle/>
          <a:p>
            <a:pPr algn="ctr"/>
            <a:r>
              <a:rPr sz="1000" b="1" i="0">
                <a:solidFill>
                  <a:srgbClr val="FCD34D"/>
                </a:solidFill>
                <a:latin typeface="游ゴシック"/>
                <a:ea typeface="游ゴシック"/>
              </a:rPr>
              <a:t>オッズ</a:t>
            </a:r>
          </a:p>
        </p:txBody>
      </p:sp>
      <p:sp>
        <p:nvSpPr>
          <p:cNvPr id="11" name="TextBox 10"/>
          <p:cNvSpPr txBox="1"/>
          <p:nvPr/>
        </p:nvSpPr>
        <p:spPr>
          <a:xfrm>
            <a:off x="6583680" y="978408"/>
            <a:ext cx="1051560" cy="320040"/>
          </a:xfrm>
          <a:prstGeom prst="rect">
            <a:avLst/>
          </a:prstGeom>
          <a:noFill/>
        </p:spPr>
        <p:txBody>
          <a:bodyPr wrap="square">
            <a:spAutoFit/>
          </a:bodyPr>
          <a:lstStyle/>
          <a:p>
            <a:pPr algn="ctr"/>
            <a:r>
              <a:rPr sz="1000" b="1" i="0">
                <a:solidFill>
                  <a:srgbClr val="FCD34D"/>
                </a:solidFill>
                <a:latin typeface="游ゴシック"/>
                <a:ea typeface="游ゴシック"/>
              </a:rPr>
              <a:t>想定人気</a:t>
            </a:r>
          </a:p>
        </p:txBody>
      </p:sp>
      <p:sp>
        <p:nvSpPr>
          <p:cNvPr id="12" name="Rectangle 11"/>
          <p:cNvSpPr/>
          <p:nvPr/>
        </p:nvSpPr>
        <p:spPr>
          <a:xfrm>
            <a:off x="320040" y="1335024"/>
            <a:ext cx="5394960" cy="365759"/>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1335024"/>
            <a:ext cx="54864" cy="365759"/>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389888"/>
            <a:ext cx="2286000" cy="292608"/>
          </a:xfrm>
          <a:prstGeom prst="rect">
            <a:avLst/>
          </a:prstGeom>
          <a:noFill/>
        </p:spPr>
        <p:txBody>
          <a:bodyPr wrap="square">
            <a:spAutoFit/>
          </a:bodyPr>
          <a:lstStyle/>
          <a:p>
            <a:pPr algn="l"/>
            <a:r>
              <a:rPr sz="1000" b="1" i="0">
                <a:solidFill>
                  <a:srgbClr val="FCD34D"/>
                </a:solidFill>
                <a:latin typeface="游ゴシック"/>
                <a:ea typeface="游ゴシック"/>
              </a:rPr>
              <a:t># 1 スターアニス</a:t>
            </a:r>
          </a:p>
        </p:txBody>
      </p:sp>
      <p:sp>
        <p:nvSpPr>
          <p:cNvPr id="15" name="TextBox 14"/>
          <p:cNvSpPr txBox="1"/>
          <p:nvPr/>
        </p:nvSpPr>
        <p:spPr>
          <a:xfrm>
            <a:off x="2743200" y="1389888"/>
            <a:ext cx="804672" cy="292608"/>
          </a:xfrm>
          <a:prstGeom prst="rect">
            <a:avLst/>
          </a:prstGeom>
          <a:noFill/>
        </p:spPr>
        <p:txBody>
          <a:bodyPr wrap="square">
            <a:spAutoFit/>
          </a:bodyPr>
          <a:lstStyle/>
          <a:p>
            <a:pPr algn="ctr"/>
            <a:r>
              <a:rPr sz="900" b="1" i="0">
                <a:solidFill>
                  <a:srgbClr val="FCD34D"/>
                </a:solidFill>
                <a:latin typeface="游ゴシック"/>
                <a:ea typeface="游ゴシック"/>
              </a:rPr>
              <a:t>61.8%</a:t>
            </a:r>
          </a:p>
        </p:txBody>
      </p:sp>
      <p:sp>
        <p:nvSpPr>
          <p:cNvPr id="16" name="TextBox 15"/>
          <p:cNvSpPr txBox="1"/>
          <p:nvPr/>
        </p:nvSpPr>
        <p:spPr>
          <a:xfrm>
            <a:off x="3566160" y="1389888"/>
            <a:ext cx="804672" cy="292608"/>
          </a:xfrm>
          <a:prstGeom prst="rect">
            <a:avLst/>
          </a:prstGeom>
          <a:noFill/>
        </p:spPr>
        <p:txBody>
          <a:bodyPr wrap="square">
            <a:spAutoFit/>
          </a:bodyPr>
          <a:lstStyle/>
          <a:p>
            <a:pPr algn="ctr"/>
            <a:r>
              <a:rPr sz="900" b="0" i="0">
                <a:solidFill>
                  <a:srgbClr val="10B981"/>
                </a:solidFill>
                <a:latin typeface="游ゴシック"/>
                <a:ea typeface="游ゴシック"/>
              </a:rPr>
              <a:t>62.3%</a:t>
            </a:r>
          </a:p>
        </p:txBody>
      </p:sp>
      <p:sp>
        <p:nvSpPr>
          <p:cNvPr id="17" name="TextBox 16"/>
          <p:cNvSpPr txBox="1"/>
          <p:nvPr/>
        </p:nvSpPr>
        <p:spPr>
          <a:xfrm>
            <a:off x="4389120" y="1389888"/>
            <a:ext cx="804672" cy="292608"/>
          </a:xfrm>
          <a:prstGeom prst="rect">
            <a:avLst/>
          </a:prstGeom>
          <a:noFill/>
        </p:spPr>
        <p:txBody>
          <a:bodyPr wrap="square">
            <a:spAutoFit/>
          </a:bodyPr>
          <a:lstStyle/>
          <a:p>
            <a:pPr algn="ctr"/>
            <a:r>
              <a:rPr sz="900" b="0" i="0">
                <a:solidFill>
                  <a:srgbClr val="6D28D9"/>
                </a:solidFill>
                <a:latin typeface="游ゴシック"/>
                <a:ea typeface="游ゴシック"/>
              </a:rPr>
              <a:t>0.95</a:t>
            </a:r>
          </a:p>
        </p:txBody>
      </p:sp>
      <p:sp>
        <p:nvSpPr>
          <p:cNvPr id="18" name="TextBox 17"/>
          <p:cNvSpPr txBox="1"/>
          <p:nvPr/>
        </p:nvSpPr>
        <p:spPr>
          <a:xfrm>
            <a:off x="5212080" y="1389888"/>
            <a:ext cx="804672" cy="292608"/>
          </a:xfrm>
          <a:prstGeom prst="rect">
            <a:avLst/>
          </a:prstGeom>
          <a:noFill/>
        </p:spPr>
        <p:txBody>
          <a:bodyPr wrap="square">
            <a:spAutoFit/>
          </a:bodyPr>
          <a:lstStyle/>
          <a:p>
            <a:pPr algn="ctr"/>
            <a:r>
              <a:rPr sz="900" b="0" i="0">
                <a:solidFill>
                  <a:srgbClr val="FFFFFF"/>
                </a:solidFill>
                <a:latin typeface="游ゴシック"/>
                <a:ea typeface="游ゴシック"/>
              </a:rPr>
              <a:t>4.2倍</a:t>
            </a:r>
          </a:p>
        </p:txBody>
      </p:sp>
      <p:sp>
        <p:nvSpPr>
          <p:cNvPr id="19" name="TextBox 18"/>
          <p:cNvSpPr txBox="1"/>
          <p:nvPr/>
        </p:nvSpPr>
        <p:spPr>
          <a:xfrm>
            <a:off x="6035040" y="1389888"/>
            <a:ext cx="804672" cy="292608"/>
          </a:xfrm>
          <a:prstGeom prst="rect">
            <a:avLst/>
          </a:prstGeom>
          <a:noFill/>
        </p:spPr>
        <p:txBody>
          <a:bodyPr wrap="square">
            <a:spAutoFit/>
          </a:bodyPr>
          <a:lstStyle/>
          <a:p>
            <a:pPr algn="ctr"/>
            <a:r>
              <a:rPr sz="900" b="0" i="0">
                <a:solidFill>
                  <a:srgbClr val="FFC8DC"/>
                </a:solidFill>
                <a:latin typeface="游ゴシック"/>
                <a:ea typeface="游ゴシック"/>
              </a:rPr>
              <a:t>4.2→</a:t>
            </a:r>
          </a:p>
        </p:txBody>
      </p:sp>
      <p:sp>
        <p:nvSpPr>
          <p:cNvPr id="20" name="Rectangle 19"/>
          <p:cNvSpPr/>
          <p:nvPr/>
        </p:nvSpPr>
        <p:spPr>
          <a:xfrm>
            <a:off x="320040" y="1719072"/>
            <a:ext cx="5394960" cy="365759"/>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1719072"/>
            <a:ext cx="54864" cy="365759"/>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79" y="1773936"/>
            <a:ext cx="2286000" cy="292608"/>
          </a:xfrm>
          <a:prstGeom prst="rect">
            <a:avLst/>
          </a:prstGeom>
          <a:noFill/>
        </p:spPr>
        <p:txBody>
          <a:bodyPr wrap="square">
            <a:spAutoFit/>
          </a:bodyPr>
          <a:lstStyle/>
          <a:p>
            <a:pPr algn="l"/>
            <a:r>
              <a:rPr sz="1000" b="0" i="0">
                <a:solidFill>
                  <a:srgbClr val="FFFFFF"/>
                </a:solidFill>
                <a:latin typeface="游ゴシック"/>
                <a:ea typeface="游ゴシック"/>
              </a:rPr>
              <a:t># 2 アランカール</a:t>
            </a:r>
          </a:p>
        </p:txBody>
      </p:sp>
      <p:sp>
        <p:nvSpPr>
          <p:cNvPr id="23" name="TextBox 22"/>
          <p:cNvSpPr txBox="1"/>
          <p:nvPr/>
        </p:nvSpPr>
        <p:spPr>
          <a:xfrm>
            <a:off x="2743200" y="1773936"/>
            <a:ext cx="804672" cy="292608"/>
          </a:xfrm>
          <a:prstGeom prst="rect">
            <a:avLst/>
          </a:prstGeom>
          <a:noFill/>
        </p:spPr>
        <p:txBody>
          <a:bodyPr wrap="square">
            <a:spAutoFit/>
          </a:bodyPr>
          <a:lstStyle/>
          <a:p>
            <a:pPr algn="ctr"/>
            <a:r>
              <a:rPr sz="900" b="0" i="0">
                <a:solidFill>
                  <a:srgbClr val="FCD34D"/>
                </a:solidFill>
                <a:latin typeface="游ゴシック"/>
                <a:ea typeface="游ゴシック"/>
              </a:rPr>
              <a:t>52.5%</a:t>
            </a:r>
          </a:p>
        </p:txBody>
      </p:sp>
      <p:sp>
        <p:nvSpPr>
          <p:cNvPr id="24" name="TextBox 23"/>
          <p:cNvSpPr txBox="1"/>
          <p:nvPr/>
        </p:nvSpPr>
        <p:spPr>
          <a:xfrm>
            <a:off x="3566160" y="1773936"/>
            <a:ext cx="804672" cy="292608"/>
          </a:xfrm>
          <a:prstGeom prst="rect">
            <a:avLst/>
          </a:prstGeom>
          <a:noFill/>
        </p:spPr>
        <p:txBody>
          <a:bodyPr wrap="square">
            <a:spAutoFit/>
          </a:bodyPr>
          <a:lstStyle/>
          <a:p>
            <a:pPr algn="ctr"/>
            <a:r>
              <a:rPr sz="900" b="0" i="0">
                <a:solidFill>
                  <a:srgbClr val="10B981"/>
                </a:solidFill>
                <a:latin typeface="游ゴシック"/>
                <a:ea typeface="游ゴシック"/>
              </a:rPr>
              <a:t>62.3%</a:t>
            </a:r>
          </a:p>
        </p:txBody>
      </p:sp>
      <p:sp>
        <p:nvSpPr>
          <p:cNvPr id="25" name="TextBox 24"/>
          <p:cNvSpPr txBox="1"/>
          <p:nvPr/>
        </p:nvSpPr>
        <p:spPr>
          <a:xfrm>
            <a:off x="4389120" y="1773936"/>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1.69</a:t>
            </a:r>
          </a:p>
        </p:txBody>
      </p:sp>
      <p:sp>
        <p:nvSpPr>
          <p:cNvPr id="26" name="TextBox 25"/>
          <p:cNvSpPr txBox="1"/>
          <p:nvPr/>
        </p:nvSpPr>
        <p:spPr>
          <a:xfrm>
            <a:off x="5212080" y="1773936"/>
            <a:ext cx="804672" cy="292608"/>
          </a:xfrm>
          <a:prstGeom prst="rect">
            <a:avLst/>
          </a:prstGeom>
          <a:noFill/>
        </p:spPr>
        <p:txBody>
          <a:bodyPr wrap="square">
            <a:spAutoFit/>
          </a:bodyPr>
          <a:lstStyle/>
          <a:p>
            <a:pPr algn="ctr"/>
            <a:r>
              <a:rPr sz="900" b="0" i="0">
                <a:solidFill>
                  <a:srgbClr val="FFFFFF"/>
                </a:solidFill>
                <a:latin typeface="游ゴシック"/>
                <a:ea typeface="游ゴシック"/>
              </a:rPr>
              <a:t>5.9倍</a:t>
            </a:r>
          </a:p>
        </p:txBody>
      </p:sp>
      <p:sp>
        <p:nvSpPr>
          <p:cNvPr id="27" name="TextBox 26"/>
          <p:cNvSpPr txBox="1"/>
          <p:nvPr/>
        </p:nvSpPr>
        <p:spPr>
          <a:xfrm>
            <a:off x="6035040" y="1773936"/>
            <a:ext cx="804672" cy="292608"/>
          </a:xfrm>
          <a:prstGeom prst="rect">
            <a:avLst/>
          </a:prstGeom>
          <a:noFill/>
        </p:spPr>
        <p:txBody>
          <a:bodyPr wrap="square">
            <a:spAutoFit/>
          </a:bodyPr>
          <a:lstStyle/>
          <a:p>
            <a:pPr algn="ctr"/>
            <a:r>
              <a:rPr sz="900" b="0" i="0">
                <a:solidFill>
                  <a:srgbClr val="FFC8DC"/>
                </a:solidFill>
                <a:latin typeface="游ゴシック"/>
                <a:ea typeface="游ゴシック"/>
              </a:rPr>
              <a:t>5.9→</a:t>
            </a:r>
          </a:p>
        </p:txBody>
      </p:sp>
      <p:sp>
        <p:nvSpPr>
          <p:cNvPr id="28" name="Rectangle 27"/>
          <p:cNvSpPr/>
          <p:nvPr/>
        </p:nvSpPr>
        <p:spPr>
          <a:xfrm>
            <a:off x="320040" y="2103120"/>
            <a:ext cx="5394960" cy="365759"/>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2103120"/>
            <a:ext cx="54864" cy="365759"/>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79" y="2157984"/>
            <a:ext cx="2286000" cy="292608"/>
          </a:xfrm>
          <a:prstGeom prst="rect">
            <a:avLst/>
          </a:prstGeom>
          <a:noFill/>
        </p:spPr>
        <p:txBody>
          <a:bodyPr wrap="square">
            <a:spAutoFit/>
          </a:bodyPr>
          <a:lstStyle/>
          <a:p>
            <a:pPr algn="l"/>
            <a:r>
              <a:rPr sz="1000" b="0" i="0">
                <a:solidFill>
                  <a:srgbClr val="FFFFFF"/>
                </a:solidFill>
                <a:latin typeface="游ゴシック"/>
                <a:ea typeface="游ゴシック"/>
              </a:rPr>
              <a:t># 3 ドリームコア</a:t>
            </a:r>
          </a:p>
        </p:txBody>
      </p:sp>
      <p:sp>
        <p:nvSpPr>
          <p:cNvPr id="31" name="TextBox 30"/>
          <p:cNvSpPr txBox="1"/>
          <p:nvPr/>
        </p:nvSpPr>
        <p:spPr>
          <a:xfrm>
            <a:off x="2743200" y="2157984"/>
            <a:ext cx="804672" cy="292608"/>
          </a:xfrm>
          <a:prstGeom prst="rect">
            <a:avLst/>
          </a:prstGeom>
          <a:noFill/>
        </p:spPr>
        <p:txBody>
          <a:bodyPr wrap="square">
            <a:spAutoFit/>
          </a:bodyPr>
          <a:lstStyle/>
          <a:p>
            <a:pPr algn="ctr"/>
            <a:r>
              <a:rPr sz="900" b="0" i="0">
                <a:solidFill>
                  <a:srgbClr val="FCD34D"/>
                </a:solidFill>
                <a:latin typeface="游ゴシック"/>
                <a:ea typeface="游ゴシック"/>
              </a:rPr>
              <a:t>48.3%</a:t>
            </a:r>
          </a:p>
        </p:txBody>
      </p:sp>
      <p:sp>
        <p:nvSpPr>
          <p:cNvPr id="32" name="TextBox 31"/>
          <p:cNvSpPr txBox="1"/>
          <p:nvPr/>
        </p:nvSpPr>
        <p:spPr>
          <a:xfrm>
            <a:off x="3566160" y="2157984"/>
            <a:ext cx="804672" cy="292608"/>
          </a:xfrm>
          <a:prstGeom prst="rect">
            <a:avLst/>
          </a:prstGeom>
          <a:noFill/>
        </p:spPr>
        <p:txBody>
          <a:bodyPr wrap="square">
            <a:spAutoFit/>
          </a:bodyPr>
          <a:lstStyle/>
          <a:p>
            <a:pPr algn="ctr"/>
            <a:r>
              <a:rPr sz="900" b="0" i="0">
                <a:solidFill>
                  <a:srgbClr val="10B981"/>
                </a:solidFill>
                <a:latin typeface="游ゴシック"/>
                <a:ea typeface="游ゴシック"/>
              </a:rPr>
              <a:t>55.0%</a:t>
            </a:r>
          </a:p>
        </p:txBody>
      </p:sp>
      <p:sp>
        <p:nvSpPr>
          <p:cNvPr id="33" name="TextBox 32"/>
          <p:cNvSpPr txBox="1"/>
          <p:nvPr/>
        </p:nvSpPr>
        <p:spPr>
          <a:xfrm>
            <a:off x="4389120" y="2157984"/>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1.36</a:t>
            </a:r>
          </a:p>
        </p:txBody>
      </p:sp>
      <p:sp>
        <p:nvSpPr>
          <p:cNvPr id="34" name="TextBox 33"/>
          <p:cNvSpPr txBox="1"/>
          <p:nvPr/>
        </p:nvSpPr>
        <p:spPr>
          <a:xfrm>
            <a:off x="5212080" y="2157984"/>
            <a:ext cx="804672" cy="292608"/>
          </a:xfrm>
          <a:prstGeom prst="rect">
            <a:avLst/>
          </a:prstGeom>
          <a:noFill/>
        </p:spPr>
        <p:txBody>
          <a:bodyPr wrap="square">
            <a:spAutoFit/>
          </a:bodyPr>
          <a:lstStyle/>
          <a:p>
            <a:pPr algn="ctr"/>
            <a:r>
              <a:rPr sz="900" b="0" i="0">
                <a:solidFill>
                  <a:srgbClr val="FFFFFF"/>
                </a:solidFill>
                <a:latin typeface="游ゴシック"/>
                <a:ea typeface="游ゴシック"/>
              </a:rPr>
              <a:t>3.0倍</a:t>
            </a:r>
          </a:p>
        </p:txBody>
      </p:sp>
      <p:sp>
        <p:nvSpPr>
          <p:cNvPr id="35" name="TextBox 34"/>
          <p:cNvSpPr txBox="1"/>
          <p:nvPr/>
        </p:nvSpPr>
        <p:spPr>
          <a:xfrm>
            <a:off x="6035040" y="2157984"/>
            <a:ext cx="804672" cy="292608"/>
          </a:xfrm>
          <a:prstGeom prst="rect">
            <a:avLst/>
          </a:prstGeom>
          <a:noFill/>
        </p:spPr>
        <p:txBody>
          <a:bodyPr wrap="square">
            <a:spAutoFit/>
          </a:bodyPr>
          <a:lstStyle/>
          <a:p>
            <a:pPr algn="ctr"/>
            <a:r>
              <a:rPr sz="900" b="0" i="0">
                <a:solidFill>
                  <a:srgbClr val="FFC8DC"/>
                </a:solidFill>
                <a:latin typeface="游ゴシック"/>
                <a:ea typeface="游ゴシック"/>
              </a:rPr>
              <a:t>3.0→</a:t>
            </a:r>
          </a:p>
        </p:txBody>
      </p:sp>
      <p:sp>
        <p:nvSpPr>
          <p:cNvPr id="36" name="Rectangle 35"/>
          <p:cNvSpPr/>
          <p:nvPr/>
        </p:nvSpPr>
        <p:spPr>
          <a:xfrm>
            <a:off x="320040" y="2487168"/>
            <a:ext cx="5394960" cy="365759"/>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79" y="2542032"/>
            <a:ext cx="2286000" cy="292608"/>
          </a:xfrm>
          <a:prstGeom prst="rect">
            <a:avLst/>
          </a:prstGeom>
          <a:noFill/>
        </p:spPr>
        <p:txBody>
          <a:bodyPr wrap="square">
            <a:spAutoFit/>
          </a:bodyPr>
          <a:lstStyle/>
          <a:p>
            <a:pPr algn="l"/>
            <a:r>
              <a:rPr sz="1000" b="0" i="0">
                <a:solidFill>
                  <a:srgbClr val="FFC8DC"/>
                </a:solidFill>
                <a:latin typeface="游ゴシック"/>
                <a:ea typeface="游ゴシック"/>
              </a:rPr>
              <a:t># 4 サンアントワーヌ</a:t>
            </a:r>
          </a:p>
        </p:txBody>
      </p:sp>
      <p:sp>
        <p:nvSpPr>
          <p:cNvPr id="38" name="TextBox 37"/>
          <p:cNvSpPr txBox="1"/>
          <p:nvPr/>
        </p:nvSpPr>
        <p:spPr>
          <a:xfrm>
            <a:off x="2743200" y="2542032"/>
            <a:ext cx="804672" cy="292608"/>
          </a:xfrm>
          <a:prstGeom prst="rect">
            <a:avLst/>
          </a:prstGeom>
          <a:noFill/>
        </p:spPr>
        <p:txBody>
          <a:bodyPr wrap="square">
            <a:spAutoFit/>
          </a:bodyPr>
          <a:lstStyle/>
          <a:p>
            <a:pPr algn="ctr"/>
            <a:r>
              <a:rPr sz="900" b="0" i="0">
                <a:solidFill>
                  <a:srgbClr val="FCD34D"/>
                </a:solidFill>
                <a:latin typeface="游ゴシック"/>
                <a:ea typeface="游ゴシック"/>
              </a:rPr>
              <a:t>47.4%</a:t>
            </a:r>
          </a:p>
        </p:txBody>
      </p:sp>
      <p:sp>
        <p:nvSpPr>
          <p:cNvPr id="39" name="TextBox 38"/>
          <p:cNvSpPr txBox="1"/>
          <p:nvPr/>
        </p:nvSpPr>
        <p:spPr>
          <a:xfrm>
            <a:off x="3566160" y="2542032"/>
            <a:ext cx="804672" cy="292608"/>
          </a:xfrm>
          <a:prstGeom prst="rect">
            <a:avLst/>
          </a:prstGeom>
          <a:noFill/>
        </p:spPr>
        <p:txBody>
          <a:bodyPr wrap="square">
            <a:spAutoFit/>
          </a:bodyPr>
          <a:lstStyle/>
          <a:p>
            <a:pPr algn="ctr"/>
            <a:r>
              <a:rPr sz="900" b="0" i="0">
                <a:solidFill>
                  <a:srgbClr val="10B981"/>
                </a:solidFill>
                <a:latin typeface="游ゴシック"/>
                <a:ea typeface="游ゴシック"/>
              </a:rPr>
              <a:t>53.1%</a:t>
            </a:r>
          </a:p>
        </p:txBody>
      </p:sp>
      <p:sp>
        <p:nvSpPr>
          <p:cNvPr id="40" name="TextBox 39"/>
          <p:cNvSpPr txBox="1"/>
          <p:nvPr/>
        </p:nvSpPr>
        <p:spPr>
          <a:xfrm>
            <a:off x="4389120" y="2542032"/>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1.14</a:t>
            </a:r>
          </a:p>
        </p:txBody>
      </p:sp>
      <p:sp>
        <p:nvSpPr>
          <p:cNvPr id="41" name="TextBox 40"/>
          <p:cNvSpPr txBox="1"/>
          <p:nvPr/>
        </p:nvSpPr>
        <p:spPr>
          <a:xfrm>
            <a:off x="5212080" y="2542032"/>
            <a:ext cx="804672" cy="292608"/>
          </a:xfrm>
          <a:prstGeom prst="rect">
            <a:avLst/>
          </a:prstGeom>
          <a:noFill/>
        </p:spPr>
        <p:txBody>
          <a:bodyPr wrap="square">
            <a:spAutoFit/>
          </a:bodyPr>
          <a:lstStyle/>
          <a:p>
            <a:pPr algn="ctr"/>
            <a:r>
              <a:rPr sz="900" b="0" i="0">
                <a:solidFill>
                  <a:srgbClr val="FFFFFF"/>
                </a:solidFill>
                <a:latin typeface="游ゴシック"/>
                <a:ea typeface="游ゴシック"/>
              </a:rPr>
              <a:t>45.5倍</a:t>
            </a:r>
          </a:p>
        </p:txBody>
      </p:sp>
      <p:sp>
        <p:nvSpPr>
          <p:cNvPr id="42" name="TextBox 41"/>
          <p:cNvSpPr txBox="1"/>
          <p:nvPr/>
        </p:nvSpPr>
        <p:spPr>
          <a:xfrm>
            <a:off x="6035040" y="2542032"/>
            <a:ext cx="804672" cy="292608"/>
          </a:xfrm>
          <a:prstGeom prst="rect">
            <a:avLst/>
          </a:prstGeom>
          <a:noFill/>
        </p:spPr>
        <p:txBody>
          <a:bodyPr wrap="square">
            <a:spAutoFit/>
          </a:bodyPr>
          <a:lstStyle/>
          <a:p>
            <a:pPr algn="ctr"/>
            <a:r>
              <a:rPr sz="900" b="0" i="0">
                <a:solidFill>
                  <a:srgbClr val="FFC8DC"/>
                </a:solidFill>
                <a:latin typeface="游ゴシック"/>
                <a:ea typeface="游ゴシック"/>
              </a:rPr>
              <a:t>45.5→</a:t>
            </a:r>
          </a:p>
        </p:txBody>
      </p:sp>
      <p:sp>
        <p:nvSpPr>
          <p:cNvPr id="43" name="Rectangle 42"/>
          <p:cNvSpPr/>
          <p:nvPr/>
        </p:nvSpPr>
        <p:spPr>
          <a:xfrm>
            <a:off x="320040" y="2871215"/>
            <a:ext cx="5394960" cy="365759"/>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2926079"/>
            <a:ext cx="2286000" cy="292608"/>
          </a:xfrm>
          <a:prstGeom prst="rect">
            <a:avLst/>
          </a:prstGeom>
          <a:noFill/>
        </p:spPr>
        <p:txBody>
          <a:bodyPr wrap="square">
            <a:spAutoFit/>
          </a:bodyPr>
          <a:lstStyle/>
          <a:p>
            <a:pPr algn="l"/>
            <a:r>
              <a:rPr sz="1000" b="0" i="0">
                <a:solidFill>
                  <a:srgbClr val="FFC8DC"/>
                </a:solidFill>
                <a:latin typeface="游ゴシック"/>
                <a:ea typeface="游ゴシック"/>
              </a:rPr>
              <a:t># 5 ナムラコスモス</a:t>
            </a:r>
          </a:p>
        </p:txBody>
      </p:sp>
      <p:sp>
        <p:nvSpPr>
          <p:cNvPr id="45" name="TextBox 44"/>
          <p:cNvSpPr txBox="1"/>
          <p:nvPr/>
        </p:nvSpPr>
        <p:spPr>
          <a:xfrm>
            <a:off x="2743200" y="2926079"/>
            <a:ext cx="804672" cy="292608"/>
          </a:xfrm>
          <a:prstGeom prst="rect">
            <a:avLst/>
          </a:prstGeom>
          <a:noFill/>
        </p:spPr>
        <p:txBody>
          <a:bodyPr wrap="square">
            <a:spAutoFit/>
          </a:bodyPr>
          <a:lstStyle/>
          <a:p>
            <a:pPr algn="ctr"/>
            <a:r>
              <a:rPr sz="900" b="0" i="0">
                <a:solidFill>
                  <a:srgbClr val="FCD34D"/>
                </a:solidFill>
                <a:latin typeface="游ゴシック"/>
                <a:ea typeface="游ゴシック"/>
              </a:rPr>
              <a:t>43.6%</a:t>
            </a:r>
          </a:p>
        </p:txBody>
      </p:sp>
      <p:sp>
        <p:nvSpPr>
          <p:cNvPr id="46" name="TextBox 45"/>
          <p:cNvSpPr txBox="1"/>
          <p:nvPr/>
        </p:nvSpPr>
        <p:spPr>
          <a:xfrm>
            <a:off x="3566160" y="2926079"/>
            <a:ext cx="804672" cy="292608"/>
          </a:xfrm>
          <a:prstGeom prst="rect">
            <a:avLst/>
          </a:prstGeom>
          <a:noFill/>
        </p:spPr>
        <p:txBody>
          <a:bodyPr wrap="square">
            <a:spAutoFit/>
          </a:bodyPr>
          <a:lstStyle/>
          <a:p>
            <a:pPr algn="ctr"/>
            <a:r>
              <a:rPr sz="900" b="0" i="0">
                <a:solidFill>
                  <a:srgbClr val="10B981"/>
                </a:solidFill>
                <a:latin typeface="游ゴシック"/>
                <a:ea typeface="游ゴシック"/>
              </a:rPr>
              <a:t>58.3%</a:t>
            </a:r>
          </a:p>
        </p:txBody>
      </p:sp>
      <p:sp>
        <p:nvSpPr>
          <p:cNvPr id="47" name="TextBox 46"/>
          <p:cNvSpPr txBox="1"/>
          <p:nvPr/>
        </p:nvSpPr>
        <p:spPr>
          <a:xfrm>
            <a:off x="4389120" y="2926079"/>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1.45</a:t>
            </a:r>
          </a:p>
        </p:txBody>
      </p:sp>
      <p:sp>
        <p:nvSpPr>
          <p:cNvPr id="48" name="TextBox 47"/>
          <p:cNvSpPr txBox="1"/>
          <p:nvPr/>
        </p:nvSpPr>
        <p:spPr>
          <a:xfrm>
            <a:off x="5212080" y="2926079"/>
            <a:ext cx="804672" cy="292608"/>
          </a:xfrm>
          <a:prstGeom prst="rect">
            <a:avLst/>
          </a:prstGeom>
          <a:noFill/>
        </p:spPr>
        <p:txBody>
          <a:bodyPr wrap="square">
            <a:spAutoFit/>
          </a:bodyPr>
          <a:lstStyle/>
          <a:p>
            <a:pPr algn="ctr"/>
            <a:r>
              <a:rPr sz="900" b="0" i="0">
                <a:solidFill>
                  <a:srgbClr val="FFFFFF"/>
                </a:solidFill>
                <a:latin typeface="游ゴシック"/>
                <a:ea typeface="游ゴシック"/>
              </a:rPr>
              <a:t>27.0倍</a:t>
            </a:r>
          </a:p>
        </p:txBody>
      </p:sp>
      <p:sp>
        <p:nvSpPr>
          <p:cNvPr id="49" name="TextBox 48"/>
          <p:cNvSpPr txBox="1"/>
          <p:nvPr/>
        </p:nvSpPr>
        <p:spPr>
          <a:xfrm>
            <a:off x="6035040" y="2926079"/>
            <a:ext cx="804672" cy="292608"/>
          </a:xfrm>
          <a:prstGeom prst="rect">
            <a:avLst/>
          </a:prstGeom>
          <a:noFill/>
        </p:spPr>
        <p:txBody>
          <a:bodyPr wrap="square">
            <a:spAutoFit/>
          </a:bodyPr>
          <a:lstStyle/>
          <a:p>
            <a:pPr algn="ctr"/>
            <a:r>
              <a:rPr sz="900" b="0" i="0">
                <a:solidFill>
                  <a:srgbClr val="FFC8DC"/>
                </a:solidFill>
                <a:latin typeface="游ゴシック"/>
                <a:ea typeface="游ゴシック"/>
              </a:rPr>
              <a:t>27.0→</a:t>
            </a:r>
          </a:p>
        </p:txBody>
      </p:sp>
      <p:sp>
        <p:nvSpPr>
          <p:cNvPr id="50" name="Rectangle 49"/>
          <p:cNvSpPr/>
          <p:nvPr/>
        </p:nvSpPr>
        <p:spPr>
          <a:xfrm>
            <a:off x="320040" y="3255264"/>
            <a:ext cx="5394960" cy="365759"/>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1479" y="3310128"/>
            <a:ext cx="2286000" cy="292608"/>
          </a:xfrm>
          <a:prstGeom prst="rect">
            <a:avLst/>
          </a:prstGeom>
          <a:noFill/>
        </p:spPr>
        <p:txBody>
          <a:bodyPr wrap="square">
            <a:spAutoFit/>
          </a:bodyPr>
          <a:lstStyle/>
          <a:p>
            <a:pPr algn="l"/>
            <a:r>
              <a:rPr sz="1000" b="0" i="0">
                <a:solidFill>
                  <a:srgbClr val="FFC8DC"/>
                </a:solidFill>
                <a:latin typeface="游ゴシック"/>
                <a:ea typeface="游ゴシック"/>
              </a:rPr>
              <a:t># 6 フェスティバルヒル</a:t>
            </a:r>
          </a:p>
        </p:txBody>
      </p:sp>
      <p:sp>
        <p:nvSpPr>
          <p:cNvPr id="52" name="TextBox 51"/>
          <p:cNvSpPr txBox="1"/>
          <p:nvPr/>
        </p:nvSpPr>
        <p:spPr>
          <a:xfrm>
            <a:off x="2743200" y="3310128"/>
            <a:ext cx="804672" cy="292608"/>
          </a:xfrm>
          <a:prstGeom prst="rect">
            <a:avLst/>
          </a:prstGeom>
          <a:noFill/>
        </p:spPr>
        <p:txBody>
          <a:bodyPr wrap="square">
            <a:spAutoFit/>
          </a:bodyPr>
          <a:lstStyle/>
          <a:p>
            <a:pPr algn="ctr"/>
            <a:r>
              <a:rPr sz="900" b="0" i="0">
                <a:solidFill>
                  <a:srgbClr val="FCD34D"/>
                </a:solidFill>
                <a:latin typeface="游ゴシック"/>
                <a:ea typeface="游ゴシック"/>
              </a:rPr>
              <a:t>42.3%</a:t>
            </a:r>
          </a:p>
        </p:txBody>
      </p:sp>
      <p:sp>
        <p:nvSpPr>
          <p:cNvPr id="53" name="TextBox 52"/>
          <p:cNvSpPr txBox="1"/>
          <p:nvPr/>
        </p:nvSpPr>
        <p:spPr>
          <a:xfrm>
            <a:off x="3566160" y="3310128"/>
            <a:ext cx="804672" cy="292608"/>
          </a:xfrm>
          <a:prstGeom prst="rect">
            <a:avLst/>
          </a:prstGeom>
          <a:noFill/>
        </p:spPr>
        <p:txBody>
          <a:bodyPr wrap="square">
            <a:spAutoFit/>
          </a:bodyPr>
          <a:lstStyle/>
          <a:p>
            <a:pPr algn="ctr"/>
            <a:r>
              <a:rPr sz="900" b="0" i="0">
                <a:solidFill>
                  <a:srgbClr val="10B981"/>
                </a:solidFill>
                <a:latin typeface="游ゴシック"/>
                <a:ea typeface="游ゴシック"/>
              </a:rPr>
              <a:t>56.0%</a:t>
            </a:r>
          </a:p>
        </p:txBody>
      </p:sp>
      <p:sp>
        <p:nvSpPr>
          <p:cNvPr id="54" name="TextBox 53"/>
          <p:cNvSpPr txBox="1"/>
          <p:nvPr/>
        </p:nvSpPr>
        <p:spPr>
          <a:xfrm>
            <a:off x="4389120" y="3310128"/>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1.24</a:t>
            </a:r>
          </a:p>
        </p:txBody>
      </p:sp>
      <p:sp>
        <p:nvSpPr>
          <p:cNvPr id="55" name="TextBox 54"/>
          <p:cNvSpPr txBox="1"/>
          <p:nvPr/>
        </p:nvSpPr>
        <p:spPr>
          <a:xfrm>
            <a:off x="5212080" y="3310128"/>
            <a:ext cx="804672" cy="292608"/>
          </a:xfrm>
          <a:prstGeom prst="rect">
            <a:avLst/>
          </a:prstGeom>
          <a:noFill/>
        </p:spPr>
        <p:txBody>
          <a:bodyPr wrap="square">
            <a:spAutoFit/>
          </a:bodyPr>
          <a:lstStyle/>
          <a:p>
            <a:pPr algn="ctr"/>
            <a:r>
              <a:rPr sz="900" b="0" i="0">
                <a:solidFill>
                  <a:srgbClr val="FFFFFF"/>
                </a:solidFill>
                <a:latin typeface="游ゴシック"/>
                <a:ea typeface="游ゴシック"/>
              </a:rPr>
              <a:t>17.5倍</a:t>
            </a:r>
          </a:p>
        </p:txBody>
      </p:sp>
      <p:sp>
        <p:nvSpPr>
          <p:cNvPr id="56" name="TextBox 55"/>
          <p:cNvSpPr txBox="1"/>
          <p:nvPr/>
        </p:nvSpPr>
        <p:spPr>
          <a:xfrm>
            <a:off x="6035040" y="3310128"/>
            <a:ext cx="804672" cy="292608"/>
          </a:xfrm>
          <a:prstGeom prst="rect">
            <a:avLst/>
          </a:prstGeom>
          <a:noFill/>
        </p:spPr>
        <p:txBody>
          <a:bodyPr wrap="square">
            <a:spAutoFit/>
          </a:bodyPr>
          <a:lstStyle/>
          <a:p>
            <a:pPr algn="ctr"/>
            <a:r>
              <a:rPr sz="900" b="0" i="0">
                <a:solidFill>
                  <a:srgbClr val="FFC8DC"/>
                </a:solidFill>
                <a:latin typeface="游ゴシック"/>
                <a:ea typeface="游ゴシック"/>
              </a:rPr>
              <a:t>17.5→</a:t>
            </a:r>
          </a:p>
        </p:txBody>
      </p:sp>
      <p:sp>
        <p:nvSpPr>
          <p:cNvPr id="57" name="Rectangle 56"/>
          <p:cNvSpPr/>
          <p:nvPr/>
        </p:nvSpPr>
        <p:spPr>
          <a:xfrm>
            <a:off x="320040" y="3639312"/>
            <a:ext cx="5394960" cy="365759"/>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11479" y="3694176"/>
            <a:ext cx="2286000" cy="292608"/>
          </a:xfrm>
          <a:prstGeom prst="rect">
            <a:avLst/>
          </a:prstGeom>
          <a:noFill/>
        </p:spPr>
        <p:txBody>
          <a:bodyPr wrap="square">
            <a:spAutoFit/>
          </a:bodyPr>
          <a:lstStyle/>
          <a:p>
            <a:pPr algn="l"/>
            <a:r>
              <a:rPr sz="1000" b="0" i="0">
                <a:solidFill>
                  <a:srgbClr val="FFC8DC"/>
                </a:solidFill>
                <a:latin typeface="游ゴシック"/>
                <a:ea typeface="游ゴシック"/>
              </a:rPr>
              <a:t># 7 ディアダイヤモンド</a:t>
            </a:r>
          </a:p>
        </p:txBody>
      </p:sp>
      <p:sp>
        <p:nvSpPr>
          <p:cNvPr id="59" name="TextBox 58"/>
          <p:cNvSpPr txBox="1"/>
          <p:nvPr/>
        </p:nvSpPr>
        <p:spPr>
          <a:xfrm>
            <a:off x="2743200" y="3694176"/>
            <a:ext cx="804672" cy="292608"/>
          </a:xfrm>
          <a:prstGeom prst="rect">
            <a:avLst/>
          </a:prstGeom>
          <a:noFill/>
        </p:spPr>
        <p:txBody>
          <a:bodyPr wrap="square">
            <a:spAutoFit/>
          </a:bodyPr>
          <a:lstStyle/>
          <a:p>
            <a:pPr algn="ctr"/>
            <a:r>
              <a:rPr sz="900" b="0" i="0">
                <a:solidFill>
                  <a:srgbClr val="FCD34D"/>
                </a:solidFill>
                <a:latin typeface="游ゴシック"/>
                <a:ea typeface="游ゴシック"/>
              </a:rPr>
              <a:t>41.0%</a:t>
            </a:r>
          </a:p>
        </p:txBody>
      </p:sp>
      <p:sp>
        <p:nvSpPr>
          <p:cNvPr id="60" name="TextBox 59"/>
          <p:cNvSpPr txBox="1"/>
          <p:nvPr/>
        </p:nvSpPr>
        <p:spPr>
          <a:xfrm>
            <a:off x="3566160" y="3694176"/>
            <a:ext cx="804672" cy="292608"/>
          </a:xfrm>
          <a:prstGeom prst="rect">
            <a:avLst/>
          </a:prstGeom>
          <a:noFill/>
        </p:spPr>
        <p:txBody>
          <a:bodyPr wrap="square">
            <a:spAutoFit/>
          </a:bodyPr>
          <a:lstStyle/>
          <a:p>
            <a:pPr algn="ctr"/>
            <a:r>
              <a:rPr sz="900" b="0" i="0">
                <a:solidFill>
                  <a:srgbClr val="10B981"/>
                </a:solidFill>
                <a:latin typeface="游ゴシック"/>
                <a:ea typeface="游ゴシック"/>
              </a:rPr>
              <a:t>48.7%</a:t>
            </a:r>
          </a:p>
        </p:txBody>
      </p:sp>
      <p:sp>
        <p:nvSpPr>
          <p:cNvPr id="61" name="TextBox 60"/>
          <p:cNvSpPr txBox="1"/>
          <p:nvPr/>
        </p:nvSpPr>
        <p:spPr>
          <a:xfrm>
            <a:off x="4389120" y="3694176"/>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1.46</a:t>
            </a:r>
          </a:p>
        </p:txBody>
      </p:sp>
      <p:sp>
        <p:nvSpPr>
          <p:cNvPr id="62" name="TextBox 61"/>
          <p:cNvSpPr txBox="1"/>
          <p:nvPr/>
        </p:nvSpPr>
        <p:spPr>
          <a:xfrm>
            <a:off x="5212080" y="3694176"/>
            <a:ext cx="804672" cy="292608"/>
          </a:xfrm>
          <a:prstGeom prst="rect">
            <a:avLst/>
          </a:prstGeom>
          <a:noFill/>
        </p:spPr>
        <p:txBody>
          <a:bodyPr wrap="square">
            <a:spAutoFit/>
          </a:bodyPr>
          <a:lstStyle/>
          <a:p>
            <a:pPr algn="ctr"/>
            <a:r>
              <a:rPr sz="900" b="0" i="0">
                <a:solidFill>
                  <a:srgbClr val="FFFFFF"/>
                </a:solidFill>
                <a:latin typeface="游ゴシック"/>
                <a:ea typeface="游ゴシック"/>
              </a:rPr>
              <a:t>18.6倍</a:t>
            </a:r>
          </a:p>
        </p:txBody>
      </p:sp>
      <p:sp>
        <p:nvSpPr>
          <p:cNvPr id="63" name="TextBox 62"/>
          <p:cNvSpPr txBox="1"/>
          <p:nvPr/>
        </p:nvSpPr>
        <p:spPr>
          <a:xfrm>
            <a:off x="6035040" y="3694176"/>
            <a:ext cx="804672" cy="292608"/>
          </a:xfrm>
          <a:prstGeom prst="rect">
            <a:avLst/>
          </a:prstGeom>
          <a:noFill/>
        </p:spPr>
        <p:txBody>
          <a:bodyPr wrap="square">
            <a:spAutoFit/>
          </a:bodyPr>
          <a:lstStyle/>
          <a:p>
            <a:pPr algn="ctr"/>
            <a:r>
              <a:rPr sz="900" b="0" i="0">
                <a:solidFill>
                  <a:srgbClr val="FFC8DC"/>
                </a:solidFill>
                <a:latin typeface="游ゴシック"/>
                <a:ea typeface="游ゴシック"/>
              </a:rPr>
              <a:t>18.6→</a:t>
            </a:r>
          </a:p>
        </p:txBody>
      </p:sp>
      <p:sp>
        <p:nvSpPr>
          <p:cNvPr id="64" name="Rectangle 63"/>
          <p:cNvSpPr/>
          <p:nvPr/>
        </p:nvSpPr>
        <p:spPr>
          <a:xfrm>
            <a:off x="320040" y="4023360"/>
            <a:ext cx="5394960" cy="365759"/>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1479" y="4078224"/>
            <a:ext cx="2286000" cy="292608"/>
          </a:xfrm>
          <a:prstGeom prst="rect">
            <a:avLst/>
          </a:prstGeom>
          <a:noFill/>
        </p:spPr>
        <p:txBody>
          <a:bodyPr wrap="square">
            <a:spAutoFit/>
          </a:bodyPr>
          <a:lstStyle/>
          <a:p>
            <a:pPr algn="l"/>
            <a:r>
              <a:rPr sz="1000" b="0" i="0">
                <a:solidFill>
                  <a:srgbClr val="FFC8DC"/>
                </a:solidFill>
                <a:latin typeface="游ゴシック"/>
                <a:ea typeface="游ゴシック"/>
              </a:rPr>
              <a:t># 8 ブラックチャリス</a:t>
            </a:r>
          </a:p>
        </p:txBody>
      </p:sp>
      <p:sp>
        <p:nvSpPr>
          <p:cNvPr id="66" name="TextBox 65"/>
          <p:cNvSpPr txBox="1"/>
          <p:nvPr/>
        </p:nvSpPr>
        <p:spPr>
          <a:xfrm>
            <a:off x="2743200" y="4078224"/>
            <a:ext cx="804672" cy="292608"/>
          </a:xfrm>
          <a:prstGeom prst="rect">
            <a:avLst/>
          </a:prstGeom>
          <a:noFill/>
        </p:spPr>
        <p:txBody>
          <a:bodyPr wrap="square">
            <a:spAutoFit/>
          </a:bodyPr>
          <a:lstStyle/>
          <a:p>
            <a:pPr algn="ctr"/>
            <a:r>
              <a:rPr sz="900" b="0" i="0">
                <a:solidFill>
                  <a:srgbClr val="FCD34D"/>
                </a:solidFill>
                <a:latin typeface="游ゴシック"/>
                <a:ea typeface="游ゴシック"/>
              </a:rPr>
              <a:t>37.8%</a:t>
            </a:r>
          </a:p>
        </p:txBody>
      </p:sp>
      <p:sp>
        <p:nvSpPr>
          <p:cNvPr id="67" name="TextBox 66"/>
          <p:cNvSpPr txBox="1"/>
          <p:nvPr/>
        </p:nvSpPr>
        <p:spPr>
          <a:xfrm>
            <a:off x="3566160" y="4078224"/>
            <a:ext cx="804672" cy="292608"/>
          </a:xfrm>
          <a:prstGeom prst="rect">
            <a:avLst/>
          </a:prstGeom>
          <a:noFill/>
        </p:spPr>
        <p:txBody>
          <a:bodyPr wrap="square">
            <a:spAutoFit/>
          </a:bodyPr>
          <a:lstStyle/>
          <a:p>
            <a:pPr algn="ctr"/>
            <a:r>
              <a:rPr sz="900" b="0" i="0">
                <a:solidFill>
                  <a:srgbClr val="10B981"/>
                </a:solidFill>
                <a:latin typeface="游ゴシック"/>
                <a:ea typeface="游ゴシック"/>
              </a:rPr>
              <a:t>53.9%</a:t>
            </a:r>
          </a:p>
        </p:txBody>
      </p:sp>
      <p:sp>
        <p:nvSpPr>
          <p:cNvPr id="68" name="TextBox 67"/>
          <p:cNvSpPr txBox="1"/>
          <p:nvPr/>
        </p:nvSpPr>
        <p:spPr>
          <a:xfrm>
            <a:off x="4389120" y="4078224"/>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1.75</a:t>
            </a:r>
          </a:p>
        </p:txBody>
      </p:sp>
      <p:sp>
        <p:nvSpPr>
          <p:cNvPr id="69" name="TextBox 68"/>
          <p:cNvSpPr txBox="1"/>
          <p:nvPr/>
        </p:nvSpPr>
        <p:spPr>
          <a:xfrm>
            <a:off x="5212080" y="4078224"/>
            <a:ext cx="804672" cy="292608"/>
          </a:xfrm>
          <a:prstGeom prst="rect">
            <a:avLst/>
          </a:prstGeom>
          <a:noFill/>
        </p:spPr>
        <p:txBody>
          <a:bodyPr wrap="square">
            <a:spAutoFit/>
          </a:bodyPr>
          <a:lstStyle/>
          <a:p>
            <a:pPr algn="ctr"/>
            <a:r>
              <a:rPr sz="900" b="0" i="0">
                <a:solidFill>
                  <a:srgbClr val="FFFFFF"/>
                </a:solidFill>
                <a:latin typeface="游ゴシック"/>
                <a:ea typeface="游ゴシック"/>
              </a:rPr>
              <a:t>27.7倍</a:t>
            </a:r>
          </a:p>
        </p:txBody>
      </p:sp>
      <p:sp>
        <p:nvSpPr>
          <p:cNvPr id="70" name="TextBox 69"/>
          <p:cNvSpPr txBox="1"/>
          <p:nvPr/>
        </p:nvSpPr>
        <p:spPr>
          <a:xfrm>
            <a:off x="6035040" y="4078224"/>
            <a:ext cx="804672" cy="292608"/>
          </a:xfrm>
          <a:prstGeom prst="rect">
            <a:avLst/>
          </a:prstGeom>
          <a:noFill/>
        </p:spPr>
        <p:txBody>
          <a:bodyPr wrap="square">
            <a:spAutoFit/>
          </a:bodyPr>
          <a:lstStyle/>
          <a:p>
            <a:pPr algn="ctr"/>
            <a:r>
              <a:rPr sz="900" b="0" i="0">
                <a:solidFill>
                  <a:srgbClr val="FFC8DC"/>
                </a:solidFill>
                <a:latin typeface="游ゴシック"/>
                <a:ea typeface="游ゴシック"/>
              </a:rPr>
              <a:t>27.7→</a:t>
            </a:r>
          </a:p>
        </p:txBody>
      </p:sp>
      <p:sp>
        <p:nvSpPr>
          <p:cNvPr id="71" name="Rectangle 70"/>
          <p:cNvSpPr/>
          <p:nvPr/>
        </p:nvSpPr>
        <p:spPr>
          <a:xfrm>
            <a:off x="320040" y="4407408"/>
            <a:ext cx="5394960" cy="365759"/>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11479" y="4462272"/>
            <a:ext cx="2286000" cy="292608"/>
          </a:xfrm>
          <a:prstGeom prst="rect">
            <a:avLst/>
          </a:prstGeom>
          <a:noFill/>
        </p:spPr>
        <p:txBody>
          <a:bodyPr wrap="square">
            <a:spAutoFit/>
          </a:bodyPr>
          <a:lstStyle/>
          <a:p>
            <a:pPr algn="l"/>
            <a:r>
              <a:rPr sz="1000" b="0" i="0">
                <a:solidFill>
                  <a:srgbClr val="FFC8DC"/>
                </a:solidFill>
                <a:latin typeface="游ゴシック"/>
                <a:ea typeface="游ゴシック"/>
              </a:rPr>
              <a:t># 9 ジッピーチューン</a:t>
            </a:r>
          </a:p>
        </p:txBody>
      </p:sp>
      <p:sp>
        <p:nvSpPr>
          <p:cNvPr id="73" name="TextBox 72"/>
          <p:cNvSpPr txBox="1"/>
          <p:nvPr/>
        </p:nvSpPr>
        <p:spPr>
          <a:xfrm>
            <a:off x="2743200" y="4462272"/>
            <a:ext cx="804672" cy="292608"/>
          </a:xfrm>
          <a:prstGeom prst="rect">
            <a:avLst/>
          </a:prstGeom>
          <a:noFill/>
        </p:spPr>
        <p:txBody>
          <a:bodyPr wrap="square">
            <a:spAutoFit/>
          </a:bodyPr>
          <a:lstStyle/>
          <a:p>
            <a:pPr algn="ctr"/>
            <a:r>
              <a:rPr sz="900" b="0" i="0">
                <a:solidFill>
                  <a:srgbClr val="FCD34D"/>
                </a:solidFill>
                <a:latin typeface="游ゴシック"/>
                <a:ea typeface="游ゴシック"/>
              </a:rPr>
              <a:t>36.3%</a:t>
            </a:r>
          </a:p>
        </p:txBody>
      </p:sp>
      <p:sp>
        <p:nvSpPr>
          <p:cNvPr id="74" name="TextBox 73"/>
          <p:cNvSpPr txBox="1"/>
          <p:nvPr/>
        </p:nvSpPr>
        <p:spPr>
          <a:xfrm>
            <a:off x="3566160" y="4462272"/>
            <a:ext cx="804672" cy="292608"/>
          </a:xfrm>
          <a:prstGeom prst="rect">
            <a:avLst/>
          </a:prstGeom>
          <a:noFill/>
        </p:spPr>
        <p:txBody>
          <a:bodyPr wrap="square">
            <a:spAutoFit/>
          </a:bodyPr>
          <a:lstStyle/>
          <a:p>
            <a:pPr algn="ctr"/>
            <a:r>
              <a:rPr sz="900" b="0" i="0">
                <a:solidFill>
                  <a:srgbClr val="10B981"/>
                </a:solidFill>
                <a:latin typeface="游ゴシック"/>
                <a:ea typeface="游ゴシック"/>
              </a:rPr>
              <a:t>51.2%</a:t>
            </a:r>
          </a:p>
        </p:txBody>
      </p:sp>
      <p:sp>
        <p:nvSpPr>
          <p:cNvPr id="75" name="TextBox 74"/>
          <p:cNvSpPr txBox="1"/>
          <p:nvPr/>
        </p:nvSpPr>
        <p:spPr>
          <a:xfrm>
            <a:off x="4389120" y="4462272"/>
            <a:ext cx="804672" cy="292608"/>
          </a:xfrm>
          <a:prstGeom prst="rect">
            <a:avLst/>
          </a:prstGeom>
          <a:noFill/>
        </p:spPr>
        <p:txBody>
          <a:bodyPr wrap="square">
            <a:spAutoFit/>
          </a:bodyPr>
          <a:lstStyle/>
          <a:p>
            <a:pPr algn="ctr"/>
            <a:r>
              <a:rPr sz="900" b="0" i="0">
                <a:solidFill>
                  <a:srgbClr val="6D28D9"/>
                </a:solidFill>
                <a:latin typeface="游ゴシック"/>
                <a:ea typeface="游ゴシック"/>
              </a:rPr>
              <a:t>0.98</a:t>
            </a:r>
          </a:p>
        </p:txBody>
      </p:sp>
      <p:sp>
        <p:nvSpPr>
          <p:cNvPr id="76" name="TextBox 75"/>
          <p:cNvSpPr txBox="1"/>
          <p:nvPr/>
        </p:nvSpPr>
        <p:spPr>
          <a:xfrm>
            <a:off x="5212080" y="4462272"/>
            <a:ext cx="804672" cy="292608"/>
          </a:xfrm>
          <a:prstGeom prst="rect">
            <a:avLst/>
          </a:prstGeom>
          <a:noFill/>
        </p:spPr>
        <p:txBody>
          <a:bodyPr wrap="square">
            <a:spAutoFit/>
          </a:bodyPr>
          <a:lstStyle/>
          <a:p>
            <a:pPr algn="ctr"/>
            <a:r>
              <a:rPr sz="900" b="0" i="0">
                <a:solidFill>
                  <a:srgbClr val="FFFFFF"/>
                </a:solidFill>
                <a:latin typeface="游ゴシック"/>
                <a:ea typeface="游ゴシック"/>
              </a:rPr>
              <a:t>24.3倍</a:t>
            </a:r>
          </a:p>
        </p:txBody>
      </p:sp>
      <p:sp>
        <p:nvSpPr>
          <p:cNvPr id="77" name="TextBox 76"/>
          <p:cNvSpPr txBox="1"/>
          <p:nvPr/>
        </p:nvSpPr>
        <p:spPr>
          <a:xfrm>
            <a:off x="6035040" y="4462272"/>
            <a:ext cx="804672" cy="292608"/>
          </a:xfrm>
          <a:prstGeom prst="rect">
            <a:avLst/>
          </a:prstGeom>
          <a:noFill/>
        </p:spPr>
        <p:txBody>
          <a:bodyPr wrap="square">
            <a:spAutoFit/>
          </a:bodyPr>
          <a:lstStyle/>
          <a:p>
            <a:pPr algn="ctr"/>
            <a:r>
              <a:rPr sz="900" b="0" i="0">
                <a:solidFill>
                  <a:srgbClr val="FFC8DC"/>
                </a:solidFill>
                <a:latin typeface="游ゴシック"/>
                <a:ea typeface="游ゴシック"/>
              </a:rPr>
              <a:t>24.3→</a:t>
            </a:r>
          </a:p>
        </p:txBody>
      </p:sp>
      <p:sp>
        <p:nvSpPr>
          <p:cNvPr id="78" name="Rectangle 77"/>
          <p:cNvSpPr/>
          <p:nvPr/>
        </p:nvSpPr>
        <p:spPr>
          <a:xfrm>
            <a:off x="320040" y="4791456"/>
            <a:ext cx="5394960" cy="365759"/>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11479" y="4846320"/>
            <a:ext cx="2286000" cy="292608"/>
          </a:xfrm>
          <a:prstGeom prst="rect">
            <a:avLst/>
          </a:prstGeom>
          <a:noFill/>
        </p:spPr>
        <p:txBody>
          <a:bodyPr wrap="square">
            <a:spAutoFit/>
          </a:bodyPr>
          <a:lstStyle/>
          <a:p>
            <a:pPr algn="l"/>
            <a:r>
              <a:rPr sz="1000" b="0" i="0">
                <a:solidFill>
                  <a:srgbClr val="FFC8DC"/>
                </a:solidFill>
                <a:latin typeface="游ゴシック"/>
                <a:ea typeface="游ゴシック"/>
              </a:rPr>
              <a:t>#10 ギャラボーグ</a:t>
            </a:r>
          </a:p>
        </p:txBody>
      </p:sp>
      <p:sp>
        <p:nvSpPr>
          <p:cNvPr id="80" name="TextBox 79"/>
          <p:cNvSpPr txBox="1"/>
          <p:nvPr/>
        </p:nvSpPr>
        <p:spPr>
          <a:xfrm>
            <a:off x="2743200" y="4846320"/>
            <a:ext cx="804672" cy="292608"/>
          </a:xfrm>
          <a:prstGeom prst="rect">
            <a:avLst/>
          </a:prstGeom>
          <a:noFill/>
        </p:spPr>
        <p:txBody>
          <a:bodyPr wrap="square">
            <a:spAutoFit/>
          </a:bodyPr>
          <a:lstStyle/>
          <a:p>
            <a:pPr algn="ctr"/>
            <a:r>
              <a:rPr sz="900" b="0" i="0">
                <a:solidFill>
                  <a:srgbClr val="FCD34D"/>
                </a:solidFill>
                <a:latin typeface="游ゴシック"/>
                <a:ea typeface="游ゴシック"/>
              </a:rPr>
              <a:t>34.4%</a:t>
            </a:r>
          </a:p>
        </p:txBody>
      </p:sp>
      <p:sp>
        <p:nvSpPr>
          <p:cNvPr id="81" name="TextBox 80"/>
          <p:cNvSpPr txBox="1"/>
          <p:nvPr/>
        </p:nvSpPr>
        <p:spPr>
          <a:xfrm>
            <a:off x="3566160" y="4846320"/>
            <a:ext cx="804672" cy="292608"/>
          </a:xfrm>
          <a:prstGeom prst="rect">
            <a:avLst/>
          </a:prstGeom>
          <a:noFill/>
        </p:spPr>
        <p:txBody>
          <a:bodyPr wrap="square">
            <a:spAutoFit/>
          </a:bodyPr>
          <a:lstStyle/>
          <a:p>
            <a:pPr algn="ctr"/>
            <a:r>
              <a:rPr sz="900" b="0" i="0">
                <a:solidFill>
                  <a:srgbClr val="10B981"/>
                </a:solidFill>
                <a:latin typeface="游ゴシック"/>
                <a:ea typeface="游ゴシック"/>
              </a:rPr>
              <a:t>49.4%</a:t>
            </a:r>
          </a:p>
        </p:txBody>
      </p:sp>
      <p:sp>
        <p:nvSpPr>
          <p:cNvPr id="82" name="TextBox 81"/>
          <p:cNvSpPr txBox="1"/>
          <p:nvPr/>
        </p:nvSpPr>
        <p:spPr>
          <a:xfrm>
            <a:off x="4389120" y="4846320"/>
            <a:ext cx="804672" cy="292608"/>
          </a:xfrm>
          <a:prstGeom prst="rect">
            <a:avLst/>
          </a:prstGeom>
          <a:noFill/>
        </p:spPr>
        <p:txBody>
          <a:bodyPr wrap="square">
            <a:spAutoFit/>
          </a:bodyPr>
          <a:lstStyle/>
          <a:p>
            <a:pPr algn="ctr"/>
            <a:r>
              <a:rPr sz="900" b="0" i="0">
                <a:solidFill>
                  <a:srgbClr val="6D28D9"/>
                </a:solidFill>
                <a:latin typeface="游ゴシック"/>
                <a:ea typeface="游ゴシック"/>
              </a:rPr>
              <a:t>0.29</a:t>
            </a:r>
          </a:p>
        </p:txBody>
      </p:sp>
      <p:sp>
        <p:nvSpPr>
          <p:cNvPr id="83" name="TextBox 82"/>
          <p:cNvSpPr txBox="1"/>
          <p:nvPr/>
        </p:nvSpPr>
        <p:spPr>
          <a:xfrm>
            <a:off x="5212080" y="4846320"/>
            <a:ext cx="804672" cy="292608"/>
          </a:xfrm>
          <a:prstGeom prst="rect">
            <a:avLst/>
          </a:prstGeom>
          <a:noFill/>
        </p:spPr>
        <p:txBody>
          <a:bodyPr wrap="square">
            <a:spAutoFit/>
          </a:bodyPr>
          <a:lstStyle/>
          <a:p>
            <a:pPr algn="ctr"/>
            <a:r>
              <a:rPr sz="900" b="0" i="0">
                <a:solidFill>
                  <a:srgbClr val="FFFFFF"/>
                </a:solidFill>
                <a:latin typeface="游ゴシック"/>
                <a:ea typeface="游ゴシック"/>
              </a:rPr>
              <a:t>19.0倍</a:t>
            </a:r>
          </a:p>
        </p:txBody>
      </p:sp>
      <p:sp>
        <p:nvSpPr>
          <p:cNvPr id="84" name="TextBox 83"/>
          <p:cNvSpPr txBox="1"/>
          <p:nvPr/>
        </p:nvSpPr>
        <p:spPr>
          <a:xfrm>
            <a:off x="6035040" y="4846320"/>
            <a:ext cx="804672" cy="292608"/>
          </a:xfrm>
          <a:prstGeom prst="rect">
            <a:avLst/>
          </a:prstGeom>
          <a:noFill/>
        </p:spPr>
        <p:txBody>
          <a:bodyPr wrap="square">
            <a:spAutoFit/>
          </a:bodyPr>
          <a:lstStyle/>
          <a:p>
            <a:pPr algn="ctr"/>
            <a:r>
              <a:rPr sz="900" b="0" i="0">
                <a:solidFill>
                  <a:srgbClr val="FFC8DC"/>
                </a:solidFill>
                <a:latin typeface="游ゴシック"/>
                <a:ea typeface="游ゴシック"/>
              </a:rPr>
              <a:t>19.0→</a:t>
            </a:r>
          </a:p>
        </p:txBody>
      </p:sp>
      <p:sp>
        <p:nvSpPr>
          <p:cNvPr id="85" name="Rectangle 84"/>
          <p:cNvSpPr/>
          <p:nvPr/>
        </p:nvSpPr>
        <p:spPr>
          <a:xfrm>
            <a:off x="6035040" y="1335024"/>
            <a:ext cx="5394960" cy="365759"/>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26479" y="1389888"/>
            <a:ext cx="2286000" cy="292608"/>
          </a:xfrm>
          <a:prstGeom prst="rect">
            <a:avLst/>
          </a:prstGeom>
          <a:noFill/>
        </p:spPr>
        <p:txBody>
          <a:bodyPr wrap="square">
            <a:spAutoFit/>
          </a:bodyPr>
          <a:lstStyle/>
          <a:p>
            <a:pPr algn="l"/>
            <a:r>
              <a:rPr sz="1000" b="0" i="0">
                <a:solidFill>
                  <a:srgbClr val="FFC8DC"/>
                </a:solidFill>
                <a:latin typeface="游ゴシック"/>
                <a:ea typeface="游ゴシック"/>
              </a:rPr>
              <a:t>#11 ロンギングセリーヌ</a:t>
            </a:r>
          </a:p>
        </p:txBody>
      </p:sp>
      <p:sp>
        <p:nvSpPr>
          <p:cNvPr id="87" name="TextBox 86"/>
          <p:cNvSpPr txBox="1"/>
          <p:nvPr/>
        </p:nvSpPr>
        <p:spPr>
          <a:xfrm>
            <a:off x="8458200" y="1389888"/>
            <a:ext cx="804672" cy="292608"/>
          </a:xfrm>
          <a:prstGeom prst="rect">
            <a:avLst/>
          </a:prstGeom>
          <a:noFill/>
        </p:spPr>
        <p:txBody>
          <a:bodyPr wrap="square">
            <a:spAutoFit/>
          </a:bodyPr>
          <a:lstStyle/>
          <a:p>
            <a:pPr algn="ctr"/>
            <a:r>
              <a:rPr sz="900" b="0" i="0">
                <a:solidFill>
                  <a:srgbClr val="FCD34D"/>
                </a:solidFill>
                <a:latin typeface="游ゴシック"/>
                <a:ea typeface="游ゴシック"/>
              </a:rPr>
              <a:t>33.8%</a:t>
            </a:r>
          </a:p>
        </p:txBody>
      </p:sp>
      <p:sp>
        <p:nvSpPr>
          <p:cNvPr id="88" name="TextBox 87"/>
          <p:cNvSpPr txBox="1"/>
          <p:nvPr/>
        </p:nvSpPr>
        <p:spPr>
          <a:xfrm>
            <a:off x="9281160" y="1389888"/>
            <a:ext cx="804672" cy="292608"/>
          </a:xfrm>
          <a:prstGeom prst="rect">
            <a:avLst/>
          </a:prstGeom>
          <a:noFill/>
        </p:spPr>
        <p:txBody>
          <a:bodyPr wrap="square">
            <a:spAutoFit/>
          </a:bodyPr>
          <a:lstStyle/>
          <a:p>
            <a:pPr algn="ctr"/>
            <a:r>
              <a:rPr sz="900" b="0" i="0">
                <a:solidFill>
                  <a:srgbClr val="10B981"/>
                </a:solidFill>
                <a:latin typeface="游ゴシック"/>
                <a:ea typeface="游ゴシック"/>
              </a:rPr>
              <a:t>40.7%</a:t>
            </a:r>
          </a:p>
        </p:txBody>
      </p:sp>
      <p:sp>
        <p:nvSpPr>
          <p:cNvPr id="89" name="TextBox 88"/>
          <p:cNvSpPr txBox="1"/>
          <p:nvPr/>
        </p:nvSpPr>
        <p:spPr>
          <a:xfrm>
            <a:off x="10104120" y="1389888"/>
            <a:ext cx="804672" cy="292608"/>
          </a:xfrm>
          <a:prstGeom prst="rect">
            <a:avLst/>
          </a:prstGeom>
          <a:noFill/>
        </p:spPr>
        <p:txBody>
          <a:bodyPr wrap="square">
            <a:spAutoFit/>
          </a:bodyPr>
          <a:lstStyle/>
          <a:p>
            <a:pPr algn="ctr"/>
            <a:r>
              <a:rPr sz="900" b="0" i="0">
                <a:solidFill>
                  <a:srgbClr val="6D28D9"/>
                </a:solidFill>
                <a:latin typeface="游ゴシック"/>
                <a:ea typeface="游ゴシック"/>
              </a:rPr>
              <a:t>0.38</a:t>
            </a:r>
          </a:p>
        </p:txBody>
      </p:sp>
      <p:sp>
        <p:nvSpPr>
          <p:cNvPr id="90" name="TextBox 89"/>
          <p:cNvSpPr txBox="1"/>
          <p:nvPr/>
        </p:nvSpPr>
        <p:spPr>
          <a:xfrm>
            <a:off x="10927080" y="1389888"/>
            <a:ext cx="804672" cy="292608"/>
          </a:xfrm>
          <a:prstGeom prst="rect">
            <a:avLst/>
          </a:prstGeom>
          <a:noFill/>
        </p:spPr>
        <p:txBody>
          <a:bodyPr wrap="square">
            <a:spAutoFit/>
          </a:bodyPr>
          <a:lstStyle/>
          <a:p>
            <a:pPr algn="ctr"/>
            <a:r>
              <a:rPr sz="900" b="0" i="0">
                <a:solidFill>
                  <a:srgbClr val="FFFFFF"/>
                </a:solidFill>
                <a:latin typeface="游ゴシック"/>
                <a:ea typeface="游ゴシック"/>
              </a:rPr>
              <a:t>87.1倍</a:t>
            </a:r>
          </a:p>
        </p:txBody>
      </p:sp>
      <p:sp>
        <p:nvSpPr>
          <p:cNvPr id="91" name="TextBox 90"/>
          <p:cNvSpPr txBox="1"/>
          <p:nvPr/>
        </p:nvSpPr>
        <p:spPr>
          <a:xfrm>
            <a:off x="11750040" y="1389888"/>
            <a:ext cx="804672" cy="292608"/>
          </a:xfrm>
          <a:prstGeom prst="rect">
            <a:avLst/>
          </a:prstGeom>
          <a:noFill/>
        </p:spPr>
        <p:txBody>
          <a:bodyPr wrap="square">
            <a:spAutoFit/>
          </a:bodyPr>
          <a:lstStyle/>
          <a:p>
            <a:pPr algn="ctr"/>
            <a:r>
              <a:rPr sz="900" b="0" i="0">
                <a:solidFill>
                  <a:srgbClr val="FFC8DC"/>
                </a:solidFill>
                <a:latin typeface="游ゴシック"/>
                <a:ea typeface="游ゴシック"/>
              </a:rPr>
              <a:t>87.1→</a:t>
            </a:r>
          </a:p>
        </p:txBody>
      </p:sp>
      <p:sp>
        <p:nvSpPr>
          <p:cNvPr id="92" name="Rectangle 91"/>
          <p:cNvSpPr/>
          <p:nvPr/>
        </p:nvSpPr>
        <p:spPr>
          <a:xfrm>
            <a:off x="6035040" y="1719072"/>
            <a:ext cx="5394960" cy="365759"/>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126479" y="1773936"/>
            <a:ext cx="2286000" cy="292608"/>
          </a:xfrm>
          <a:prstGeom prst="rect">
            <a:avLst/>
          </a:prstGeom>
          <a:noFill/>
        </p:spPr>
        <p:txBody>
          <a:bodyPr wrap="square">
            <a:spAutoFit/>
          </a:bodyPr>
          <a:lstStyle/>
          <a:p>
            <a:pPr algn="l"/>
            <a:r>
              <a:rPr sz="1000" b="0" i="0">
                <a:solidFill>
                  <a:srgbClr val="FFC8DC"/>
                </a:solidFill>
                <a:latin typeface="游ゴシック"/>
                <a:ea typeface="游ゴシック"/>
              </a:rPr>
              <a:t>#12 リリージョワ</a:t>
            </a:r>
          </a:p>
        </p:txBody>
      </p:sp>
      <p:sp>
        <p:nvSpPr>
          <p:cNvPr id="94" name="TextBox 93"/>
          <p:cNvSpPr txBox="1"/>
          <p:nvPr/>
        </p:nvSpPr>
        <p:spPr>
          <a:xfrm>
            <a:off x="8458200" y="1773936"/>
            <a:ext cx="804672" cy="292608"/>
          </a:xfrm>
          <a:prstGeom prst="rect">
            <a:avLst/>
          </a:prstGeom>
          <a:noFill/>
        </p:spPr>
        <p:txBody>
          <a:bodyPr wrap="square">
            <a:spAutoFit/>
          </a:bodyPr>
          <a:lstStyle/>
          <a:p>
            <a:pPr algn="ctr"/>
            <a:r>
              <a:rPr sz="900" b="0" i="0">
                <a:solidFill>
                  <a:srgbClr val="FCD34D"/>
                </a:solidFill>
                <a:latin typeface="游ゴシック"/>
                <a:ea typeface="游ゴシック"/>
              </a:rPr>
              <a:t>32.8%</a:t>
            </a:r>
          </a:p>
        </p:txBody>
      </p:sp>
      <p:sp>
        <p:nvSpPr>
          <p:cNvPr id="95" name="TextBox 94"/>
          <p:cNvSpPr txBox="1"/>
          <p:nvPr/>
        </p:nvSpPr>
        <p:spPr>
          <a:xfrm>
            <a:off x="9281160" y="1773936"/>
            <a:ext cx="804672" cy="292608"/>
          </a:xfrm>
          <a:prstGeom prst="rect">
            <a:avLst/>
          </a:prstGeom>
          <a:noFill/>
        </p:spPr>
        <p:txBody>
          <a:bodyPr wrap="square">
            <a:spAutoFit/>
          </a:bodyPr>
          <a:lstStyle/>
          <a:p>
            <a:pPr algn="ctr"/>
            <a:r>
              <a:rPr sz="900" b="0" i="0">
                <a:solidFill>
                  <a:srgbClr val="10B981"/>
                </a:solidFill>
                <a:latin typeface="游ゴシック"/>
                <a:ea typeface="游ゴシック"/>
              </a:rPr>
              <a:t>46.1%</a:t>
            </a:r>
          </a:p>
        </p:txBody>
      </p:sp>
      <p:sp>
        <p:nvSpPr>
          <p:cNvPr id="96" name="TextBox 95"/>
          <p:cNvSpPr txBox="1"/>
          <p:nvPr/>
        </p:nvSpPr>
        <p:spPr>
          <a:xfrm>
            <a:off x="10104120" y="1773936"/>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1.08</a:t>
            </a:r>
          </a:p>
        </p:txBody>
      </p:sp>
      <p:sp>
        <p:nvSpPr>
          <p:cNvPr id="97" name="TextBox 96"/>
          <p:cNvSpPr txBox="1"/>
          <p:nvPr/>
        </p:nvSpPr>
        <p:spPr>
          <a:xfrm>
            <a:off x="10927080" y="1773936"/>
            <a:ext cx="804672" cy="292608"/>
          </a:xfrm>
          <a:prstGeom prst="rect">
            <a:avLst/>
          </a:prstGeom>
          <a:noFill/>
        </p:spPr>
        <p:txBody>
          <a:bodyPr wrap="square">
            <a:spAutoFit/>
          </a:bodyPr>
          <a:lstStyle/>
          <a:p>
            <a:pPr algn="ctr"/>
            <a:r>
              <a:rPr sz="900" b="0" i="0">
                <a:solidFill>
                  <a:srgbClr val="FFFFFF"/>
                </a:solidFill>
                <a:latin typeface="游ゴシック"/>
                <a:ea typeface="游ゴシック"/>
              </a:rPr>
              <a:t>10.6倍</a:t>
            </a:r>
          </a:p>
        </p:txBody>
      </p:sp>
      <p:sp>
        <p:nvSpPr>
          <p:cNvPr id="98" name="TextBox 97"/>
          <p:cNvSpPr txBox="1"/>
          <p:nvPr/>
        </p:nvSpPr>
        <p:spPr>
          <a:xfrm>
            <a:off x="11750040" y="1773936"/>
            <a:ext cx="804672" cy="292608"/>
          </a:xfrm>
          <a:prstGeom prst="rect">
            <a:avLst/>
          </a:prstGeom>
          <a:noFill/>
        </p:spPr>
        <p:txBody>
          <a:bodyPr wrap="square">
            <a:spAutoFit/>
          </a:bodyPr>
          <a:lstStyle/>
          <a:p>
            <a:pPr algn="ctr"/>
            <a:r>
              <a:rPr sz="900" b="0" i="0">
                <a:solidFill>
                  <a:srgbClr val="FFC8DC"/>
                </a:solidFill>
                <a:latin typeface="游ゴシック"/>
                <a:ea typeface="游ゴシック"/>
              </a:rPr>
              <a:t>10.6→</a:t>
            </a:r>
          </a:p>
        </p:txBody>
      </p:sp>
      <p:sp>
        <p:nvSpPr>
          <p:cNvPr id="99" name="Rectangle 98"/>
          <p:cNvSpPr/>
          <p:nvPr/>
        </p:nvSpPr>
        <p:spPr>
          <a:xfrm>
            <a:off x="6035040" y="2103120"/>
            <a:ext cx="5394960" cy="365759"/>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126479" y="2157984"/>
            <a:ext cx="2286000" cy="292608"/>
          </a:xfrm>
          <a:prstGeom prst="rect">
            <a:avLst/>
          </a:prstGeom>
          <a:noFill/>
        </p:spPr>
        <p:txBody>
          <a:bodyPr wrap="square">
            <a:spAutoFit/>
          </a:bodyPr>
          <a:lstStyle/>
          <a:p>
            <a:pPr algn="l"/>
            <a:r>
              <a:rPr sz="1000" b="0" i="0">
                <a:solidFill>
                  <a:srgbClr val="FFC8DC"/>
                </a:solidFill>
                <a:latin typeface="游ゴシック"/>
                <a:ea typeface="游ゴシック"/>
              </a:rPr>
              <a:t>#13 スウィートハピネス</a:t>
            </a:r>
          </a:p>
        </p:txBody>
      </p:sp>
      <p:sp>
        <p:nvSpPr>
          <p:cNvPr id="101" name="TextBox 100"/>
          <p:cNvSpPr txBox="1"/>
          <p:nvPr/>
        </p:nvSpPr>
        <p:spPr>
          <a:xfrm>
            <a:off x="8458200" y="2157984"/>
            <a:ext cx="804672" cy="292608"/>
          </a:xfrm>
          <a:prstGeom prst="rect">
            <a:avLst/>
          </a:prstGeom>
          <a:noFill/>
        </p:spPr>
        <p:txBody>
          <a:bodyPr wrap="square">
            <a:spAutoFit/>
          </a:bodyPr>
          <a:lstStyle/>
          <a:p>
            <a:pPr algn="ctr"/>
            <a:r>
              <a:rPr sz="900" b="0" i="0">
                <a:solidFill>
                  <a:srgbClr val="FCD34D"/>
                </a:solidFill>
                <a:latin typeface="游ゴシック"/>
                <a:ea typeface="游ゴシック"/>
              </a:rPr>
              <a:t>32.7%</a:t>
            </a:r>
          </a:p>
        </p:txBody>
      </p:sp>
      <p:sp>
        <p:nvSpPr>
          <p:cNvPr id="102" name="TextBox 101"/>
          <p:cNvSpPr txBox="1"/>
          <p:nvPr/>
        </p:nvSpPr>
        <p:spPr>
          <a:xfrm>
            <a:off x="9281160" y="2157984"/>
            <a:ext cx="804672" cy="292608"/>
          </a:xfrm>
          <a:prstGeom prst="rect">
            <a:avLst/>
          </a:prstGeom>
          <a:noFill/>
        </p:spPr>
        <p:txBody>
          <a:bodyPr wrap="square">
            <a:spAutoFit/>
          </a:bodyPr>
          <a:lstStyle/>
          <a:p>
            <a:pPr algn="ctr"/>
            <a:r>
              <a:rPr sz="900" b="0" i="0">
                <a:solidFill>
                  <a:srgbClr val="10B981"/>
                </a:solidFill>
                <a:latin typeface="游ゴシック"/>
                <a:ea typeface="游ゴシック"/>
              </a:rPr>
              <a:t>42.3%</a:t>
            </a:r>
          </a:p>
        </p:txBody>
      </p:sp>
      <p:sp>
        <p:nvSpPr>
          <p:cNvPr id="103" name="TextBox 102"/>
          <p:cNvSpPr txBox="1"/>
          <p:nvPr/>
        </p:nvSpPr>
        <p:spPr>
          <a:xfrm>
            <a:off x="10104120" y="2157984"/>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1.01</a:t>
            </a:r>
          </a:p>
        </p:txBody>
      </p:sp>
      <p:sp>
        <p:nvSpPr>
          <p:cNvPr id="104" name="TextBox 103"/>
          <p:cNvSpPr txBox="1"/>
          <p:nvPr/>
        </p:nvSpPr>
        <p:spPr>
          <a:xfrm>
            <a:off x="10927080" y="2157984"/>
            <a:ext cx="804672" cy="292608"/>
          </a:xfrm>
          <a:prstGeom prst="rect">
            <a:avLst/>
          </a:prstGeom>
          <a:noFill/>
        </p:spPr>
        <p:txBody>
          <a:bodyPr wrap="square">
            <a:spAutoFit/>
          </a:bodyPr>
          <a:lstStyle/>
          <a:p>
            <a:pPr algn="ctr"/>
            <a:r>
              <a:rPr sz="900" b="0" i="0">
                <a:solidFill>
                  <a:srgbClr val="FFFFFF"/>
                </a:solidFill>
                <a:latin typeface="游ゴシック"/>
                <a:ea typeface="游ゴシック"/>
              </a:rPr>
              <a:t>27.1倍</a:t>
            </a:r>
          </a:p>
        </p:txBody>
      </p:sp>
      <p:sp>
        <p:nvSpPr>
          <p:cNvPr id="105" name="TextBox 104"/>
          <p:cNvSpPr txBox="1"/>
          <p:nvPr/>
        </p:nvSpPr>
        <p:spPr>
          <a:xfrm>
            <a:off x="11750040" y="2157984"/>
            <a:ext cx="804672" cy="292608"/>
          </a:xfrm>
          <a:prstGeom prst="rect">
            <a:avLst/>
          </a:prstGeom>
          <a:noFill/>
        </p:spPr>
        <p:txBody>
          <a:bodyPr wrap="square">
            <a:spAutoFit/>
          </a:bodyPr>
          <a:lstStyle/>
          <a:p>
            <a:pPr algn="ctr"/>
            <a:r>
              <a:rPr sz="900" b="0" i="0">
                <a:solidFill>
                  <a:srgbClr val="FFC8DC"/>
                </a:solidFill>
                <a:latin typeface="游ゴシック"/>
                <a:ea typeface="游ゴシック"/>
              </a:rPr>
              <a:t>27.1→</a:t>
            </a:r>
          </a:p>
        </p:txBody>
      </p:sp>
      <p:sp>
        <p:nvSpPr>
          <p:cNvPr id="106" name="Rectangle 105"/>
          <p:cNvSpPr/>
          <p:nvPr/>
        </p:nvSpPr>
        <p:spPr>
          <a:xfrm>
            <a:off x="6035040" y="2487168"/>
            <a:ext cx="5394960" cy="365759"/>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126479" y="2542032"/>
            <a:ext cx="2286000" cy="292608"/>
          </a:xfrm>
          <a:prstGeom prst="rect">
            <a:avLst/>
          </a:prstGeom>
          <a:noFill/>
        </p:spPr>
        <p:txBody>
          <a:bodyPr wrap="square">
            <a:spAutoFit/>
          </a:bodyPr>
          <a:lstStyle/>
          <a:p>
            <a:pPr algn="l"/>
            <a:r>
              <a:rPr sz="1000" b="0" i="0">
                <a:solidFill>
                  <a:srgbClr val="FFC8DC"/>
                </a:solidFill>
                <a:latin typeface="游ゴシック"/>
                <a:ea typeface="游ゴシック"/>
              </a:rPr>
              <a:t>#14 ショウナンカリス</a:t>
            </a:r>
          </a:p>
        </p:txBody>
      </p:sp>
      <p:sp>
        <p:nvSpPr>
          <p:cNvPr id="108" name="TextBox 107"/>
          <p:cNvSpPr txBox="1"/>
          <p:nvPr/>
        </p:nvSpPr>
        <p:spPr>
          <a:xfrm>
            <a:off x="8458200" y="2542032"/>
            <a:ext cx="804672" cy="292608"/>
          </a:xfrm>
          <a:prstGeom prst="rect">
            <a:avLst/>
          </a:prstGeom>
          <a:noFill/>
        </p:spPr>
        <p:txBody>
          <a:bodyPr wrap="square">
            <a:spAutoFit/>
          </a:bodyPr>
          <a:lstStyle/>
          <a:p>
            <a:pPr algn="ctr"/>
            <a:r>
              <a:rPr sz="900" b="0" i="0">
                <a:solidFill>
                  <a:srgbClr val="FCD34D"/>
                </a:solidFill>
                <a:latin typeface="游ゴシック"/>
                <a:ea typeface="游ゴシック"/>
              </a:rPr>
              <a:t>30.4%</a:t>
            </a:r>
          </a:p>
        </p:txBody>
      </p:sp>
      <p:sp>
        <p:nvSpPr>
          <p:cNvPr id="109" name="TextBox 108"/>
          <p:cNvSpPr txBox="1"/>
          <p:nvPr/>
        </p:nvSpPr>
        <p:spPr>
          <a:xfrm>
            <a:off x="9281160" y="2542032"/>
            <a:ext cx="804672" cy="292608"/>
          </a:xfrm>
          <a:prstGeom prst="rect">
            <a:avLst/>
          </a:prstGeom>
          <a:noFill/>
        </p:spPr>
        <p:txBody>
          <a:bodyPr wrap="square">
            <a:spAutoFit/>
          </a:bodyPr>
          <a:lstStyle/>
          <a:p>
            <a:pPr algn="ctr"/>
            <a:r>
              <a:rPr sz="900" b="0" i="0">
                <a:solidFill>
                  <a:srgbClr val="10B981"/>
                </a:solidFill>
                <a:latin typeface="游ゴシック"/>
                <a:ea typeface="游ゴシック"/>
              </a:rPr>
              <a:t>44.0%</a:t>
            </a:r>
          </a:p>
        </p:txBody>
      </p:sp>
      <p:sp>
        <p:nvSpPr>
          <p:cNvPr id="110" name="TextBox 109"/>
          <p:cNvSpPr txBox="1"/>
          <p:nvPr/>
        </p:nvSpPr>
        <p:spPr>
          <a:xfrm>
            <a:off x="10104120" y="2542032"/>
            <a:ext cx="804672" cy="292608"/>
          </a:xfrm>
          <a:prstGeom prst="rect">
            <a:avLst/>
          </a:prstGeom>
          <a:noFill/>
        </p:spPr>
        <p:txBody>
          <a:bodyPr wrap="square">
            <a:spAutoFit/>
          </a:bodyPr>
          <a:lstStyle/>
          <a:p>
            <a:pPr algn="ctr"/>
            <a:r>
              <a:rPr sz="900" b="0" i="0">
                <a:solidFill>
                  <a:srgbClr val="6D28D9"/>
                </a:solidFill>
                <a:latin typeface="游ゴシック"/>
                <a:ea typeface="游ゴシック"/>
              </a:rPr>
              <a:t>0.16</a:t>
            </a:r>
          </a:p>
        </p:txBody>
      </p:sp>
      <p:sp>
        <p:nvSpPr>
          <p:cNvPr id="111" name="TextBox 110"/>
          <p:cNvSpPr txBox="1"/>
          <p:nvPr/>
        </p:nvSpPr>
        <p:spPr>
          <a:xfrm>
            <a:off x="10927080" y="2542032"/>
            <a:ext cx="804672" cy="292608"/>
          </a:xfrm>
          <a:prstGeom prst="rect">
            <a:avLst/>
          </a:prstGeom>
          <a:noFill/>
        </p:spPr>
        <p:txBody>
          <a:bodyPr wrap="square">
            <a:spAutoFit/>
          </a:bodyPr>
          <a:lstStyle/>
          <a:p>
            <a:pPr algn="ctr"/>
            <a:r>
              <a:rPr sz="900" b="0" i="0">
                <a:solidFill>
                  <a:srgbClr val="FFFFFF"/>
                </a:solidFill>
                <a:latin typeface="游ゴシック"/>
                <a:ea typeface="游ゴシック"/>
              </a:rPr>
              <a:t>101.3倍</a:t>
            </a:r>
          </a:p>
        </p:txBody>
      </p:sp>
      <p:sp>
        <p:nvSpPr>
          <p:cNvPr id="112" name="TextBox 111"/>
          <p:cNvSpPr txBox="1"/>
          <p:nvPr/>
        </p:nvSpPr>
        <p:spPr>
          <a:xfrm>
            <a:off x="11750040" y="2542032"/>
            <a:ext cx="804672" cy="292608"/>
          </a:xfrm>
          <a:prstGeom prst="rect">
            <a:avLst/>
          </a:prstGeom>
          <a:noFill/>
        </p:spPr>
        <p:txBody>
          <a:bodyPr wrap="square">
            <a:spAutoFit/>
          </a:bodyPr>
          <a:lstStyle/>
          <a:p>
            <a:pPr algn="ctr"/>
            <a:r>
              <a:rPr sz="900" b="0" i="0">
                <a:solidFill>
                  <a:srgbClr val="FFC8DC"/>
                </a:solidFill>
                <a:latin typeface="游ゴシック"/>
                <a:ea typeface="游ゴシック"/>
              </a:rPr>
              <a:t>101.3→</a:t>
            </a:r>
          </a:p>
        </p:txBody>
      </p:sp>
      <p:sp>
        <p:nvSpPr>
          <p:cNvPr id="113" name="Rectangle 112"/>
          <p:cNvSpPr/>
          <p:nvPr/>
        </p:nvSpPr>
        <p:spPr>
          <a:xfrm>
            <a:off x="6035040" y="2871215"/>
            <a:ext cx="5394960" cy="365759"/>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126479" y="2926079"/>
            <a:ext cx="2286000" cy="292608"/>
          </a:xfrm>
          <a:prstGeom prst="rect">
            <a:avLst/>
          </a:prstGeom>
          <a:noFill/>
        </p:spPr>
        <p:txBody>
          <a:bodyPr wrap="square">
            <a:spAutoFit/>
          </a:bodyPr>
          <a:lstStyle/>
          <a:p>
            <a:pPr algn="l"/>
            <a:r>
              <a:rPr sz="1000" b="0" i="0">
                <a:solidFill>
                  <a:srgbClr val="FFC8DC"/>
                </a:solidFill>
                <a:latin typeface="游ゴシック"/>
                <a:ea typeface="游ゴシック"/>
              </a:rPr>
              <a:t>#15 ルールザウェイヴ</a:t>
            </a:r>
          </a:p>
        </p:txBody>
      </p:sp>
      <p:sp>
        <p:nvSpPr>
          <p:cNvPr id="115" name="TextBox 114"/>
          <p:cNvSpPr txBox="1"/>
          <p:nvPr/>
        </p:nvSpPr>
        <p:spPr>
          <a:xfrm>
            <a:off x="8458200" y="2926079"/>
            <a:ext cx="804672" cy="292608"/>
          </a:xfrm>
          <a:prstGeom prst="rect">
            <a:avLst/>
          </a:prstGeom>
          <a:noFill/>
        </p:spPr>
        <p:txBody>
          <a:bodyPr wrap="square">
            <a:spAutoFit/>
          </a:bodyPr>
          <a:lstStyle/>
          <a:p>
            <a:pPr algn="ctr"/>
            <a:r>
              <a:rPr sz="900" b="0" i="0">
                <a:solidFill>
                  <a:srgbClr val="FCD34D"/>
                </a:solidFill>
                <a:latin typeface="游ゴシック"/>
                <a:ea typeface="游ゴシック"/>
              </a:rPr>
              <a:t>27.5%</a:t>
            </a:r>
          </a:p>
        </p:txBody>
      </p:sp>
      <p:sp>
        <p:nvSpPr>
          <p:cNvPr id="116" name="TextBox 115"/>
          <p:cNvSpPr txBox="1"/>
          <p:nvPr/>
        </p:nvSpPr>
        <p:spPr>
          <a:xfrm>
            <a:off x="9281160" y="2926079"/>
            <a:ext cx="804672" cy="292608"/>
          </a:xfrm>
          <a:prstGeom prst="rect">
            <a:avLst/>
          </a:prstGeom>
          <a:noFill/>
        </p:spPr>
        <p:txBody>
          <a:bodyPr wrap="square">
            <a:spAutoFit/>
          </a:bodyPr>
          <a:lstStyle/>
          <a:p>
            <a:pPr algn="ctr"/>
            <a:r>
              <a:rPr sz="900" b="0" i="0">
                <a:solidFill>
                  <a:srgbClr val="10B981"/>
                </a:solidFill>
                <a:latin typeface="游ゴシック"/>
                <a:ea typeface="游ゴシック"/>
              </a:rPr>
              <a:t>39.7%</a:t>
            </a:r>
          </a:p>
        </p:txBody>
      </p:sp>
      <p:sp>
        <p:nvSpPr>
          <p:cNvPr id="117" name="TextBox 116"/>
          <p:cNvSpPr txBox="1"/>
          <p:nvPr/>
        </p:nvSpPr>
        <p:spPr>
          <a:xfrm>
            <a:off x="10104120" y="2926079"/>
            <a:ext cx="804672" cy="292608"/>
          </a:xfrm>
          <a:prstGeom prst="rect">
            <a:avLst/>
          </a:prstGeom>
          <a:noFill/>
        </p:spPr>
        <p:txBody>
          <a:bodyPr wrap="square">
            <a:spAutoFit/>
          </a:bodyPr>
          <a:lstStyle/>
          <a:p>
            <a:pPr algn="ctr"/>
            <a:r>
              <a:rPr sz="900" b="0" i="0">
                <a:solidFill>
                  <a:srgbClr val="6D28D9"/>
                </a:solidFill>
                <a:latin typeface="游ゴシック"/>
                <a:ea typeface="游ゴシック"/>
              </a:rPr>
              <a:t>0.55</a:t>
            </a:r>
          </a:p>
        </p:txBody>
      </p:sp>
      <p:sp>
        <p:nvSpPr>
          <p:cNvPr id="118" name="TextBox 117"/>
          <p:cNvSpPr txBox="1"/>
          <p:nvPr/>
        </p:nvSpPr>
        <p:spPr>
          <a:xfrm>
            <a:off x="10927080" y="2926079"/>
            <a:ext cx="804672" cy="292608"/>
          </a:xfrm>
          <a:prstGeom prst="rect">
            <a:avLst/>
          </a:prstGeom>
          <a:noFill/>
        </p:spPr>
        <p:txBody>
          <a:bodyPr wrap="square">
            <a:spAutoFit/>
          </a:bodyPr>
          <a:lstStyle/>
          <a:p>
            <a:pPr algn="ctr"/>
            <a:r>
              <a:rPr sz="900" b="0" i="0">
                <a:solidFill>
                  <a:srgbClr val="FFFFFF"/>
                </a:solidFill>
                <a:latin typeface="游ゴシック"/>
                <a:ea typeface="游ゴシック"/>
              </a:rPr>
              <a:t>79.4倍</a:t>
            </a:r>
          </a:p>
        </p:txBody>
      </p:sp>
      <p:sp>
        <p:nvSpPr>
          <p:cNvPr id="119" name="TextBox 118"/>
          <p:cNvSpPr txBox="1"/>
          <p:nvPr/>
        </p:nvSpPr>
        <p:spPr>
          <a:xfrm>
            <a:off x="11750040" y="2926079"/>
            <a:ext cx="804672" cy="292608"/>
          </a:xfrm>
          <a:prstGeom prst="rect">
            <a:avLst/>
          </a:prstGeom>
          <a:noFill/>
        </p:spPr>
        <p:txBody>
          <a:bodyPr wrap="square">
            <a:spAutoFit/>
          </a:bodyPr>
          <a:lstStyle/>
          <a:p>
            <a:pPr algn="ctr"/>
            <a:r>
              <a:rPr sz="900" b="0" i="0">
                <a:solidFill>
                  <a:srgbClr val="FFC8DC"/>
                </a:solidFill>
                <a:latin typeface="游ゴシック"/>
                <a:ea typeface="游ゴシック"/>
              </a:rPr>
              <a:t>79.4→</a:t>
            </a:r>
          </a:p>
        </p:txBody>
      </p:sp>
      <p:sp>
        <p:nvSpPr>
          <p:cNvPr id="120" name="Rectangle 119"/>
          <p:cNvSpPr/>
          <p:nvPr/>
        </p:nvSpPr>
        <p:spPr>
          <a:xfrm>
            <a:off x="6035040" y="3255264"/>
            <a:ext cx="5394960" cy="365759"/>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126479" y="3310128"/>
            <a:ext cx="2286000" cy="292608"/>
          </a:xfrm>
          <a:prstGeom prst="rect">
            <a:avLst/>
          </a:prstGeom>
          <a:noFill/>
        </p:spPr>
        <p:txBody>
          <a:bodyPr wrap="square">
            <a:spAutoFit/>
          </a:bodyPr>
          <a:lstStyle/>
          <a:p>
            <a:pPr algn="l"/>
            <a:r>
              <a:rPr sz="1000" b="0" i="0">
                <a:solidFill>
                  <a:srgbClr val="FFC8DC"/>
                </a:solidFill>
                <a:latin typeface="游ゴシック"/>
                <a:ea typeface="游ゴシック"/>
              </a:rPr>
              <a:t>#16 ビッグカレンルーフ</a:t>
            </a:r>
          </a:p>
        </p:txBody>
      </p:sp>
      <p:sp>
        <p:nvSpPr>
          <p:cNvPr id="122" name="TextBox 121"/>
          <p:cNvSpPr txBox="1"/>
          <p:nvPr/>
        </p:nvSpPr>
        <p:spPr>
          <a:xfrm>
            <a:off x="8458200" y="3310128"/>
            <a:ext cx="804672" cy="292608"/>
          </a:xfrm>
          <a:prstGeom prst="rect">
            <a:avLst/>
          </a:prstGeom>
          <a:noFill/>
        </p:spPr>
        <p:txBody>
          <a:bodyPr wrap="square">
            <a:spAutoFit/>
          </a:bodyPr>
          <a:lstStyle/>
          <a:p>
            <a:pPr algn="ctr"/>
            <a:r>
              <a:rPr sz="900" b="0" i="0">
                <a:solidFill>
                  <a:srgbClr val="FCD34D"/>
                </a:solidFill>
                <a:latin typeface="游ゴシック"/>
                <a:ea typeface="游ゴシック"/>
              </a:rPr>
              <a:t>23.2%</a:t>
            </a:r>
          </a:p>
        </p:txBody>
      </p:sp>
      <p:sp>
        <p:nvSpPr>
          <p:cNvPr id="123" name="TextBox 122"/>
          <p:cNvSpPr txBox="1"/>
          <p:nvPr/>
        </p:nvSpPr>
        <p:spPr>
          <a:xfrm>
            <a:off x="9281160" y="3310128"/>
            <a:ext cx="804672" cy="292608"/>
          </a:xfrm>
          <a:prstGeom prst="rect">
            <a:avLst/>
          </a:prstGeom>
          <a:noFill/>
        </p:spPr>
        <p:txBody>
          <a:bodyPr wrap="square">
            <a:spAutoFit/>
          </a:bodyPr>
          <a:lstStyle/>
          <a:p>
            <a:pPr algn="ctr"/>
            <a:r>
              <a:rPr sz="900" b="0" i="0">
                <a:solidFill>
                  <a:srgbClr val="10B981"/>
                </a:solidFill>
                <a:latin typeface="游ゴシック"/>
                <a:ea typeface="游ゴシック"/>
              </a:rPr>
              <a:t>38.1%</a:t>
            </a:r>
          </a:p>
        </p:txBody>
      </p:sp>
      <p:sp>
        <p:nvSpPr>
          <p:cNvPr id="124" name="TextBox 123"/>
          <p:cNvSpPr txBox="1"/>
          <p:nvPr/>
        </p:nvSpPr>
        <p:spPr>
          <a:xfrm>
            <a:off x="10104120" y="3310128"/>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1.34</a:t>
            </a:r>
          </a:p>
        </p:txBody>
      </p:sp>
      <p:sp>
        <p:nvSpPr>
          <p:cNvPr id="125" name="TextBox 124"/>
          <p:cNvSpPr txBox="1"/>
          <p:nvPr/>
        </p:nvSpPr>
        <p:spPr>
          <a:xfrm>
            <a:off x="10927080" y="3310128"/>
            <a:ext cx="804672" cy="292608"/>
          </a:xfrm>
          <a:prstGeom prst="rect">
            <a:avLst/>
          </a:prstGeom>
          <a:noFill/>
        </p:spPr>
        <p:txBody>
          <a:bodyPr wrap="square">
            <a:spAutoFit/>
          </a:bodyPr>
          <a:lstStyle/>
          <a:p>
            <a:pPr algn="ctr"/>
            <a:r>
              <a:rPr sz="900" b="0" i="0">
                <a:solidFill>
                  <a:srgbClr val="FFFFFF"/>
                </a:solidFill>
                <a:latin typeface="游ゴシック"/>
                <a:ea typeface="游ゴシック"/>
              </a:rPr>
              <a:t>116.5倍</a:t>
            </a:r>
          </a:p>
        </p:txBody>
      </p:sp>
      <p:sp>
        <p:nvSpPr>
          <p:cNvPr id="126" name="TextBox 125"/>
          <p:cNvSpPr txBox="1"/>
          <p:nvPr/>
        </p:nvSpPr>
        <p:spPr>
          <a:xfrm>
            <a:off x="11750040" y="3310128"/>
            <a:ext cx="804672" cy="292608"/>
          </a:xfrm>
          <a:prstGeom prst="rect">
            <a:avLst/>
          </a:prstGeom>
          <a:noFill/>
        </p:spPr>
        <p:txBody>
          <a:bodyPr wrap="square">
            <a:spAutoFit/>
          </a:bodyPr>
          <a:lstStyle/>
          <a:p>
            <a:pPr algn="ctr"/>
            <a:r>
              <a:rPr sz="900" b="0" i="0">
                <a:solidFill>
                  <a:srgbClr val="FFC8DC"/>
                </a:solidFill>
                <a:latin typeface="游ゴシック"/>
                <a:ea typeface="游ゴシック"/>
              </a:rPr>
              <a:t>116.5→</a:t>
            </a:r>
          </a:p>
        </p:txBody>
      </p:sp>
      <p:sp>
        <p:nvSpPr>
          <p:cNvPr id="127" name="Rectangle 126"/>
          <p:cNvSpPr/>
          <p:nvPr/>
        </p:nvSpPr>
        <p:spPr>
          <a:xfrm>
            <a:off x="6035040" y="3639312"/>
            <a:ext cx="5394960" cy="365759"/>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126479" y="3694176"/>
            <a:ext cx="2286000" cy="292608"/>
          </a:xfrm>
          <a:prstGeom prst="rect">
            <a:avLst/>
          </a:prstGeom>
          <a:noFill/>
        </p:spPr>
        <p:txBody>
          <a:bodyPr wrap="square">
            <a:spAutoFit/>
          </a:bodyPr>
          <a:lstStyle/>
          <a:p>
            <a:pPr algn="l"/>
            <a:r>
              <a:rPr sz="1000" b="0" i="0">
                <a:solidFill>
                  <a:srgbClr val="FFC8DC"/>
                </a:solidFill>
                <a:latin typeface="游ゴシック"/>
                <a:ea typeface="游ゴシック"/>
              </a:rPr>
              <a:t>#17 アイニードユー</a:t>
            </a:r>
          </a:p>
        </p:txBody>
      </p:sp>
      <p:sp>
        <p:nvSpPr>
          <p:cNvPr id="129" name="TextBox 128"/>
          <p:cNvSpPr txBox="1"/>
          <p:nvPr/>
        </p:nvSpPr>
        <p:spPr>
          <a:xfrm>
            <a:off x="8458200" y="3694176"/>
            <a:ext cx="804672" cy="292608"/>
          </a:xfrm>
          <a:prstGeom prst="rect">
            <a:avLst/>
          </a:prstGeom>
          <a:noFill/>
        </p:spPr>
        <p:txBody>
          <a:bodyPr wrap="square">
            <a:spAutoFit/>
          </a:bodyPr>
          <a:lstStyle/>
          <a:p>
            <a:pPr algn="ctr"/>
            <a:r>
              <a:rPr sz="900" b="0" i="0">
                <a:solidFill>
                  <a:srgbClr val="FCD34D"/>
                </a:solidFill>
                <a:latin typeface="游ゴシック"/>
                <a:ea typeface="游ゴシック"/>
              </a:rPr>
              <a:t>22.9%</a:t>
            </a:r>
          </a:p>
        </p:txBody>
      </p:sp>
      <p:sp>
        <p:nvSpPr>
          <p:cNvPr id="130" name="TextBox 129"/>
          <p:cNvSpPr txBox="1"/>
          <p:nvPr/>
        </p:nvSpPr>
        <p:spPr>
          <a:xfrm>
            <a:off x="9281160" y="3694176"/>
            <a:ext cx="804672" cy="292608"/>
          </a:xfrm>
          <a:prstGeom prst="rect">
            <a:avLst/>
          </a:prstGeom>
          <a:noFill/>
        </p:spPr>
        <p:txBody>
          <a:bodyPr wrap="square">
            <a:spAutoFit/>
          </a:bodyPr>
          <a:lstStyle/>
          <a:p>
            <a:pPr algn="ctr"/>
            <a:r>
              <a:rPr sz="900" b="0" i="0">
                <a:solidFill>
                  <a:srgbClr val="10B981"/>
                </a:solidFill>
                <a:latin typeface="游ゴシック"/>
                <a:ea typeface="游ゴシック"/>
              </a:rPr>
              <a:t>27.8%</a:t>
            </a:r>
          </a:p>
        </p:txBody>
      </p:sp>
      <p:sp>
        <p:nvSpPr>
          <p:cNvPr id="131" name="TextBox 130"/>
          <p:cNvSpPr txBox="1"/>
          <p:nvPr/>
        </p:nvSpPr>
        <p:spPr>
          <a:xfrm>
            <a:off x="10104120" y="3694176"/>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1.02</a:t>
            </a:r>
          </a:p>
        </p:txBody>
      </p:sp>
      <p:sp>
        <p:nvSpPr>
          <p:cNvPr id="132" name="TextBox 131"/>
          <p:cNvSpPr txBox="1"/>
          <p:nvPr/>
        </p:nvSpPr>
        <p:spPr>
          <a:xfrm>
            <a:off x="10927080" y="3694176"/>
            <a:ext cx="804672" cy="292608"/>
          </a:xfrm>
          <a:prstGeom prst="rect">
            <a:avLst/>
          </a:prstGeom>
          <a:noFill/>
        </p:spPr>
        <p:txBody>
          <a:bodyPr wrap="square">
            <a:spAutoFit/>
          </a:bodyPr>
          <a:lstStyle/>
          <a:p>
            <a:pPr algn="ctr"/>
            <a:r>
              <a:rPr sz="900" b="0" i="0">
                <a:solidFill>
                  <a:srgbClr val="FFFFFF"/>
                </a:solidFill>
                <a:latin typeface="游ゴシック"/>
                <a:ea typeface="游ゴシック"/>
              </a:rPr>
              <a:t>50.7倍</a:t>
            </a:r>
          </a:p>
        </p:txBody>
      </p:sp>
      <p:sp>
        <p:nvSpPr>
          <p:cNvPr id="133" name="TextBox 132"/>
          <p:cNvSpPr txBox="1"/>
          <p:nvPr/>
        </p:nvSpPr>
        <p:spPr>
          <a:xfrm>
            <a:off x="11750040" y="3694176"/>
            <a:ext cx="804672" cy="292608"/>
          </a:xfrm>
          <a:prstGeom prst="rect">
            <a:avLst/>
          </a:prstGeom>
          <a:noFill/>
        </p:spPr>
        <p:txBody>
          <a:bodyPr wrap="square">
            <a:spAutoFit/>
          </a:bodyPr>
          <a:lstStyle/>
          <a:p>
            <a:pPr algn="ctr"/>
            <a:r>
              <a:rPr sz="900" b="0" i="0">
                <a:solidFill>
                  <a:srgbClr val="FFC8DC"/>
                </a:solidFill>
                <a:latin typeface="游ゴシック"/>
                <a:ea typeface="游ゴシック"/>
              </a:rPr>
              <a:t>50.7→</a:t>
            </a:r>
          </a:p>
        </p:txBody>
      </p:sp>
      <p:sp>
        <p:nvSpPr>
          <p:cNvPr id="134" name="Rectangle 133"/>
          <p:cNvSpPr/>
          <p:nvPr/>
        </p:nvSpPr>
        <p:spPr>
          <a:xfrm>
            <a:off x="6035040" y="4023360"/>
            <a:ext cx="5394960" cy="365759"/>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126479" y="4078224"/>
            <a:ext cx="2286000" cy="292608"/>
          </a:xfrm>
          <a:prstGeom prst="rect">
            <a:avLst/>
          </a:prstGeom>
          <a:noFill/>
        </p:spPr>
        <p:txBody>
          <a:bodyPr wrap="square">
            <a:spAutoFit/>
          </a:bodyPr>
          <a:lstStyle/>
          <a:p>
            <a:pPr algn="l"/>
            <a:r>
              <a:rPr sz="1000" b="0" i="0">
                <a:solidFill>
                  <a:srgbClr val="FFC8DC"/>
                </a:solidFill>
                <a:latin typeface="游ゴシック"/>
                <a:ea typeface="游ゴシック"/>
              </a:rPr>
              <a:t>#18 エレガンスアスク</a:t>
            </a:r>
          </a:p>
        </p:txBody>
      </p:sp>
      <p:sp>
        <p:nvSpPr>
          <p:cNvPr id="136" name="TextBox 135"/>
          <p:cNvSpPr txBox="1"/>
          <p:nvPr/>
        </p:nvSpPr>
        <p:spPr>
          <a:xfrm>
            <a:off x="8458200" y="4078224"/>
            <a:ext cx="804672" cy="292608"/>
          </a:xfrm>
          <a:prstGeom prst="rect">
            <a:avLst/>
          </a:prstGeom>
          <a:noFill/>
        </p:spPr>
        <p:txBody>
          <a:bodyPr wrap="square">
            <a:spAutoFit/>
          </a:bodyPr>
          <a:lstStyle/>
          <a:p>
            <a:pPr algn="ctr"/>
            <a:r>
              <a:rPr sz="900" b="0" i="0">
                <a:solidFill>
                  <a:srgbClr val="FCD34D"/>
                </a:solidFill>
                <a:latin typeface="游ゴシック"/>
                <a:ea typeface="游ゴシック"/>
              </a:rPr>
              <a:t>19.4%</a:t>
            </a:r>
          </a:p>
        </p:txBody>
      </p:sp>
      <p:sp>
        <p:nvSpPr>
          <p:cNvPr id="137" name="TextBox 136"/>
          <p:cNvSpPr txBox="1"/>
          <p:nvPr/>
        </p:nvSpPr>
        <p:spPr>
          <a:xfrm>
            <a:off x="9281160" y="4078224"/>
            <a:ext cx="804672" cy="292608"/>
          </a:xfrm>
          <a:prstGeom prst="rect">
            <a:avLst/>
          </a:prstGeom>
          <a:noFill/>
        </p:spPr>
        <p:txBody>
          <a:bodyPr wrap="square">
            <a:spAutoFit/>
          </a:bodyPr>
          <a:lstStyle/>
          <a:p>
            <a:pPr algn="ctr"/>
            <a:r>
              <a:rPr sz="900" b="0" i="0">
                <a:solidFill>
                  <a:srgbClr val="10B981"/>
                </a:solidFill>
                <a:latin typeface="游ゴシック"/>
                <a:ea typeface="游ゴシック"/>
              </a:rPr>
              <a:t>34.4%</a:t>
            </a:r>
          </a:p>
        </p:txBody>
      </p:sp>
      <p:sp>
        <p:nvSpPr>
          <p:cNvPr id="138" name="TextBox 137"/>
          <p:cNvSpPr txBox="1"/>
          <p:nvPr/>
        </p:nvSpPr>
        <p:spPr>
          <a:xfrm>
            <a:off x="10104120" y="4078224"/>
            <a:ext cx="804672" cy="292608"/>
          </a:xfrm>
          <a:prstGeom prst="rect">
            <a:avLst/>
          </a:prstGeom>
          <a:noFill/>
        </p:spPr>
        <p:txBody>
          <a:bodyPr wrap="square">
            <a:spAutoFit/>
          </a:bodyPr>
          <a:lstStyle/>
          <a:p>
            <a:pPr algn="ctr"/>
            <a:r>
              <a:rPr sz="900" b="0" i="0">
                <a:solidFill>
                  <a:srgbClr val="6D28D9"/>
                </a:solidFill>
                <a:latin typeface="游ゴシック"/>
                <a:ea typeface="游ゴシック"/>
              </a:rPr>
              <a:t>1.13</a:t>
            </a:r>
          </a:p>
        </p:txBody>
      </p:sp>
      <p:sp>
        <p:nvSpPr>
          <p:cNvPr id="139" name="TextBox 138"/>
          <p:cNvSpPr txBox="1"/>
          <p:nvPr/>
        </p:nvSpPr>
        <p:spPr>
          <a:xfrm>
            <a:off x="10927080" y="4078224"/>
            <a:ext cx="804672" cy="292608"/>
          </a:xfrm>
          <a:prstGeom prst="rect">
            <a:avLst/>
          </a:prstGeom>
          <a:noFill/>
        </p:spPr>
        <p:txBody>
          <a:bodyPr wrap="square">
            <a:spAutoFit/>
          </a:bodyPr>
          <a:lstStyle/>
          <a:p>
            <a:pPr algn="ctr"/>
            <a:r>
              <a:rPr sz="900" b="0" i="0">
                <a:solidFill>
                  <a:srgbClr val="FFFFFF"/>
                </a:solidFill>
                <a:latin typeface="游ゴシック"/>
                <a:ea typeface="游ゴシック"/>
              </a:rPr>
              <a:t>104.9倍</a:t>
            </a:r>
          </a:p>
        </p:txBody>
      </p:sp>
      <p:sp>
        <p:nvSpPr>
          <p:cNvPr id="140" name="TextBox 139"/>
          <p:cNvSpPr txBox="1"/>
          <p:nvPr/>
        </p:nvSpPr>
        <p:spPr>
          <a:xfrm>
            <a:off x="11750040" y="4078224"/>
            <a:ext cx="804672" cy="292608"/>
          </a:xfrm>
          <a:prstGeom prst="rect">
            <a:avLst/>
          </a:prstGeom>
          <a:noFill/>
        </p:spPr>
        <p:txBody>
          <a:bodyPr wrap="square">
            <a:spAutoFit/>
          </a:bodyPr>
          <a:lstStyle/>
          <a:p>
            <a:pPr algn="ctr"/>
            <a:r>
              <a:rPr sz="900" b="0" i="0">
                <a:solidFill>
                  <a:srgbClr val="FFC8DC"/>
                </a:solidFill>
                <a:latin typeface="游ゴシック"/>
                <a:ea typeface="游ゴシック"/>
              </a:rPr>
              <a:t>104.9→</a:t>
            </a:r>
          </a:p>
        </p:txBody>
      </p:sp>
      <p:sp>
        <p:nvSpPr>
          <p:cNvPr id="141" name="Rectangle 140"/>
          <p:cNvSpPr/>
          <p:nvPr/>
        </p:nvSpPr>
        <p:spPr>
          <a:xfrm>
            <a:off x="6035040" y="4407408"/>
            <a:ext cx="5394960" cy="365759"/>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126479" y="4462272"/>
            <a:ext cx="2286000" cy="292608"/>
          </a:xfrm>
          <a:prstGeom prst="rect">
            <a:avLst/>
          </a:prstGeom>
          <a:noFill/>
        </p:spPr>
        <p:txBody>
          <a:bodyPr wrap="square">
            <a:spAutoFit/>
          </a:bodyPr>
          <a:lstStyle/>
          <a:p>
            <a:pPr algn="l"/>
            <a:r>
              <a:rPr sz="1000" b="0" i="0">
                <a:solidFill>
                  <a:srgbClr val="FFC8DC"/>
                </a:solidFill>
                <a:latin typeface="游ゴシック"/>
                <a:ea typeface="游ゴシック"/>
              </a:rPr>
              <a:t>#19 プレセピオ</a:t>
            </a:r>
          </a:p>
        </p:txBody>
      </p:sp>
      <p:sp>
        <p:nvSpPr>
          <p:cNvPr id="143" name="TextBox 142"/>
          <p:cNvSpPr txBox="1"/>
          <p:nvPr/>
        </p:nvSpPr>
        <p:spPr>
          <a:xfrm>
            <a:off x="8458200" y="4462272"/>
            <a:ext cx="804672" cy="292608"/>
          </a:xfrm>
          <a:prstGeom prst="rect">
            <a:avLst/>
          </a:prstGeom>
          <a:noFill/>
        </p:spPr>
        <p:txBody>
          <a:bodyPr wrap="square">
            <a:spAutoFit/>
          </a:bodyPr>
          <a:lstStyle/>
          <a:p>
            <a:pPr algn="ctr"/>
            <a:r>
              <a:rPr sz="900" b="0" i="0">
                <a:solidFill>
                  <a:srgbClr val="FCD34D"/>
                </a:solidFill>
                <a:latin typeface="游ゴシック"/>
                <a:ea typeface="游ゴシック"/>
              </a:rPr>
              <a:t>17.9%</a:t>
            </a:r>
          </a:p>
        </p:txBody>
      </p:sp>
      <p:sp>
        <p:nvSpPr>
          <p:cNvPr id="144" name="TextBox 143"/>
          <p:cNvSpPr txBox="1"/>
          <p:nvPr/>
        </p:nvSpPr>
        <p:spPr>
          <a:xfrm>
            <a:off x="9281160" y="4462272"/>
            <a:ext cx="804672" cy="292608"/>
          </a:xfrm>
          <a:prstGeom prst="rect">
            <a:avLst/>
          </a:prstGeom>
          <a:noFill/>
        </p:spPr>
        <p:txBody>
          <a:bodyPr wrap="square">
            <a:spAutoFit/>
          </a:bodyPr>
          <a:lstStyle/>
          <a:p>
            <a:pPr algn="ctr"/>
            <a:r>
              <a:rPr sz="900" b="0" i="0">
                <a:solidFill>
                  <a:srgbClr val="10B981"/>
                </a:solidFill>
                <a:latin typeface="游ゴシック"/>
                <a:ea typeface="游ゴシック"/>
              </a:rPr>
              <a:t>32.7%</a:t>
            </a:r>
          </a:p>
        </p:txBody>
      </p:sp>
      <p:sp>
        <p:nvSpPr>
          <p:cNvPr id="145" name="TextBox 144"/>
          <p:cNvSpPr txBox="1"/>
          <p:nvPr/>
        </p:nvSpPr>
        <p:spPr>
          <a:xfrm>
            <a:off x="10104120" y="4462272"/>
            <a:ext cx="804672" cy="292608"/>
          </a:xfrm>
          <a:prstGeom prst="rect">
            <a:avLst/>
          </a:prstGeom>
          <a:noFill/>
        </p:spPr>
        <p:txBody>
          <a:bodyPr wrap="square">
            <a:spAutoFit/>
          </a:bodyPr>
          <a:lstStyle/>
          <a:p>
            <a:pPr algn="ctr"/>
            <a:r>
              <a:rPr sz="900" b="0" i="0">
                <a:solidFill>
                  <a:srgbClr val="6D28D9"/>
                </a:solidFill>
                <a:latin typeface="游ゴシック"/>
                <a:ea typeface="游ゴシック"/>
              </a:rPr>
              <a:t>0.64</a:t>
            </a:r>
          </a:p>
        </p:txBody>
      </p:sp>
      <p:sp>
        <p:nvSpPr>
          <p:cNvPr id="146" name="TextBox 145"/>
          <p:cNvSpPr txBox="1"/>
          <p:nvPr/>
        </p:nvSpPr>
        <p:spPr>
          <a:xfrm>
            <a:off x="10927080" y="4462272"/>
            <a:ext cx="804672" cy="292608"/>
          </a:xfrm>
          <a:prstGeom prst="rect">
            <a:avLst/>
          </a:prstGeom>
          <a:noFill/>
        </p:spPr>
        <p:txBody>
          <a:bodyPr wrap="square">
            <a:spAutoFit/>
          </a:bodyPr>
          <a:lstStyle/>
          <a:p>
            <a:pPr algn="ctr"/>
            <a:r>
              <a:rPr sz="900" b="0" i="0">
                <a:solidFill>
                  <a:srgbClr val="FFFFFF"/>
                </a:solidFill>
                <a:latin typeface="游ゴシック"/>
                <a:ea typeface="游ゴシック"/>
              </a:rPr>
              <a:t>127.7倍</a:t>
            </a:r>
          </a:p>
        </p:txBody>
      </p:sp>
      <p:sp>
        <p:nvSpPr>
          <p:cNvPr id="147" name="TextBox 146"/>
          <p:cNvSpPr txBox="1"/>
          <p:nvPr/>
        </p:nvSpPr>
        <p:spPr>
          <a:xfrm>
            <a:off x="11750040" y="4462272"/>
            <a:ext cx="804672" cy="292608"/>
          </a:xfrm>
          <a:prstGeom prst="rect">
            <a:avLst/>
          </a:prstGeom>
          <a:noFill/>
        </p:spPr>
        <p:txBody>
          <a:bodyPr wrap="square">
            <a:spAutoFit/>
          </a:bodyPr>
          <a:lstStyle/>
          <a:p>
            <a:pPr algn="ctr"/>
            <a:r>
              <a:rPr sz="900" b="0" i="0">
                <a:solidFill>
                  <a:srgbClr val="FFC8DC"/>
                </a:solidFill>
                <a:latin typeface="游ゴシック"/>
                <a:ea typeface="游ゴシック"/>
              </a:rPr>
              <a:t>127.7→</a:t>
            </a:r>
          </a:p>
        </p:txBody>
      </p:sp>
      <p:sp>
        <p:nvSpPr>
          <p:cNvPr id="148" name="Rectangle 147"/>
          <p:cNvSpPr/>
          <p:nvPr/>
        </p:nvSpPr>
        <p:spPr>
          <a:xfrm>
            <a:off x="0" y="6446520"/>
            <a:ext cx="12188952" cy="411480"/>
          </a:xfrm>
          <a:prstGeom prst="rect">
            <a:avLst/>
          </a:prstGeom>
          <a:solidFill>
            <a:srgbClr val="7B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274320" y="6492240"/>
            <a:ext cx="11612880" cy="320040"/>
          </a:xfrm>
          <a:prstGeom prst="rect">
            <a:avLst/>
          </a:prstGeom>
          <a:noFill/>
        </p:spPr>
        <p:txBody>
          <a:bodyPr wrap="square">
            <a:spAutoFit/>
          </a:bodyPr>
          <a:lstStyle/>
          <a:p>
            <a:pPr algn="l"/>
            <a:r>
              <a:rPr sz="1000" b="0" i="0">
                <a:solidFill>
                  <a:srgbClr val="FFB4D2"/>
                </a:solidFill>
                <a:latin typeface="游ゴシック"/>
                <a:ea typeface="游ゴシック"/>
              </a:rPr>
              <a:t>UG競馬 競馬予想チャンネル  ／  桜花賞解析レポート 2026  ———  4/9</a:t>
            </a:r>
          </a:p>
        </p:txBody>
      </p:sp>
      <p:sp>
        <p:nvSpPr>
          <p:cNvPr id="150" name="TextBox 149"/>
          <p:cNvSpPr txBox="1"/>
          <p:nvPr/>
        </p:nvSpPr>
        <p:spPr>
          <a:xfrm>
            <a:off x="9418320" y="6473952"/>
            <a:ext cx="2560320" cy="347472"/>
          </a:xfrm>
          <a:prstGeom prst="rect">
            <a:avLst/>
          </a:prstGeom>
          <a:noFill/>
        </p:spPr>
        <p:txBody>
          <a:bodyPr wrap="square">
            <a:spAutoFit/>
          </a:bodyPr>
          <a:lstStyle/>
          <a:p>
            <a:pPr algn="r"/>
            <a:r>
              <a:rPr sz="1200" b="1" i="0">
                <a:solidFill>
                  <a:srgbClr val="FCD34D"/>
                </a:solidFill>
                <a:latin typeface="游ゴシック"/>
                <a:ea typeface="游ゴシック"/>
              </a:rPr>
              <a:t>無料公開 ここまで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208"/>
        </a:solidFill>
        <a:effectLst/>
      </p:bgPr>
    </p:bg>
    <p:spTree>
      <p:nvGrpSpPr>
        <p:cNvPr id="1" name=""/>
        <p:cNvGrpSpPr/>
        <p:nvPr/>
      </p:nvGrpSpPr>
      <p:grpSpPr/>
      <p:sp>
        <p:nvSpPr>
          <p:cNvPr id="2" name="Rectangle 1"/>
          <p:cNvSpPr/>
          <p:nvPr/>
        </p:nvSpPr>
        <p:spPr>
          <a:xfrm>
            <a:off x="0" y="0"/>
            <a:ext cx="12188952" cy="3474720"/>
          </a:xfrm>
          <a:prstGeom prst="rect">
            <a:avLst/>
          </a:prstGeom>
          <a:solidFill>
            <a:srgbClr val="1A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731752" y="0"/>
            <a:ext cx="457200" cy="6858000"/>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88952" cy="73152"/>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12188952" cy="73152"/>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0" y="502920"/>
            <a:ext cx="3959352" cy="502920"/>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0" y="502920"/>
            <a:ext cx="3959352" cy="502920"/>
          </a:xfrm>
          <a:prstGeom prst="rect">
            <a:avLst/>
          </a:prstGeom>
          <a:noFill/>
        </p:spPr>
        <p:txBody>
          <a:bodyPr wrap="square">
            <a:spAutoFit/>
          </a:bodyPr>
          <a:lstStyle/>
          <a:p>
            <a:pPr algn="ctr"/>
            <a:r>
              <a:rPr sz="1400" b="1" i="0">
                <a:solidFill>
                  <a:srgbClr val="FFFFFF"/>
                </a:solidFill>
                <a:latin typeface="游ゴシック"/>
                <a:ea typeface="游ゴシック"/>
              </a:rPr>
              <a:t>◆  無料公開はここまで  ◆</a:t>
            </a:r>
          </a:p>
        </p:txBody>
      </p:sp>
      <p:sp>
        <p:nvSpPr>
          <p:cNvPr id="9" name="TextBox 8"/>
          <p:cNvSpPr txBox="1"/>
          <p:nvPr/>
        </p:nvSpPr>
        <p:spPr>
          <a:xfrm>
            <a:off x="640080" y="1234440"/>
            <a:ext cx="10908792" cy="1280160"/>
          </a:xfrm>
          <a:prstGeom prst="rect">
            <a:avLst/>
          </a:prstGeom>
          <a:noFill/>
        </p:spPr>
        <p:txBody>
          <a:bodyPr wrap="square">
            <a:spAutoFit/>
          </a:bodyPr>
          <a:lstStyle/>
          <a:p>
            <a:pPr algn="ctr"/>
            <a:r>
              <a:rPr sz="7200" b="1" i="0">
                <a:solidFill>
                  <a:srgbClr val="FFFFFF"/>
                </a:solidFill>
                <a:latin typeface="游明朝"/>
                <a:ea typeface="游明朝"/>
              </a:rPr>
              <a:t>続きは...</a:t>
            </a:r>
          </a:p>
        </p:txBody>
      </p:sp>
      <p:sp>
        <p:nvSpPr>
          <p:cNvPr id="10" name="Rectangle 9"/>
          <p:cNvSpPr/>
          <p:nvPr/>
        </p:nvSpPr>
        <p:spPr>
          <a:xfrm>
            <a:off x="1097280" y="2834640"/>
            <a:ext cx="9994392" cy="73152"/>
          </a:xfrm>
          <a:prstGeom prst="rect">
            <a:avLst/>
          </a:prstGeom>
          <a:solidFill>
            <a:srgbClr val="64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999232"/>
            <a:ext cx="9994392" cy="685800"/>
          </a:xfrm>
          <a:prstGeom prst="rect">
            <a:avLst/>
          </a:prstGeom>
          <a:noFill/>
        </p:spPr>
        <p:txBody>
          <a:bodyPr wrap="square">
            <a:spAutoFit/>
          </a:bodyPr>
          <a:lstStyle/>
          <a:p>
            <a:pPr algn="ctr"/>
            <a:r>
              <a:rPr sz="2800" b="1" i="0">
                <a:solidFill>
                  <a:srgbClr val="FCD34D"/>
                </a:solidFill>
                <a:latin typeface="游明朝"/>
                <a:ea typeface="游明朝"/>
              </a:rPr>
              <a:t>有料メンバーシップ限定公開</a:t>
            </a:r>
          </a:p>
        </p:txBody>
      </p:sp>
      <p:sp>
        <p:nvSpPr>
          <p:cNvPr id="12" name="Rectangle 11"/>
          <p:cNvSpPr/>
          <p:nvPr/>
        </p:nvSpPr>
        <p:spPr>
          <a:xfrm>
            <a:off x="2286000" y="3822191"/>
            <a:ext cx="7616952" cy="402336"/>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0" y="3822191"/>
            <a:ext cx="54864" cy="402336"/>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8880" y="3877055"/>
            <a:ext cx="7223760" cy="292608"/>
          </a:xfrm>
          <a:prstGeom prst="rect">
            <a:avLst/>
          </a:prstGeom>
          <a:noFill/>
        </p:spPr>
        <p:txBody>
          <a:bodyPr wrap="square">
            <a:spAutoFit/>
          </a:bodyPr>
          <a:lstStyle/>
          <a:p>
            <a:pPr algn="l"/>
            <a:r>
              <a:rPr sz="1400" b="0" i="0">
                <a:solidFill>
                  <a:srgbClr val="FFFFFF"/>
                </a:solidFill>
                <a:latin typeface="游ゴシック"/>
                <a:ea typeface="游ゴシック"/>
              </a:rPr>
              <a:t>▶ 主役馬・対抗馬 完全詳細分析</a:t>
            </a:r>
          </a:p>
        </p:txBody>
      </p:sp>
      <p:sp>
        <p:nvSpPr>
          <p:cNvPr id="15" name="Rectangle 14"/>
          <p:cNvSpPr/>
          <p:nvPr/>
        </p:nvSpPr>
        <p:spPr>
          <a:xfrm>
            <a:off x="2286000" y="4297679"/>
            <a:ext cx="7616952" cy="402336"/>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4297679"/>
            <a:ext cx="54864" cy="402336"/>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4352543"/>
            <a:ext cx="7223760" cy="292608"/>
          </a:xfrm>
          <a:prstGeom prst="rect">
            <a:avLst/>
          </a:prstGeom>
          <a:noFill/>
        </p:spPr>
        <p:txBody>
          <a:bodyPr wrap="square">
            <a:spAutoFit/>
          </a:bodyPr>
          <a:lstStyle/>
          <a:p>
            <a:pPr algn="l"/>
            <a:r>
              <a:rPr sz="1400" b="0" i="0">
                <a:solidFill>
                  <a:srgbClr val="FFFFFF"/>
                </a:solidFill>
                <a:latin typeface="游ゴシック"/>
                <a:ea typeface="游ゴシック"/>
              </a:rPr>
              <a:t>▶ 穴馬3頭の詳細ファクター解説</a:t>
            </a:r>
          </a:p>
        </p:txBody>
      </p:sp>
      <p:sp>
        <p:nvSpPr>
          <p:cNvPr id="18" name="Rectangle 17"/>
          <p:cNvSpPr/>
          <p:nvPr/>
        </p:nvSpPr>
        <p:spPr>
          <a:xfrm>
            <a:off x="2286000" y="4773168"/>
            <a:ext cx="7616952" cy="402336"/>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86000" y="4773168"/>
            <a:ext cx="54864" cy="402336"/>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68880" y="4828031"/>
            <a:ext cx="7223760" cy="292608"/>
          </a:xfrm>
          <a:prstGeom prst="rect">
            <a:avLst/>
          </a:prstGeom>
          <a:noFill/>
        </p:spPr>
        <p:txBody>
          <a:bodyPr wrap="square">
            <a:spAutoFit/>
          </a:bodyPr>
          <a:lstStyle/>
          <a:p>
            <a:pPr algn="l"/>
            <a:r>
              <a:rPr sz="1400" b="0" i="0">
                <a:solidFill>
                  <a:srgbClr val="FFFFFF"/>
                </a:solidFill>
                <a:latin typeface="游ゴシック"/>
                <a:ea typeface="游ゴシック"/>
              </a:rPr>
              <a:t>▶ 完全買い目提案（単勝〜3連単まで）</a:t>
            </a:r>
          </a:p>
        </p:txBody>
      </p:sp>
      <p:sp>
        <p:nvSpPr>
          <p:cNvPr id="21" name="Rectangle 20"/>
          <p:cNvSpPr/>
          <p:nvPr/>
        </p:nvSpPr>
        <p:spPr>
          <a:xfrm>
            <a:off x="2743200" y="5715000"/>
            <a:ext cx="6702552" cy="594360"/>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0" y="5715000"/>
            <a:ext cx="6702552" cy="594360"/>
          </a:xfrm>
          <a:prstGeom prst="rect">
            <a:avLst/>
          </a:prstGeom>
          <a:noFill/>
        </p:spPr>
        <p:txBody>
          <a:bodyPr wrap="square">
            <a:spAutoFit/>
          </a:bodyPr>
          <a:lstStyle/>
          <a:p>
            <a:pPr algn="ctr"/>
            <a:r>
              <a:rPr sz="1500" b="1" i="0">
                <a:solidFill>
                  <a:srgbClr val="FFFFFF"/>
                </a:solidFill>
                <a:latin typeface="游ゴシック"/>
                <a:ea typeface="游ゴシック"/>
              </a:rPr>
              <a:t>▶ チャンネル登録・メンバーシップ登録はこちら</a:t>
            </a:r>
          </a:p>
        </p:txBody>
      </p:sp>
      <p:sp>
        <p:nvSpPr>
          <p:cNvPr id="23" name="TextBox 22"/>
          <p:cNvSpPr txBox="1"/>
          <p:nvPr/>
        </p:nvSpPr>
        <p:spPr>
          <a:xfrm>
            <a:off x="640080" y="6400800"/>
            <a:ext cx="10908792" cy="347472"/>
          </a:xfrm>
          <a:prstGeom prst="rect">
            <a:avLst/>
          </a:prstGeom>
          <a:noFill/>
        </p:spPr>
        <p:txBody>
          <a:bodyPr wrap="square">
            <a:spAutoFit/>
          </a:bodyPr>
          <a:lstStyle/>
          <a:p>
            <a:pPr algn="ctr"/>
            <a:r>
              <a:rPr sz="1100" b="0" i="1">
                <a:solidFill>
                  <a:srgbClr val="C896AA"/>
                </a:solidFill>
                <a:latin typeface="游ゴシック"/>
                <a:ea typeface="游ゴシック"/>
              </a:rPr>
              <a:t>[チャンネルURL / QRコードをここに挿入]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081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01168"/>
            <a:ext cx="7315200" cy="548640"/>
          </a:xfrm>
          <a:prstGeom prst="rect">
            <a:avLst/>
          </a:prstGeom>
          <a:noFill/>
        </p:spPr>
        <p:txBody>
          <a:bodyPr wrap="square">
            <a:spAutoFit/>
          </a:bodyPr>
          <a:lstStyle/>
          <a:p>
            <a:pPr algn="l"/>
            <a:r>
              <a:rPr sz="3200" b="1" i="0">
                <a:solidFill>
                  <a:srgbClr val="FCD34D"/>
                </a:solidFill>
                <a:latin typeface="游明朝"/>
                <a:ea typeface="游明朝"/>
              </a:rPr>
              <a:t>主役馬 詳細分析</a:t>
            </a:r>
          </a:p>
        </p:txBody>
      </p:sp>
      <p:sp>
        <p:nvSpPr>
          <p:cNvPr id="4" name="TextBox 3"/>
          <p:cNvSpPr txBox="1"/>
          <p:nvPr/>
        </p:nvSpPr>
        <p:spPr>
          <a:xfrm>
            <a:off x="8229600" y="256032"/>
            <a:ext cx="3749039" cy="411480"/>
          </a:xfrm>
          <a:prstGeom prst="rect">
            <a:avLst/>
          </a:prstGeom>
          <a:noFill/>
        </p:spPr>
        <p:txBody>
          <a:bodyPr wrap="square">
            <a:spAutoFit/>
          </a:bodyPr>
          <a:lstStyle/>
          <a:p>
            <a:pPr algn="r"/>
            <a:r>
              <a:rPr sz="1300" b="1" i="0">
                <a:solidFill>
                  <a:srgbClr val="C01860"/>
                </a:solidFill>
                <a:latin typeface="游ゴシック"/>
                <a:ea typeface="游ゴシック"/>
              </a:rPr>
              <a:t>🔒 メンバーシップ限定</a:t>
            </a:r>
          </a:p>
        </p:txBody>
      </p:sp>
      <p:sp>
        <p:nvSpPr>
          <p:cNvPr id="5" name="Rectangle 4"/>
          <p:cNvSpPr/>
          <p:nvPr/>
        </p:nvSpPr>
        <p:spPr>
          <a:xfrm>
            <a:off x="320040" y="822960"/>
            <a:ext cx="11430000" cy="36576"/>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960120"/>
            <a:ext cx="5669280" cy="53492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960120"/>
            <a:ext cx="5669280" cy="594360"/>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 y="1005840"/>
            <a:ext cx="5449824" cy="475488"/>
          </a:xfrm>
          <a:prstGeom prst="rect">
            <a:avLst/>
          </a:prstGeom>
          <a:noFill/>
        </p:spPr>
        <p:txBody>
          <a:bodyPr wrap="square">
            <a:spAutoFit/>
          </a:bodyPr>
          <a:lstStyle/>
          <a:p>
            <a:pPr algn="l"/>
            <a:r>
              <a:rPr sz="1200" b="1" i="0">
                <a:solidFill>
                  <a:srgbClr val="FFFFFF"/>
                </a:solidFill>
                <a:latin typeface="游ゴシック"/>
                <a:ea typeface="游ゴシック"/>
              </a:rPr>
              <a:t>単勝 #1位　4.2倍</a:t>
            </a:r>
          </a:p>
        </p:txBody>
      </p:sp>
      <p:sp>
        <p:nvSpPr>
          <p:cNvPr id="9" name="TextBox 8"/>
          <p:cNvSpPr txBox="1"/>
          <p:nvPr/>
        </p:nvSpPr>
        <p:spPr>
          <a:xfrm>
            <a:off x="429768" y="1627632"/>
            <a:ext cx="5449824" cy="594360"/>
          </a:xfrm>
          <a:prstGeom prst="rect">
            <a:avLst/>
          </a:prstGeom>
          <a:noFill/>
        </p:spPr>
        <p:txBody>
          <a:bodyPr wrap="square">
            <a:spAutoFit/>
          </a:bodyPr>
          <a:lstStyle/>
          <a:p>
            <a:pPr algn="l"/>
            <a:r>
              <a:rPr sz="2400" b="1" i="0">
                <a:solidFill>
                  <a:srgbClr val="FCD34D"/>
                </a:solidFill>
                <a:latin typeface="游明朝"/>
                <a:ea typeface="游明朝"/>
              </a:rPr>
              <a:t>スターアニス</a:t>
            </a:r>
          </a:p>
        </p:txBody>
      </p:sp>
      <p:sp>
        <p:nvSpPr>
          <p:cNvPr id="10" name="TextBox 9"/>
          <p:cNvSpPr txBox="1"/>
          <p:nvPr/>
        </p:nvSpPr>
        <p:spPr>
          <a:xfrm>
            <a:off x="429768" y="2304288"/>
            <a:ext cx="502920" cy="228600"/>
          </a:xfrm>
          <a:prstGeom prst="rect">
            <a:avLst/>
          </a:prstGeom>
          <a:noFill/>
        </p:spPr>
        <p:txBody>
          <a:bodyPr wrap="square">
            <a:spAutoFit/>
          </a:bodyPr>
          <a:lstStyle/>
          <a:p>
            <a:pPr algn="l"/>
            <a:r>
              <a:rPr sz="900" b="0" i="0">
                <a:solidFill>
                  <a:srgbClr val="FCD34D"/>
                </a:solidFill>
                <a:latin typeface="游ゴシック"/>
                <a:ea typeface="游ゴシック"/>
              </a:rPr>
              <a:t>単勝</a:t>
            </a:r>
          </a:p>
        </p:txBody>
      </p:sp>
      <p:sp>
        <p:nvSpPr>
          <p:cNvPr id="11" name="Rectangle 10"/>
          <p:cNvSpPr/>
          <p:nvPr/>
        </p:nvSpPr>
        <p:spPr>
          <a:xfrm>
            <a:off x="960119" y="2331720"/>
            <a:ext cx="3200400" cy="16459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60119" y="2331720"/>
            <a:ext cx="1976717" cy="164592"/>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2304288"/>
            <a:ext cx="548640" cy="228600"/>
          </a:xfrm>
          <a:prstGeom prst="rect">
            <a:avLst/>
          </a:prstGeom>
          <a:noFill/>
        </p:spPr>
        <p:txBody>
          <a:bodyPr wrap="square">
            <a:spAutoFit/>
          </a:bodyPr>
          <a:lstStyle/>
          <a:p>
            <a:pPr algn="l"/>
            <a:r>
              <a:rPr sz="900" b="1" i="0">
                <a:solidFill>
                  <a:srgbClr val="FCD34D"/>
                </a:solidFill>
                <a:latin typeface="游ゴシック"/>
                <a:ea typeface="游ゴシック"/>
              </a:rPr>
              <a:t>61.8%</a:t>
            </a:r>
          </a:p>
        </p:txBody>
      </p:sp>
      <p:sp>
        <p:nvSpPr>
          <p:cNvPr id="14" name="TextBox 13"/>
          <p:cNvSpPr txBox="1"/>
          <p:nvPr/>
        </p:nvSpPr>
        <p:spPr>
          <a:xfrm>
            <a:off x="429768" y="2578608"/>
            <a:ext cx="502920" cy="228600"/>
          </a:xfrm>
          <a:prstGeom prst="rect">
            <a:avLst/>
          </a:prstGeom>
          <a:noFill/>
        </p:spPr>
        <p:txBody>
          <a:bodyPr wrap="square">
            <a:spAutoFit/>
          </a:bodyPr>
          <a:lstStyle/>
          <a:p>
            <a:pPr algn="l"/>
            <a:r>
              <a:rPr sz="900" b="0" i="0">
                <a:solidFill>
                  <a:srgbClr val="10B981"/>
                </a:solidFill>
                <a:latin typeface="游ゴシック"/>
                <a:ea typeface="游ゴシック"/>
              </a:rPr>
              <a:t>複勝</a:t>
            </a:r>
          </a:p>
        </p:txBody>
      </p:sp>
      <p:sp>
        <p:nvSpPr>
          <p:cNvPr id="15" name="Rectangle 14"/>
          <p:cNvSpPr/>
          <p:nvPr/>
        </p:nvSpPr>
        <p:spPr>
          <a:xfrm>
            <a:off x="960119" y="2606040"/>
            <a:ext cx="3200400" cy="16459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0119" y="2606040"/>
            <a:ext cx="1992405" cy="16459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2578608"/>
            <a:ext cx="548640" cy="228600"/>
          </a:xfrm>
          <a:prstGeom prst="rect">
            <a:avLst/>
          </a:prstGeom>
          <a:noFill/>
        </p:spPr>
        <p:txBody>
          <a:bodyPr wrap="square">
            <a:spAutoFit/>
          </a:bodyPr>
          <a:lstStyle/>
          <a:p>
            <a:pPr algn="l"/>
            <a:r>
              <a:rPr sz="900" b="1" i="0">
                <a:solidFill>
                  <a:srgbClr val="10B981"/>
                </a:solidFill>
                <a:latin typeface="游ゴシック"/>
                <a:ea typeface="游ゴシック"/>
              </a:rPr>
              <a:t>62.3%</a:t>
            </a:r>
          </a:p>
        </p:txBody>
      </p:sp>
      <p:sp>
        <p:nvSpPr>
          <p:cNvPr id="18" name="Rectangle 17"/>
          <p:cNvSpPr/>
          <p:nvPr/>
        </p:nvSpPr>
        <p:spPr>
          <a:xfrm>
            <a:off x="429768" y="2852928"/>
            <a:ext cx="5449824" cy="27432"/>
          </a:xfrm>
          <a:prstGeom prst="rect">
            <a:avLst/>
          </a:prstGeom>
          <a:solidFill>
            <a:srgbClr val="501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 y="2926080"/>
            <a:ext cx="5449824" cy="274320"/>
          </a:xfrm>
          <a:prstGeom prst="rect">
            <a:avLst/>
          </a:prstGeom>
          <a:noFill/>
        </p:spPr>
        <p:txBody>
          <a:bodyPr wrap="square">
            <a:spAutoFit/>
          </a:bodyPr>
          <a:lstStyle/>
          <a:p>
            <a:pPr algn="l"/>
            <a:r>
              <a:rPr sz="1000" b="1" i="0">
                <a:solidFill>
                  <a:srgbClr val="FCD34D"/>
                </a:solidFill>
                <a:latin typeface="游ゴシック"/>
                <a:ea typeface="游ゴシック"/>
              </a:rPr>
              <a:t>⭐ 特注ポイント</a:t>
            </a:r>
          </a:p>
        </p:txBody>
      </p:sp>
      <p:sp>
        <p:nvSpPr>
          <p:cNvPr id="20" name="TextBox 19"/>
          <p:cNvSpPr txBox="1"/>
          <p:nvPr/>
        </p:nvSpPr>
        <p:spPr>
          <a:xfrm>
            <a:off x="429768" y="3218688"/>
            <a:ext cx="5449824" cy="777240"/>
          </a:xfrm>
          <a:prstGeom prst="rect">
            <a:avLst/>
          </a:prstGeom>
          <a:noFill/>
        </p:spPr>
        <p:txBody>
          <a:bodyPr wrap="square">
            <a:spAutoFit/>
          </a:bodyPr>
          <a:lstStyle/>
          <a:p>
            <a:pPr algn="l"/>
            <a:r>
              <a:rPr sz="900" b="0" i="1">
                <a:solidFill>
                  <a:srgbClr val="FFC8DC"/>
                </a:solidFill>
                <a:latin typeface="游ゴシック"/>
                <a:ea typeface="游ゴシック"/>
              </a:rPr>
              <a:t>G1前走1着(阪神JF)→桜花賞連対率100%（ソダシ1着・リバティアイランド1着・アスコリピチェーノ2着・アルマヴェローチェ2着）／ZI最高値132／体重478kgベストゾーン一致</a:t>
            </a:r>
          </a:p>
        </p:txBody>
      </p:sp>
      <p:sp>
        <p:nvSpPr>
          <p:cNvPr id="21" name="TextBox 20"/>
          <p:cNvSpPr txBox="1"/>
          <p:nvPr/>
        </p:nvSpPr>
        <p:spPr>
          <a:xfrm>
            <a:off x="429768" y="4041648"/>
            <a:ext cx="5449824" cy="274320"/>
          </a:xfrm>
          <a:prstGeom prst="rect">
            <a:avLst/>
          </a:prstGeom>
          <a:noFill/>
        </p:spPr>
        <p:txBody>
          <a:bodyPr wrap="square">
            <a:spAutoFit/>
          </a:bodyPr>
          <a:lstStyle/>
          <a:p>
            <a:pPr algn="l"/>
            <a:r>
              <a:rPr sz="1000" b="1" i="0">
                <a:solidFill>
                  <a:srgbClr val="C01860"/>
                </a:solidFill>
                <a:latin typeface="游ゴシック"/>
                <a:ea typeface="游ゴシック"/>
              </a:rPr>
              <a:t>▍ 騎手コメント</a:t>
            </a:r>
          </a:p>
        </p:txBody>
      </p:sp>
      <p:sp>
        <p:nvSpPr>
          <p:cNvPr id="22" name="TextBox 21"/>
          <p:cNvSpPr txBox="1"/>
          <p:nvPr/>
        </p:nvSpPr>
        <p:spPr>
          <a:xfrm>
            <a:off x="429768" y="4315968"/>
            <a:ext cx="5449824" cy="685800"/>
          </a:xfrm>
          <a:prstGeom prst="rect">
            <a:avLst/>
          </a:prstGeom>
          <a:noFill/>
        </p:spPr>
        <p:txBody>
          <a:bodyPr wrap="square">
            <a:spAutoFit/>
          </a:bodyPr>
          <a:lstStyle/>
          <a:p>
            <a:pPr algn="l"/>
            <a:r>
              <a:rPr sz="800" b="0" i="0">
                <a:solidFill>
                  <a:srgbClr val="FFC8DC"/>
                </a:solidFill>
                <a:latin typeface="游ゴシック"/>
                <a:ea typeface="游ゴシック"/>
              </a:rPr>
              <a:t>1600mへの距離延長にも余裕で対応し、追い出しを我慢できるほどの手応えで押し切った。フットワークが大きく外に出して脚を使わせるのが最適だが、それができれば桜花…</a:t>
            </a:r>
          </a:p>
        </p:txBody>
      </p:sp>
      <p:sp>
        <p:nvSpPr>
          <p:cNvPr id="23" name="TextBox 22"/>
          <p:cNvSpPr txBox="1"/>
          <p:nvPr/>
        </p:nvSpPr>
        <p:spPr>
          <a:xfrm>
            <a:off x="429768" y="5047488"/>
            <a:ext cx="5449824" cy="256032"/>
          </a:xfrm>
          <a:prstGeom prst="rect">
            <a:avLst/>
          </a:prstGeom>
          <a:noFill/>
        </p:spPr>
        <p:txBody>
          <a:bodyPr wrap="square">
            <a:spAutoFit/>
          </a:bodyPr>
          <a:lstStyle/>
          <a:p>
            <a:pPr algn="l"/>
            <a:r>
              <a:rPr sz="1000" b="1" i="0">
                <a:solidFill>
                  <a:srgbClr val="8BC34A"/>
                </a:solidFill>
                <a:latin typeface="游ゴシック"/>
                <a:ea typeface="游ゴシック"/>
              </a:rPr>
              <a:t>▍ 調教</a:t>
            </a:r>
          </a:p>
        </p:txBody>
      </p:sp>
      <p:sp>
        <p:nvSpPr>
          <p:cNvPr id="24" name="TextBox 23"/>
          <p:cNvSpPr txBox="1"/>
          <p:nvPr/>
        </p:nvSpPr>
        <p:spPr>
          <a:xfrm>
            <a:off x="429768" y="5303520"/>
            <a:ext cx="5449824" cy="594360"/>
          </a:xfrm>
          <a:prstGeom prst="rect">
            <a:avLst/>
          </a:prstGeom>
          <a:noFill/>
        </p:spPr>
        <p:txBody>
          <a:bodyPr wrap="square">
            <a:spAutoFit/>
          </a:bodyPr>
          <a:lstStyle/>
          <a:p>
            <a:pPr algn="l"/>
            <a:r>
              <a:rPr sz="800" b="0" i="0">
                <a:solidFill>
                  <a:srgbClr val="FFC8DC"/>
                </a:solidFill>
                <a:latin typeface="游ゴシック"/>
                <a:ea typeface="游ゴシック"/>
              </a:rPr>
              <a:t>栗東坂路でスピード感と力強さが同居する稀な内容。馬体に程よい丸みと張り感。ぶっつけ本番にもかかわらず仕上がり不安ゼロ。陣営も「かなりいい状態…</a:t>
            </a:r>
          </a:p>
        </p:txBody>
      </p:sp>
      <p:sp>
        <p:nvSpPr>
          <p:cNvPr id="25" name="Rounded Rectangle 24"/>
          <p:cNvSpPr/>
          <p:nvPr/>
        </p:nvSpPr>
        <p:spPr>
          <a:xfrm>
            <a:off x="6263640" y="960120"/>
            <a:ext cx="5669280" cy="53492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960120"/>
            <a:ext cx="5669280" cy="594360"/>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73368" y="1005840"/>
            <a:ext cx="5449824" cy="475488"/>
          </a:xfrm>
          <a:prstGeom prst="rect">
            <a:avLst/>
          </a:prstGeom>
          <a:noFill/>
        </p:spPr>
        <p:txBody>
          <a:bodyPr wrap="square">
            <a:spAutoFit/>
          </a:bodyPr>
          <a:lstStyle/>
          <a:p>
            <a:pPr algn="l"/>
            <a:r>
              <a:rPr sz="1200" b="1" i="0">
                <a:solidFill>
                  <a:srgbClr val="FFFFFF"/>
                </a:solidFill>
                <a:latin typeface="游ゴシック"/>
                <a:ea typeface="游ゴシック"/>
              </a:rPr>
              <a:t>単勝 #2位　5.9倍</a:t>
            </a:r>
          </a:p>
        </p:txBody>
      </p:sp>
      <p:sp>
        <p:nvSpPr>
          <p:cNvPr id="28" name="TextBox 27"/>
          <p:cNvSpPr txBox="1"/>
          <p:nvPr/>
        </p:nvSpPr>
        <p:spPr>
          <a:xfrm>
            <a:off x="6373368" y="1627632"/>
            <a:ext cx="5449824" cy="594360"/>
          </a:xfrm>
          <a:prstGeom prst="rect">
            <a:avLst/>
          </a:prstGeom>
          <a:noFill/>
        </p:spPr>
        <p:txBody>
          <a:bodyPr wrap="square">
            <a:spAutoFit/>
          </a:bodyPr>
          <a:lstStyle/>
          <a:p>
            <a:pPr algn="l"/>
            <a:r>
              <a:rPr sz="2400" b="1" i="0">
                <a:solidFill>
                  <a:srgbClr val="FCD34D"/>
                </a:solidFill>
                <a:latin typeface="游明朝"/>
                <a:ea typeface="游明朝"/>
              </a:rPr>
              <a:t>アランカール</a:t>
            </a:r>
          </a:p>
        </p:txBody>
      </p:sp>
      <p:sp>
        <p:nvSpPr>
          <p:cNvPr id="29" name="TextBox 28"/>
          <p:cNvSpPr txBox="1"/>
          <p:nvPr/>
        </p:nvSpPr>
        <p:spPr>
          <a:xfrm>
            <a:off x="6373368" y="2304288"/>
            <a:ext cx="502920" cy="228600"/>
          </a:xfrm>
          <a:prstGeom prst="rect">
            <a:avLst/>
          </a:prstGeom>
          <a:noFill/>
        </p:spPr>
        <p:txBody>
          <a:bodyPr wrap="square">
            <a:spAutoFit/>
          </a:bodyPr>
          <a:lstStyle/>
          <a:p>
            <a:pPr algn="l"/>
            <a:r>
              <a:rPr sz="900" b="0" i="0">
                <a:solidFill>
                  <a:srgbClr val="FCD34D"/>
                </a:solidFill>
                <a:latin typeface="游ゴシック"/>
                <a:ea typeface="游ゴシック"/>
              </a:rPr>
              <a:t>単勝</a:t>
            </a:r>
          </a:p>
        </p:txBody>
      </p:sp>
      <p:sp>
        <p:nvSpPr>
          <p:cNvPr id="30" name="Rectangle 29"/>
          <p:cNvSpPr/>
          <p:nvPr/>
        </p:nvSpPr>
        <p:spPr>
          <a:xfrm>
            <a:off x="6903720" y="2331720"/>
            <a:ext cx="3200400" cy="16459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03720" y="2331720"/>
            <a:ext cx="1678641" cy="164592"/>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49840" y="2304288"/>
            <a:ext cx="548640" cy="228600"/>
          </a:xfrm>
          <a:prstGeom prst="rect">
            <a:avLst/>
          </a:prstGeom>
          <a:noFill/>
        </p:spPr>
        <p:txBody>
          <a:bodyPr wrap="square">
            <a:spAutoFit/>
          </a:bodyPr>
          <a:lstStyle/>
          <a:p>
            <a:pPr algn="l"/>
            <a:r>
              <a:rPr sz="900" b="1" i="0">
                <a:solidFill>
                  <a:srgbClr val="FCD34D"/>
                </a:solidFill>
                <a:latin typeface="游ゴシック"/>
                <a:ea typeface="游ゴシック"/>
              </a:rPr>
              <a:t>52.5%</a:t>
            </a:r>
          </a:p>
        </p:txBody>
      </p:sp>
      <p:sp>
        <p:nvSpPr>
          <p:cNvPr id="33" name="TextBox 32"/>
          <p:cNvSpPr txBox="1"/>
          <p:nvPr/>
        </p:nvSpPr>
        <p:spPr>
          <a:xfrm>
            <a:off x="6373368" y="2578608"/>
            <a:ext cx="502920" cy="228600"/>
          </a:xfrm>
          <a:prstGeom prst="rect">
            <a:avLst/>
          </a:prstGeom>
          <a:noFill/>
        </p:spPr>
        <p:txBody>
          <a:bodyPr wrap="square">
            <a:spAutoFit/>
          </a:bodyPr>
          <a:lstStyle/>
          <a:p>
            <a:pPr algn="l"/>
            <a:r>
              <a:rPr sz="900" b="0" i="0">
                <a:solidFill>
                  <a:srgbClr val="10B981"/>
                </a:solidFill>
                <a:latin typeface="游ゴシック"/>
                <a:ea typeface="游ゴシック"/>
              </a:rPr>
              <a:t>複勝</a:t>
            </a:r>
          </a:p>
        </p:txBody>
      </p:sp>
      <p:sp>
        <p:nvSpPr>
          <p:cNvPr id="34" name="Rectangle 33"/>
          <p:cNvSpPr/>
          <p:nvPr/>
        </p:nvSpPr>
        <p:spPr>
          <a:xfrm>
            <a:off x="6903720" y="2606040"/>
            <a:ext cx="3200400" cy="164592"/>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03720" y="2606040"/>
            <a:ext cx="1992405" cy="16459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49840" y="2578608"/>
            <a:ext cx="548640" cy="228600"/>
          </a:xfrm>
          <a:prstGeom prst="rect">
            <a:avLst/>
          </a:prstGeom>
          <a:noFill/>
        </p:spPr>
        <p:txBody>
          <a:bodyPr wrap="square">
            <a:spAutoFit/>
          </a:bodyPr>
          <a:lstStyle/>
          <a:p>
            <a:pPr algn="l"/>
            <a:r>
              <a:rPr sz="900" b="1" i="0">
                <a:solidFill>
                  <a:srgbClr val="10B981"/>
                </a:solidFill>
                <a:latin typeface="游ゴシック"/>
                <a:ea typeface="游ゴシック"/>
              </a:rPr>
              <a:t>62.3%</a:t>
            </a:r>
          </a:p>
        </p:txBody>
      </p:sp>
      <p:sp>
        <p:nvSpPr>
          <p:cNvPr id="37" name="Rectangle 36"/>
          <p:cNvSpPr/>
          <p:nvPr/>
        </p:nvSpPr>
        <p:spPr>
          <a:xfrm>
            <a:off x="6373368" y="2852928"/>
            <a:ext cx="5449824" cy="27432"/>
          </a:xfrm>
          <a:prstGeom prst="rect">
            <a:avLst/>
          </a:prstGeom>
          <a:solidFill>
            <a:srgbClr val="501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3368" y="4041648"/>
            <a:ext cx="5449824" cy="274320"/>
          </a:xfrm>
          <a:prstGeom prst="rect">
            <a:avLst/>
          </a:prstGeom>
          <a:noFill/>
        </p:spPr>
        <p:txBody>
          <a:bodyPr wrap="square">
            <a:spAutoFit/>
          </a:bodyPr>
          <a:lstStyle/>
          <a:p>
            <a:pPr algn="l"/>
            <a:r>
              <a:rPr sz="1000" b="1" i="0">
                <a:solidFill>
                  <a:srgbClr val="C01860"/>
                </a:solidFill>
                <a:latin typeface="游ゴシック"/>
                <a:ea typeface="游ゴシック"/>
              </a:rPr>
              <a:t>▍ 騎手コメント</a:t>
            </a:r>
          </a:p>
        </p:txBody>
      </p:sp>
      <p:sp>
        <p:nvSpPr>
          <p:cNvPr id="39" name="TextBox 38"/>
          <p:cNvSpPr txBox="1"/>
          <p:nvPr/>
        </p:nvSpPr>
        <p:spPr>
          <a:xfrm>
            <a:off x="6373368" y="4315968"/>
            <a:ext cx="5449824" cy="685800"/>
          </a:xfrm>
          <a:prstGeom prst="rect">
            <a:avLst/>
          </a:prstGeom>
          <a:noFill/>
        </p:spPr>
        <p:txBody>
          <a:bodyPr wrap="square">
            <a:spAutoFit/>
          </a:bodyPr>
          <a:lstStyle/>
          <a:p>
            <a:pPr algn="l"/>
            <a:r>
              <a:rPr sz="800" b="0" i="0">
                <a:solidFill>
                  <a:srgbClr val="FFC8DC"/>
                </a:solidFill>
                <a:latin typeface="游ゴシック"/>
                <a:ea typeface="游ゴシック"/>
              </a:rPr>
              <a:t>スローペースで難しい競馬を強いられながらも、終いはしっかり伸びてきた。勝ち馬との差はあるが、流れが向けば末脚の切れ味は上位通用のレベルにある。しがらき帰りのリフ…</a:t>
            </a:r>
          </a:p>
        </p:txBody>
      </p:sp>
      <p:sp>
        <p:nvSpPr>
          <p:cNvPr id="40" name="TextBox 39"/>
          <p:cNvSpPr txBox="1"/>
          <p:nvPr/>
        </p:nvSpPr>
        <p:spPr>
          <a:xfrm>
            <a:off x="6373368" y="5047488"/>
            <a:ext cx="5449824" cy="256032"/>
          </a:xfrm>
          <a:prstGeom prst="rect">
            <a:avLst/>
          </a:prstGeom>
          <a:noFill/>
        </p:spPr>
        <p:txBody>
          <a:bodyPr wrap="square">
            <a:spAutoFit/>
          </a:bodyPr>
          <a:lstStyle/>
          <a:p>
            <a:pPr algn="l"/>
            <a:r>
              <a:rPr sz="1000" b="1" i="0">
                <a:solidFill>
                  <a:srgbClr val="8BC34A"/>
                </a:solidFill>
                <a:latin typeface="游ゴシック"/>
                <a:ea typeface="游ゴシック"/>
              </a:rPr>
              <a:t>▍ 調教</a:t>
            </a:r>
          </a:p>
        </p:txBody>
      </p:sp>
      <p:sp>
        <p:nvSpPr>
          <p:cNvPr id="41" name="TextBox 40"/>
          <p:cNvSpPr txBox="1"/>
          <p:nvPr/>
        </p:nvSpPr>
        <p:spPr>
          <a:xfrm>
            <a:off x="6373368" y="5303520"/>
            <a:ext cx="5449824" cy="594360"/>
          </a:xfrm>
          <a:prstGeom prst="rect">
            <a:avLst/>
          </a:prstGeom>
          <a:noFill/>
        </p:spPr>
        <p:txBody>
          <a:bodyPr wrap="square">
            <a:spAutoFit/>
          </a:bodyPr>
          <a:lstStyle/>
          <a:p>
            <a:pPr algn="l"/>
            <a:r>
              <a:rPr sz="800" b="0" i="0">
                <a:solidFill>
                  <a:srgbClr val="FFC8DC"/>
                </a:solidFill>
                <a:latin typeface="游ゴシック"/>
                <a:ea typeface="游ゴシック"/>
              </a:rPr>
              <a:t>栗東CWで細身だが芯がしっかり。追走して同入と元気いっぱい。近走で最も落ち着きを感じる好印象。陣営は「中身は前走より上がってきている」と手応…</a:t>
            </a:r>
          </a:p>
        </p:txBody>
      </p:sp>
      <p:sp>
        <p:nvSpPr>
          <p:cNvPr id="42" name="Rectangle 41"/>
          <p:cNvSpPr/>
          <p:nvPr/>
        </p:nvSpPr>
        <p:spPr>
          <a:xfrm>
            <a:off x="0" y="6446520"/>
            <a:ext cx="12188952" cy="411480"/>
          </a:xfrm>
          <a:prstGeom prst="rect">
            <a:avLst/>
          </a:prstGeom>
          <a:solidFill>
            <a:srgbClr val="7B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 y="6492240"/>
            <a:ext cx="11612880" cy="320040"/>
          </a:xfrm>
          <a:prstGeom prst="rect">
            <a:avLst/>
          </a:prstGeom>
          <a:noFill/>
        </p:spPr>
        <p:txBody>
          <a:bodyPr wrap="square">
            <a:spAutoFit/>
          </a:bodyPr>
          <a:lstStyle/>
          <a:p>
            <a:pPr algn="l"/>
            <a:r>
              <a:rPr sz="1000" b="0" i="0">
                <a:solidFill>
                  <a:srgbClr val="FFB4D2"/>
                </a:solidFill>
                <a:latin typeface="游ゴシック"/>
                <a:ea typeface="游ゴシック"/>
              </a:rPr>
              <a:t>UG競馬 競馬予想チャンネル  ／  桜花賞解析レポート 2026  ———  6/9  🔒</a:t>
            </a:r>
          </a:p>
        </p:txBody>
      </p:sp>
      <p:sp>
        <p:nvSpPr>
          <p:cNvPr id="44" name="TextBox 43"/>
          <p:cNvSpPr txBox="1"/>
          <p:nvPr/>
        </p:nvSpPr>
        <p:spPr>
          <a:xfrm>
            <a:off x="9875520" y="6473952"/>
            <a:ext cx="2103120" cy="347472"/>
          </a:xfrm>
          <a:prstGeom prst="rect">
            <a:avLst/>
          </a:prstGeom>
          <a:noFill/>
        </p:spPr>
        <p:txBody>
          <a:bodyPr wrap="square">
            <a:spAutoFit/>
          </a:bodyPr>
          <a:lstStyle/>
          <a:p>
            <a:pPr algn="r"/>
            <a:r>
              <a:rPr sz="1200" b="1" i="0">
                <a:solidFill>
                  <a:srgbClr val="FCD34D"/>
                </a:solidFill>
                <a:latin typeface="游ゴシック"/>
                <a:ea typeface="游ゴシック"/>
              </a:rPr>
              <a:t>有料限定</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081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01168"/>
            <a:ext cx="8229600" cy="548640"/>
          </a:xfrm>
          <a:prstGeom prst="rect">
            <a:avLst/>
          </a:prstGeom>
          <a:noFill/>
        </p:spPr>
        <p:txBody>
          <a:bodyPr wrap="square">
            <a:spAutoFit/>
          </a:bodyPr>
          <a:lstStyle/>
          <a:p>
            <a:pPr algn="l"/>
            <a:r>
              <a:rPr sz="3000" b="1" i="0">
                <a:solidFill>
                  <a:srgbClr val="10B981"/>
                </a:solidFill>
                <a:latin typeface="游明朝"/>
                <a:ea typeface="游明朝"/>
              </a:rPr>
              <a:t>対抗馬・注意馬 詳細分析</a:t>
            </a:r>
          </a:p>
        </p:txBody>
      </p:sp>
      <p:sp>
        <p:nvSpPr>
          <p:cNvPr id="4" name="TextBox 3"/>
          <p:cNvSpPr txBox="1"/>
          <p:nvPr/>
        </p:nvSpPr>
        <p:spPr>
          <a:xfrm>
            <a:off x="8229600" y="256032"/>
            <a:ext cx="3749039" cy="411480"/>
          </a:xfrm>
          <a:prstGeom prst="rect">
            <a:avLst/>
          </a:prstGeom>
          <a:noFill/>
        </p:spPr>
        <p:txBody>
          <a:bodyPr wrap="square">
            <a:spAutoFit/>
          </a:bodyPr>
          <a:lstStyle/>
          <a:p>
            <a:pPr algn="r"/>
            <a:r>
              <a:rPr sz="1300" b="1" i="0">
                <a:solidFill>
                  <a:srgbClr val="C01860"/>
                </a:solidFill>
                <a:latin typeface="游ゴシック"/>
                <a:ea typeface="游ゴシック"/>
              </a:rPr>
              <a:t>🔒 メンバーシップ限定</a:t>
            </a:r>
          </a:p>
        </p:txBody>
      </p:sp>
      <p:sp>
        <p:nvSpPr>
          <p:cNvPr id="5" name="Rectangle 4"/>
          <p:cNvSpPr/>
          <p:nvPr/>
        </p:nvSpPr>
        <p:spPr>
          <a:xfrm>
            <a:off x="320040" y="822960"/>
            <a:ext cx="114300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960120"/>
            <a:ext cx="3703320" cy="53492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960120"/>
            <a:ext cx="3703320" cy="502920"/>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960120"/>
            <a:ext cx="3703320" cy="502920"/>
          </a:xfrm>
          <a:prstGeom prst="rect">
            <a:avLst/>
          </a:prstGeom>
          <a:solidFill>
            <a:srgbClr val="045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005840"/>
            <a:ext cx="3520439" cy="384048"/>
          </a:xfrm>
          <a:prstGeom prst="rect">
            <a:avLst/>
          </a:prstGeom>
          <a:noFill/>
        </p:spPr>
        <p:txBody>
          <a:bodyPr wrap="square">
            <a:spAutoFit/>
          </a:bodyPr>
          <a:lstStyle/>
          <a:p>
            <a:pPr algn="l"/>
            <a:r>
              <a:rPr sz="1100" b="1" i="0">
                <a:solidFill>
                  <a:srgbClr val="FFFFFF"/>
                </a:solidFill>
                <a:latin typeface="游ゴシック"/>
                <a:ea typeface="游ゴシック"/>
              </a:rPr>
              <a:t>単勝#3  3.0倍</a:t>
            </a:r>
          </a:p>
        </p:txBody>
      </p:sp>
      <p:sp>
        <p:nvSpPr>
          <p:cNvPr id="10" name="TextBox 9"/>
          <p:cNvSpPr txBox="1"/>
          <p:nvPr/>
        </p:nvSpPr>
        <p:spPr>
          <a:xfrm>
            <a:off x="411479" y="1536192"/>
            <a:ext cx="3520439" cy="530352"/>
          </a:xfrm>
          <a:prstGeom prst="rect">
            <a:avLst/>
          </a:prstGeom>
          <a:noFill/>
        </p:spPr>
        <p:txBody>
          <a:bodyPr wrap="square">
            <a:spAutoFit/>
          </a:bodyPr>
          <a:lstStyle/>
          <a:p>
            <a:pPr algn="l"/>
            <a:r>
              <a:rPr sz="2000" b="1" i="0">
                <a:solidFill>
                  <a:srgbClr val="10B981"/>
                </a:solidFill>
                <a:latin typeface="游明朝"/>
                <a:ea typeface="游明朝"/>
              </a:rPr>
              <a:t>ドリームコア</a:t>
            </a:r>
          </a:p>
        </p:txBody>
      </p:sp>
      <p:sp>
        <p:nvSpPr>
          <p:cNvPr id="11" name="TextBox 10"/>
          <p:cNvSpPr txBox="1"/>
          <p:nvPr/>
        </p:nvSpPr>
        <p:spPr>
          <a:xfrm>
            <a:off x="411479" y="2148840"/>
            <a:ext cx="256032" cy="201168"/>
          </a:xfrm>
          <a:prstGeom prst="rect">
            <a:avLst/>
          </a:prstGeom>
          <a:noFill/>
        </p:spPr>
        <p:txBody>
          <a:bodyPr wrap="square">
            <a:spAutoFit/>
          </a:bodyPr>
          <a:lstStyle/>
          <a:p>
            <a:pPr algn="l"/>
            <a:r>
              <a:rPr sz="800" b="0" i="0">
                <a:solidFill>
                  <a:srgbClr val="FCD34D"/>
                </a:solidFill>
                <a:latin typeface="游ゴシック"/>
                <a:ea typeface="游ゴシック"/>
              </a:rPr>
              <a:t>単</a:t>
            </a:r>
          </a:p>
        </p:txBody>
      </p:sp>
      <p:sp>
        <p:nvSpPr>
          <p:cNvPr id="12" name="Rectangle 11"/>
          <p:cNvSpPr/>
          <p:nvPr/>
        </p:nvSpPr>
        <p:spPr>
          <a:xfrm>
            <a:off x="704088" y="2167128"/>
            <a:ext cx="2880360" cy="146304"/>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04088" y="2167128"/>
            <a:ext cx="1392174" cy="146304"/>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148840"/>
            <a:ext cx="384048" cy="201168"/>
          </a:xfrm>
          <a:prstGeom prst="rect">
            <a:avLst/>
          </a:prstGeom>
          <a:noFill/>
        </p:spPr>
        <p:txBody>
          <a:bodyPr wrap="square">
            <a:spAutoFit/>
          </a:bodyPr>
          <a:lstStyle/>
          <a:p>
            <a:pPr algn="r"/>
            <a:r>
              <a:rPr sz="800" b="0" i="0">
                <a:solidFill>
                  <a:srgbClr val="FCD34D"/>
                </a:solidFill>
                <a:latin typeface="游ゴシック"/>
                <a:ea typeface="游ゴシック"/>
              </a:rPr>
              <a:t>48.3%</a:t>
            </a:r>
          </a:p>
        </p:txBody>
      </p:sp>
      <p:sp>
        <p:nvSpPr>
          <p:cNvPr id="15" name="TextBox 14"/>
          <p:cNvSpPr txBox="1"/>
          <p:nvPr/>
        </p:nvSpPr>
        <p:spPr>
          <a:xfrm>
            <a:off x="411479" y="2395728"/>
            <a:ext cx="256032" cy="201168"/>
          </a:xfrm>
          <a:prstGeom prst="rect">
            <a:avLst/>
          </a:prstGeom>
          <a:noFill/>
        </p:spPr>
        <p:txBody>
          <a:bodyPr wrap="square">
            <a:spAutoFit/>
          </a:bodyPr>
          <a:lstStyle/>
          <a:p>
            <a:pPr algn="l"/>
            <a:r>
              <a:rPr sz="800" b="0" i="0">
                <a:solidFill>
                  <a:srgbClr val="10B981"/>
                </a:solidFill>
                <a:latin typeface="游ゴシック"/>
                <a:ea typeface="游ゴシック"/>
              </a:rPr>
              <a:t>複</a:t>
            </a:r>
          </a:p>
        </p:txBody>
      </p:sp>
      <p:sp>
        <p:nvSpPr>
          <p:cNvPr id="16" name="Rectangle 15"/>
          <p:cNvSpPr/>
          <p:nvPr/>
        </p:nvSpPr>
        <p:spPr>
          <a:xfrm>
            <a:off x="704088" y="2414016"/>
            <a:ext cx="2880360" cy="146304"/>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4088" y="2414016"/>
            <a:ext cx="1584198" cy="14630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2395728"/>
            <a:ext cx="384048" cy="201168"/>
          </a:xfrm>
          <a:prstGeom prst="rect">
            <a:avLst/>
          </a:prstGeom>
          <a:noFill/>
        </p:spPr>
        <p:txBody>
          <a:bodyPr wrap="square">
            <a:spAutoFit/>
          </a:bodyPr>
          <a:lstStyle/>
          <a:p>
            <a:pPr algn="r"/>
            <a:r>
              <a:rPr sz="800" b="0" i="0">
                <a:solidFill>
                  <a:srgbClr val="10B981"/>
                </a:solidFill>
                <a:latin typeface="游ゴシック"/>
                <a:ea typeface="游ゴシック"/>
              </a:rPr>
              <a:t>55.0%</a:t>
            </a:r>
          </a:p>
        </p:txBody>
      </p:sp>
      <p:sp>
        <p:nvSpPr>
          <p:cNvPr id="19" name="Rectangle 18"/>
          <p:cNvSpPr/>
          <p:nvPr/>
        </p:nvSpPr>
        <p:spPr>
          <a:xfrm>
            <a:off x="411479" y="2697480"/>
            <a:ext cx="3520439" cy="27432"/>
          </a:xfrm>
          <a:prstGeom prst="rect">
            <a:avLst/>
          </a:prstGeom>
          <a:solidFill>
            <a:srgbClr val="1E4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798064"/>
            <a:ext cx="3520439" cy="640080"/>
          </a:xfrm>
          <a:prstGeom prst="rect">
            <a:avLst/>
          </a:prstGeom>
          <a:noFill/>
        </p:spPr>
        <p:txBody>
          <a:bodyPr wrap="square">
            <a:spAutoFit/>
          </a:bodyPr>
          <a:lstStyle/>
          <a:p>
            <a:pPr algn="l"/>
            <a:r>
              <a:rPr sz="800" b="0" i="1">
                <a:solidFill>
                  <a:srgbClr val="FCD34D"/>
                </a:solidFill>
                <a:latin typeface="游ゴシック"/>
                <a:ea typeface="游ゴシック"/>
              </a:rPr>
              <a:t>⭐ クイーンCG3 1着ローテ→2022スターズオンアース(7番人気1着)の同パターン／ZI=123上位</a:t>
            </a:r>
          </a:p>
        </p:txBody>
      </p:sp>
      <p:sp>
        <p:nvSpPr>
          <p:cNvPr id="21" name="TextBox 20"/>
          <p:cNvSpPr txBox="1"/>
          <p:nvPr/>
        </p:nvSpPr>
        <p:spPr>
          <a:xfrm>
            <a:off x="411479" y="3493008"/>
            <a:ext cx="3520439" cy="1371600"/>
          </a:xfrm>
          <a:prstGeom prst="rect">
            <a:avLst/>
          </a:prstGeom>
          <a:noFill/>
        </p:spPr>
        <p:txBody>
          <a:bodyPr wrap="square">
            <a:spAutoFit/>
          </a:bodyPr>
          <a:lstStyle/>
          <a:p>
            <a:pPr algn="l"/>
            <a:r>
              <a:rPr sz="700" b="0" i="0">
                <a:solidFill>
                  <a:srgbClr val="FFC8DC"/>
                </a:solidFill>
                <a:latin typeface="游ゴシック"/>
                <a:ea typeface="游ゴシック"/>
              </a:rPr>
              <a:t>▍ 道中ずっと手応えが良く、馬群をこじ開けての快勝は内容が濃い。ハミをよく取り元気いっぱいに走れており、今の充実ぶりは本物だ。東京3戦3勝の実績を持ち、阪神外回りの末脚勝負でも瞬発力が炸裂する可能性は十分…</a:t>
            </a:r>
          </a:p>
        </p:txBody>
      </p:sp>
      <p:sp>
        <p:nvSpPr>
          <p:cNvPr id="22" name="TextBox 21"/>
          <p:cNvSpPr txBox="1"/>
          <p:nvPr/>
        </p:nvSpPr>
        <p:spPr>
          <a:xfrm>
            <a:off x="411479" y="4919472"/>
            <a:ext cx="3520439" cy="594360"/>
          </a:xfrm>
          <a:prstGeom prst="rect">
            <a:avLst/>
          </a:prstGeom>
          <a:noFill/>
        </p:spPr>
        <p:txBody>
          <a:bodyPr wrap="square">
            <a:spAutoFit/>
          </a:bodyPr>
          <a:lstStyle/>
          <a:p>
            <a:pPr algn="l"/>
            <a:r>
              <a:rPr sz="700" b="0" i="1">
                <a:solidFill>
                  <a:srgbClr val="C4B5FD"/>
                </a:solidFill>
                <a:latin typeface="游ゴシック"/>
                <a:ea typeface="游ゴシック"/>
              </a:rPr>
              <a:t>🧬 叩き良化型で初戦割引。影響度バランス良好でNearco-Pharosの土台。開花後の堅実味は複勝向き。</a:t>
            </a:r>
          </a:p>
        </p:txBody>
      </p:sp>
      <p:sp>
        <p:nvSpPr>
          <p:cNvPr id="23" name="Rounded Rectangle 22"/>
          <p:cNvSpPr/>
          <p:nvPr/>
        </p:nvSpPr>
        <p:spPr>
          <a:xfrm>
            <a:off x="4224528" y="960120"/>
            <a:ext cx="3703320" cy="53492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24528" y="960120"/>
            <a:ext cx="3703320" cy="502920"/>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24528" y="960120"/>
            <a:ext cx="3703320" cy="502920"/>
          </a:xfrm>
          <a:prstGeom prst="rect">
            <a:avLst/>
          </a:prstGeom>
          <a:solidFill>
            <a:srgbClr val="045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005840"/>
            <a:ext cx="3520439" cy="384048"/>
          </a:xfrm>
          <a:prstGeom prst="rect">
            <a:avLst/>
          </a:prstGeom>
          <a:noFill/>
        </p:spPr>
        <p:txBody>
          <a:bodyPr wrap="square">
            <a:spAutoFit/>
          </a:bodyPr>
          <a:lstStyle/>
          <a:p>
            <a:pPr algn="l"/>
            <a:r>
              <a:rPr sz="1100" b="1" i="0">
                <a:solidFill>
                  <a:srgbClr val="FFFFFF"/>
                </a:solidFill>
                <a:latin typeface="游ゴシック"/>
                <a:ea typeface="游ゴシック"/>
              </a:rPr>
              <a:t>単勝#4  45.5倍</a:t>
            </a:r>
          </a:p>
        </p:txBody>
      </p:sp>
      <p:sp>
        <p:nvSpPr>
          <p:cNvPr id="27" name="TextBox 26"/>
          <p:cNvSpPr txBox="1"/>
          <p:nvPr/>
        </p:nvSpPr>
        <p:spPr>
          <a:xfrm>
            <a:off x="4315968" y="1536192"/>
            <a:ext cx="3520439" cy="530352"/>
          </a:xfrm>
          <a:prstGeom prst="rect">
            <a:avLst/>
          </a:prstGeom>
          <a:noFill/>
        </p:spPr>
        <p:txBody>
          <a:bodyPr wrap="square">
            <a:spAutoFit/>
          </a:bodyPr>
          <a:lstStyle/>
          <a:p>
            <a:pPr algn="l"/>
            <a:r>
              <a:rPr sz="2000" b="1" i="0">
                <a:solidFill>
                  <a:srgbClr val="10B981"/>
                </a:solidFill>
                <a:latin typeface="游明朝"/>
                <a:ea typeface="游明朝"/>
              </a:rPr>
              <a:t>サンアントワーヌ</a:t>
            </a:r>
          </a:p>
        </p:txBody>
      </p:sp>
      <p:sp>
        <p:nvSpPr>
          <p:cNvPr id="28" name="TextBox 27"/>
          <p:cNvSpPr txBox="1"/>
          <p:nvPr/>
        </p:nvSpPr>
        <p:spPr>
          <a:xfrm>
            <a:off x="4315968" y="2148840"/>
            <a:ext cx="256032" cy="201168"/>
          </a:xfrm>
          <a:prstGeom prst="rect">
            <a:avLst/>
          </a:prstGeom>
          <a:noFill/>
        </p:spPr>
        <p:txBody>
          <a:bodyPr wrap="square">
            <a:spAutoFit/>
          </a:bodyPr>
          <a:lstStyle/>
          <a:p>
            <a:pPr algn="l"/>
            <a:r>
              <a:rPr sz="800" b="0" i="0">
                <a:solidFill>
                  <a:srgbClr val="FCD34D"/>
                </a:solidFill>
                <a:latin typeface="游ゴシック"/>
                <a:ea typeface="游ゴシック"/>
              </a:rPr>
              <a:t>単</a:t>
            </a:r>
          </a:p>
        </p:txBody>
      </p:sp>
      <p:sp>
        <p:nvSpPr>
          <p:cNvPr id="29" name="Rectangle 28"/>
          <p:cNvSpPr/>
          <p:nvPr/>
        </p:nvSpPr>
        <p:spPr>
          <a:xfrm>
            <a:off x="4608576" y="2167128"/>
            <a:ext cx="2880360" cy="146304"/>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608576" y="2167128"/>
            <a:ext cx="1365170" cy="146304"/>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16368" y="2148840"/>
            <a:ext cx="384048" cy="201168"/>
          </a:xfrm>
          <a:prstGeom prst="rect">
            <a:avLst/>
          </a:prstGeom>
          <a:noFill/>
        </p:spPr>
        <p:txBody>
          <a:bodyPr wrap="square">
            <a:spAutoFit/>
          </a:bodyPr>
          <a:lstStyle/>
          <a:p>
            <a:pPr algn="r"/>
            <a:r>
              <a:rPr sz="800" b="0" i="0">
                <a:solidFill>
                  <a:srgbClr val="FCD34D"/>
                </a:solidFill>
                <a:latin typeface="游ゴシック"/>
                <a:ea typeface="游ゴシック"/>
              </a:rPr>
              <a:t>47.4%</a:t>
            </a:r>
          </a:p>
        </p:txBody>
      </p:sp>
      <p:sp>
        <p:nvSpPr>
          <p:cNvPr id="32" name="TextBox 31"/>
          <p:cNvSpPr txBox="1"/>
          <p:nvPr/>
        </p:nvSpPr>
        <p:spPr>
          <a:xfrm>
            <a:off x="4315968" y="2395728"/>
            <a:ext cx="256032" cy="201168"/>
          </a:xfrm>
          <a:prstGeom prst="rect">
            <a:avLst/>
          </a:prstGeom>
          <a:noFill/>
        </p:spPr>
        <p:txBody>
          <a:bodyPr wrap="square">
            <a:spAutoFit/>
          </a:bodyPr>
          <a:lstStyle/>
          <a:p>
            <a:pPr algn="l"/>
            <a:r>
              <a:rPr sz="800" b="0" i="0">
                <a:solidFill>
                  <a:srgbClr val="10B981"/>
                </a:solidFill>
                <a:latin typeface="游ゴシック"/>
                <a:ea typeface="游ゴシック"/>
              </a:rPr>
              <a:t>複</a:t>
            </a:r>
          </a:p>
        </p:txBody>
      </p:sp>
      <p:sp>
        <p:nvSpPr>
          <p:cNvPr id="33" name="Rectangle 32"/>
          <p:cNvSpPr/>
          <p:nvPr/>
        </p:nvSpPr>
        <p:spPr>
          <a:xfrm>
            <a:off x="4608576" y="2414016"/>
            <a:ext cx="2880360" cy="146304"/>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08576" y="2414016"/>
            <a:ext cx="1530191" cy="14630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16368" y="2395728"/>
            <a:ext cx="384048" cy="201168"/>
          </a:xfrm>
          <a:prstGeom prst="rect">
            <a:avLst/>
          </a:prstGeom>
          <a:noFill/>
        </p:spPr>
        <p:txBody>
          <a:bodyPr wrap="square">
            <a:spAutoFit/>
          </a:bodyPr>
          <a:lstStyle/>
          <a:p>
            <a:pPr algn="r"/>
            <a:r>
              <a:rPr sz="800" b="0" i="0">
                <a:solidFill>
                  <a:srgbClr val="10B981"/>
                </a:solidFill>
                <a:latin typeface="游ゴシック"/>
                <a:ea typeface="游ゴシック"/>
              </a:rPr>
              <a:t>53.1%</a:t>
            </a:r>
          </a:p>
        </p:txBody>
      </p:sp>
      <p:sp>
        <p:nvSpPr>
          <p:cNvPr id="36" name="Rectangle 35"/>
          <p:cNvSpPr/>
          <p:nvPr/>
        </p:nvSpPr>
        <p:spPr>
          <a:xfrm>
            <a:off x="4315968" y="2697480"/>
            <a:ext cx="3520439" cy="27432"/>
          </a:xfrm>
          <a:prstGeom prst="rect">
            <a:avLst/>
          </a:prstGeom>
          <a:solidFill>
            <a:srgbClr val="1E4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15968" y="3493008"/>
            <a:ext cx="3520439" cy="1371600"/>
          </a:xfrm>
          <a:prstGeom prst="rect">
            <a:avLst/>
          </a:prstGeom>
          <a:noFill/>
        </p:spPr>
        <p:txBody>
          <a:bodyPr wrap="square">
            <a:spAutoFit/>
          </a:bodyPr>
          <a:lstStyle/>
          <a:p>
            <a:pPr algn="l"/>
            <a:r>
              <a:rPr sz="700" b="0" i="0">
                <a:solidFill>
                  <a:srgbClr val="FFC8DC"/>
                </a:solidFill>
                <a:latin typeface="游ゴシック"/>
                <a:ea typeface="游ゴシック"/>
              </a:rPr>
              <a:t>▍ 雰囲気も立ち回りも申し分ない内容だった。枠順のハンデを跳ね返しての2着であり、馬自身の器用さは本物だ。まだ成長途上にあり、G1の舞台でもスムーズな競馬ができれば台頭の余地は十分にある。…</a:t>
            </a:r>
          </a:p>
        </p:txBody>
      </p:sp>
      <p:sp>
        <p:nvSpPr>
          <p:cNvPr id="38" name="TextBox 37"/>
          <p:cNvSpPr txBox="1"/>
          <p:nvPr/>
        </p:nvSpPr>
        <p:spPr>
          <a:xfrm>
            <a:off x="4315968" y="4919472"/>
            <a:ext cx="3520439" cy="594360"/>
          </a:xfrm>
          <a:prstGeom prst="rect">
            <a:avLst/>
          </a:prstGeom>
          <a:noFill/>
        </p:spPr>
        <p:txBody>
          <a:bodyPr wrap="square">
            <a:spAutoFit/>
          </a:bodyPr>
          <a:lstStyle/>
          <a:p>
            <a:pPr algn="l"/>
            <a:r>
              <a:rPr sz="700" b="0" i="1">
                <a:solidFill>
                  <a:srgbClr val="C4B5FD"/>
                </a:solidFill>
                <a:latin typeface="游ゴシック"/>
                <a:ea typeface="游ゴシック"/>
              </a:rPr>
              <a:t>🧬 「早期や平坦コースなら…」の平坦コース表現が強い減点。底力・成長力に欠け、父内スピード再現も中途半端。</a:t>
            </a:r>
          </a:p>
        </p:txBody>
      </p:sp>
      <p:sp>
        <p:nvSpPr>
          <p:cNvPr id="39" name="Rounded Rectangle 38"/>
          <p:cNvSpPr/>
          <p:nvPr/>
        </p:nvSpPr>
        <p:spPr>
          <a:xfrm>
            <a:off x="8129016" y="960120"/>
            <a:ext cx="3703320" cy="53492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29016" y="960120"/>
            <a:ext cx="3703320" cy="502920"/>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29016" y="960120"/>
            <a:ext cx="3703320" cy="502920"/>
          </a:xfrm>
          <a:prstGeom prst="rect">
            <a:avLst/>
          </a:prstGeom>
          <a:solidFill>
            <a:srgbClr val="045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0456" y="1005840"/>
            <a:ext cx="3520439" cy="384048"/>
          </a:xfrm>
          <a:prstGeom prst="rect">
            <a:avLst/>
          </a:prstGeom>
          <a:noFill/>
        </p:spPr>
        <p:txBody>
          <a:bodyPr wrap="square">
            <a:spAutoFit/>
          </a:bodyPr>
          <a:lstStyle/>
          <a:p>
            <a:pPr algn="l"/>
            <a:r>
              <a:rPr sz="1100" b="1" i="0">
                <a:solidFill>
                  <a:srgbClr val="FFFFFF"/>
                </a:solidFill>
                <a:latin typeface="游ゴシック"/>
                <a:ea typeface="游ゴシック"/>
              </a:rPr>
              <a:t>単勝#5  27.0倍</a:t>
            </a:r>
          </a:p>
        </p:txBody>
      </p:sp>
      <p:sp>
        <p:nvSpPr>
          <p:cNvPr id="43" name="TextBox 42"/>
          <p:cNvSpPr txBox="1"/>
          <p:nvPr/>
        </p:nvSpPr>
        <p:spPr>
          <a:xfrm>
            <a:off x="8220456" y="1536192"/>
            <a:ext cx="3520439" cy="530352"/>
          </a:xfrm>
          <a:prstGeom prst="rect">
            <a:avLst/>
          </a:prstGeom>
          <a:noFill/>
        </p:spPr>
        <p:txBody>
          <a:bodyPr wrap="square">
            <a:spAutoFit/>
          </a:bodyPr>
          <a:lstStyle/>
          <a:p>
            <a:pPr algn="l"/>
            <a:r>
              <a:rPr sz="2000" b="1" i="0">
                <a:solidFill>
                  <a:srgbClr val="10B981"/>
                </a:solidFill>
                <a:latin typeface="游明朝"/>
                <a:ea typeface="游明朝"/>
              </a:rPr>
              <a:t>ナムラコスモス</a:t>
            </a:r>
          </a:p>
        </p:txBody>
      </p:sp>
      <p:sp>
        <p:nvSpPr>
          <p:cNvPr id="44" name="TextBox 43"/>
          <p:cNvSpPr txBox="1"/>
          <p:nvPr/>
        </p:nvSpPr>
        <p:spPr>
          <a:xfrm>
            <a:off x="8220456" y="2148840"/>
            <a:ext cx="256032" cy="201168"/>
          </a:xfrm>
          <a:prstGeom prst="rect">
            <a:avLst/>
          </a:prstGeom>
          <a:noFill/>
        </p:spPr>
        <p:txBody>
          <a:bodyPr wrap="square">
            <a:spAutoFit/>
          </a:bodyPr>
          <a:lstStyle/>
          <a:p>
            <a:pPr algn="l"/>
            <a:r>
              <a:rPr sz="800" b="0" i="0">
                <a:solidFill>
                  <a:srgbClr val="FCD34D"/>
                </a:solidFill>
                <a:latin typeface="游ゴシック"/>
                <a:ea typeface="游ゴシック"/>
              </a:rPr>
              <a:t>単</a:t>
            </a:r>
          </a:p>
        </p:txBody>
      </p:sp>
      <p:sp>
        <p:nvSpPr>
          <p:cNvPr id="45" name="Rectangle 44"/>
          <p:cNvSpPr/>
          <p:nvPr/>
        </p:nvSpPr>
        <p:spPr>
          <a:xfrm>
            <a:off x="8513064" y="2167128"/>
            <a:ext cx="2880360" cy="146304"/>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513064" y="2167128"/>
            <a:ext cx="1255541" cy="146304"/>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420856" y="2148840"/>
            <a:ext cx="384048" cy="201168"/>
          </a:xfrm>
          <a:prstGeom prst="rect">
            <a:avLst/>
          </a:prstGeom>
          <a:noFill/>
        </p:spPr>
        <p:txBody>
          <a:bodyPr wrap="square">
            <a:spAutoFit/>
          </a:bodyPr>
          <a:lstStyle/>
          <a:p>
            <a:pPr algn="r"/>
            <a:r>
              <a:rPr sz="800" b="0" i="0">
                <a:solidFill>
                  <a:srgbClr val="FCD34D"/>
                </a:solidFill>
                <a:latin typeface="游ゴシック"/>
                <a:ea typeface="游ゴシック"/>
              </a:rPr>
              <a:t>43.6%</a:t>
            </a:r>
          </a:p>
        </p:txBody>
      </p:sp>
      <p:sp>
        <p:nvSpPr>
          <p:cNvPr id="48" name="TextBox 47"/>
          <p:cNvSpPr txBox="1"/>
          <p:nvPr/>
        </p:nvSpPr>
        <p:spPr>
          <a:xfrm>
            <a:off x="8220456" y="2395728"/>
            <a:ext cx="256032" cy="201168"/>
          </a:xfrm>
          <a:prstGeom prst="rect">
            <a:avLst/>
          </a:prstGeom>
          <a:noFill/>
        </p:spPr>
        <p:txBody>
          <a:bodyPr wrap="square">
            <a:spAutoFit/>
          </a:bodyPr>
          <a:lstStyle/>
          <a:p>
            <a:pPr algn="l"/>
            <a:r>
              <a:rPr sz="800" b="0" i="0">
                <a:solidFill>
                  <a:srgbClr val="10B981"/>
                </a:solidFill>
                <a:latin typeface="游ゴシック"/>
                <a:ea typeface="游ゴシック"/>
              </a:rPr>
              <a:t>複</a:t>
            </a:r>
          </a:p>
        </p:txBody>
      </p:sp>
      <p:sp>
        <p:nvSpPr>
          <p:cNvPr id="49" name="Rectangle 48"/>
          <p:cNvSpPr/>
          <p:nvPr/>
        </p:nvSpPr>
        <p:spPr>
          <a:xfrm>
            <a:off x="8513064" y="2414016"/>
            <a:ext cx="2880360" cy="146304"/>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513064" y="2414016"/>
            <a:ext cx="1680210" cy="14630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420856" y="2395728"/>
            <a:ext cx="384048" cy="201168"/>
          </a:xfrm>
          <a:prstGeom prst="rect">
            <a:avLst/>
          </a:prstGeom>
          <a:noFill/>
        </p:spPr>
        <p:txBody>
          <a:bodyPr wrap="square">
            <a:spAutoFit/>
          </a:bodyPr>
          <a:lstStyle/>
          <a:p>
            <a:pPr algn="r"/>
            <a:r>
              <a:rPr sz="800" b="0" i="0">
                <a:solidFill>
                  <a:srgbClr val="10B981"/>
                </a:solidFill>
                <a:latin typeface="游ゴシック"/>
                <a:ea typeface="游ゴシック"/>
              </a:rPr>
              <a:t>58.3%</a:t>
            </a:r>
          </a:p>
        </p:txBody>
      </p:sp>
      <p:sp>
        <p:nvSpPr>
          <p:cNvPr id="52" name="Rectangle 51"/>
          <p:cNvSpPr/>
          <p:nvPr/>
        </p:nvSpPr>
        <p:spPr>
          <a:xfrm>
            <a:off x="8220456" y="2697480"/>
            <a:ext cx="3520439" cy="27432"/>
          </a:xfrm>
          <a:prstGeom prst="rect">
            <a:avLst/>
          </a:prstGeom>
          <a:solidFill>
            <a:srgbClr val="1E4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20456" y="3493008"/>
            <a:ext cx="3520439" cy="1371600"/>
          </a:xfrm>
          <a:prstGeom prst="rect">
            <a:avLst/>
          </a:prstGeom>
          <a:noFill/>
        </p:spPr>
        <p:txBody>
          <a:bodyPr wrap="square">
            <a:spAutoFit/>
          </a:bodyPr>
          <a:lstStyle/>
          <a:p>
            <a:pPr algn="l"/>
            <a:r>
              <a:rPr sz="700" b="0" i="0">
                <a:solidFill>
                  <a:srgbClr val="FFC8DC"/>
                </a:solidFill>
                <a:latin typeface="游ゴシック"/>
                <a:ea typeface="游ゴシック"/>
              </a:rPr>
              <a:t>▍ 前に壁を作れない不利な位置取りながらも我慢が利き、ラストはしっかり伸びた。脚をためる形が取れれば着順は変わっていたはずで、今回の折り合い次第では一気に台頭してくる可能性を秘めている。…</a:t>
            </a:r>
          </a:p>
        </p:txBody>
      </p:sp>
      <p:sp>
        <p:nvSpPr>
          <p:cNvPr id="54" name="TextBox 53"/>
          <p:cNvSpPr txBox="1"/>
          <p:nvPr/>
        </p:nvSpPr>
        <p:spPr>
          <a:xfrm>
            <a:off x="8220456" y="4919472"/>
            <a:ext cx="3520439" cy="594360"/>
          </a:xfrm>
          <a:prstGeom prst="rect">
            <a:avLst/>
          </a:prstGeom>
          <a:noFill/>
        </p:spPr>
        <p:txBody>
          <a:bodyPr wrap="square">
            <a:spAutoFit/>
          </a:bodyPr>
          <a:lstStyle/>
          <a:p>
            <a:pPr algn="l"/>
            <a:r>
              <a:rPr sz="700" b="0" i="1">
                <a:solidFill>
                  <a:srgbClr val="C4B5FD"/>
                </a:solidFill>
                <a:latin typeface="游ゴシック"/>
                <a:ea typeface="游ゴシック"/>
              </a:rPr>
              <a:t>🧬 「日本的な素軽さ」「開花は早め」「3歳前半まで有利」3加点。ただし「勝ち味に遅いタイプ」で単勝は一段落とし。</a:t>
            </a:r>
          </a:p>
        </p:txBody>
      </p:sp>
      <p:sp>
        <p:nvSpPr>
          <p:cNvPr id="55" name="Rectangle 54"/>
          <p:cNvSpPr/>
          <p:nvPr/>
        </p:nvSpPr>
        <p:spPr>
          <a:xfrm>
            <a:off x="0" y="6446520"/>
            <a:ext cx="12188952" cy="411480"/>
          </a:xfrm>
          <a:prstGeom prst="rect">
            <a:avLst/>
          </a:prstGeom>
          <a:solidFill>
            <a:srgbClr val="7B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74320" y="6492240"/>
            <a:ext cx="11612880" cy="320040"/>
          </a:xfrm>
          <a:prstGeom prst="rect">
            <a:avLst/>
          </a:prstGeom>
          <a:noFill/>
        </p:spPr>
        <p:txBody>
          <a:bodyPr wrap="square">
            <a:spAutoFit/>
          </a:bodyPr>
          <a:lstStyle/>
          <a:p>
            <a:pPr algn="l"/>
            <a:r>
              <a:rPr sz="1000" b="0" i="0">
                <a:solidFill>
                  <a:srgbClr val="FFB4D2"/>
                </a:solidFill>
                <a:latin typeface="游ゴシック"/>
                <a:ea typeface="游ゴシック"/>
              </a:rPr>
              <a:t>UG競馬 競馬予想チャンネル  ／  桜花賞解析レポート 2026  ———  7/9  🔒</a:t>
            </a:r>
          </a:p>
        </p:txBody>
      </p:sp>
      <p:sp>
        <p:nvSpPr>
          <p:cNvPr id="57" name="TextBox 56"/>
          <p:cNvSpPr txBox="1"/>
          <p:nvPr/>
        </p:nvSpPr>
        <p:spPr>
          <a:xfrm>
            <a:off x="9875520" y="6473952"/>
            <a:ext cx="2103120" cy="347472"/>
          </a:xfrm>
          <a:prstGeom prst="rect">
            <a:avLst/>
          </a:prstGeom>
          <a:noFill/>
        </p:spPr>
        <p:txBody>
          <a:bodyPr wrap="square">
            <a:spAutoFit/>
          </a:bodyPr>
          <a:lstStyle/>
          <a:p>
            <a:pPr algn="r"/>
            <a:r>
              <a:rPr sz="1200" b="1" i="0">
                <a:solidFill>
                  <a:srgbClr val="FCD34D"/>
                </a:solidFill>
                <a:latin typeface="游ゴシック"/>
                <a:ea typeface="游ゴシック"/>
              </a:rPr>
              <a:t>有料限定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081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01168"/>
            <a:ext cx="7315200" cy="548640"/>
          </a:xfrm>
          <a:prstGeom prst="rect">
            <a:avLst/>
          </a:prstGeom>
          <a:noFill/>
        </p:spPr>
        <p:txBody>
          <a:bodyPr wrap="square">
            <a:spAutoFit/>
          </a:bodyPr>
          <a:lstStyle/>
          <a:p>
            <a:pPr algn="l"/>
            <a:r>
              <a:rPr sz="3200" b="1" i="0">
                <a:solidFill>
                  <a:srgbClr val="C4B5FD"/>
                </a:solidFill>
                <a:latin typeface="游明朝"/>
                <a:ea typeface="游明朝"/>
              </a:rPr>
              <a:t>穴馬 詳細分析</a:t>
            </a:r>
          </a:p>
        </p:txBody>
      </p:sp>
      <p:sp>
        <p:nvSpPr>
          <p:cNvPr id="4" name="TextBox 3"/>
          <p:cNvSpPr txBox="1"/>
          <p:nvPr/>
        </p:nvSpPr>
        <p:spPr>
          <a:xfrm>
            <a:off x="8229600" y="256032"/>
            <a:ext cx="3749039" cy="411480"/>
          </a:xfrm>
          <a:prstGeom prst="rect">
            <a:avLst/>
          </a:prstGeom>
          <a:noFill/>
        </p:spPr>
        <p:txBody>
          <a:bodyPr wrap="square">
            <a:spAutoFit/>
          </a:bodyPr>
          <a:lstStyle/>
          <a:p>
            <a:pPr algn="r"/>
            <a:r>
              <a:rPr sz="1300" b="1" i="0">
                <a:solidFill>
                  <a:srgbClr val="C01860"/>
                </a:solidFill>
                <a:latin typeface="游ゴシック"/>
                <a:ea typeface="游ゴシック"/>
              </a:rPr>
              <a:t>🔒 メンバーシップ限定</a:t>
            </a:r>
          </a:p>
        </p:txBody>
      </p:sp>
      <p:sp>
        <p:nvSpPr>
          <p:cNvPr id="5" name="Rectangle 4"/>
          <p:cNvSpPr/>
          <p:nvPr/>
        </p:nvSpPr>
        <p:spPr>
          <a:xfrm>
            <a:off x="320040" y="822960"/>
            <a:ext cx="11430000" cy="3657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960120"/>
            <a:ext cx="3703320" cy="53492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960120"/>
            <a:ext cx="3703320" cy="502920"/>
          </a:xfrm>
          <a:prstGeom prst="rect">
            <a:avLst/>
          </a:prstGeom>
          <a:solidFill>
            <a:srgbClr val="3C1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005840"/>
            <a:ext cx="3520439" cy="384048"/>
          </a:xfrm>
          <a:prstGeom prst="rect">
            <a:avLst/>
          </a:prstGeom>
          <a:noFill/>
        </p:spPr>
        <p:txBody>
          <a:bodyPr wrap="square">
            <a:spAutoFit/>
          </a:bodyPr>
          <a:lstStyle/>
          <a:p>
            <a:pPr algn="l"/>
            <a:r>
              <a:rPr sz="1100" b="1" i="0">
                <a:solidFill>
                  <a:srgbClr val="C4B5FD"/>
                </a:solidFill>
                <a:latin typeface="游ゴシック"/>
                <a:ea typeface="游ゴシック"/>
              </a:rPr>
              <a:t>穴#1  27.7倍  (単#8)</a:t>
            </a:r>
          </a:p>
        </p:txBody>
      </p:sp>
      <p:sp>
        <p:nvSpPr>
          <p:cNvPr id="9" name="TextBox 8"/>
          <p:cNvSpPr txBox="1"/>
          <p:nvPr/>
        </p:nvSpPr>
        <p:spPr>
          <a:xfrm>
            <a:off x="411479" y="1536192"/>
            <a:ext cx="3520439" cy="530352"/>
          </a:xfrm>
          <a:prstGeom prst="rect">
            <a:avLst/>
          </a:prstGeom>
          <a:noFill/>
        </p:spPr>
        <p:txBody>
          <a:bodyPr wrap="square">
            <a:spAutoFit/>
          </a:bodyPr>
          <a:lstStyle/>
          <a:p>
            <a:pPr algn="l"/>
            <a:r>
              <a:rPr sz="2000" b="1" i="0">
                <a:solidFill>
                  <a:srgbClr val="C4B5FD"/>
                </a:solidFill>
                <a:latin typeface="游明朝"/>
                <a:ea typeface="游明朝"/>
              </a:rPr>
              <a:t>ブラックチャリス</a:t>
            </a:r>
          </a:p>
        </p:txBody>
      </p:sp>
      <p:sp>
        <p:nvSpPr>
          <p:cNvPr id="10" name="TextBox 9"/>
          <p:cNvSpPr txBox="1"/>
          <p:nvPr/>
        </p:nvSpPr>
        <p:spPr>
          <a:xfrm>
            <a:off x="411479" y="2139696"/>
            <a:ext cx="3520439" cy="292608"/>
          </a:xfrm>
          <a:prstGeom prst="rect">
            <a:avLst/>
          </a:prstGeom>
          <a:noFill/>
        </p:spPr>
        <p:txBody>
          <a:bodyPr wrap="square">
            <a:spAutoFit/>
          </a:bodyPr>
          <a:lstStyle/>
          <a:p>
            <a:pPr algn="l"/>
            <a:r>
              <a:rPr sz="1100" b="0" i="0">
                <a:solidFill>
                  <a:srgbClr val="6D28D9"/>
                </a:solidFill>
                <a:latin typeface="游ゴシック"/>
                <a:ea typeface="游ゴシック"/>
              </a:rPr>
              <a:t>穴スコア: 1.75pt</a:t>
            </a:r>
          </a:p>
        </p:txBody>
      </p:sp>
      <p:sp>
        <p:nvSpPr>
          <p:cNvPr id="11" name="Rectangle 10"/>
          <p:cNvSpPr/>
          <p:nvPr/>
        </p:nvSpPr>
        <p:spPr>
          <a:xfrm>
            <a:off x="411479" y="2487168"/>
            <a:ext cx="3520439" cy="182880"/>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79" y="2487168"/>
            <a:ext cx="3520439" cy="1828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79" y="2743200"/>
            <a:ext cx="3520439" cy="27432"/>
          </a:xfrm>
          <a:prstGeom prst="rect">
            <a:avLst/>
          </a:prstGeom>
          <a:solidFill>
            <a:srgbClr val="3C1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2834640"/>
            <a:ext cx="3520439" cy="411480"/>
          </a:xfrm>
          <a:prstGeom prst="rect">
            <a:avLst/>
          </a:prstGeom>
          <a:noFill/>
        </p:spPr>
        <p:txBody>
          <a:bodyPr wrap="square">
            <a:spAutoFit/>
          </a:bodyPr>
          <a:lstStyle/>
          <a:p>
            <a:pPr algn="l"/>
            <a:r>
              <a:rPr sz="900" b="1" i="0">
                <a:solidFill>
                  <a:srgbClr val="FCD34D"/>
                </a:solidFill>
                <a:latin typeface="游ゴシック"/>
                <a:ea typeface="游ゴシック"/>
              </a:rPr>
              <a:t>🎯 フェアリーSGIII前走1着+0.8</a:t>
            </a:r>
          </a:p>
        </p:txBody>
      </p:sp>
      <p:sp>
        <p:nvSpPr>
          <p:cNvPr id="15" name="TextBox 14"/>
          <p:cNvSpPr txBox="1"/>
          <p:nvPr/>
        </p:nvSpPr>
        <p:spPr>
          <a:xfrm>
            <a:off x="411479" y="4023360"/>
            <a:ext cx="3520439" cy="1097280"/>
          </a:xfrm>
          <a:prstGeom prst="rect">
            <a:avLst/>
          </a:prstGeom>
          <a:noFill/>
        </p:spPr>
        <p:txBody>
          <a:bodyPr wrap="square">
            <a:spAutoFit/>
          </a:bodyPr>
          <a:lstStyle/>
          <a:p>
            <a:pPr algn="l"/>
            <a:r>
              <a:rPr sz="700" b="0" i="0">
                <a:solidFill>
                  <a:srgbClr val="FFC8DC"/>
                </a:solidFill>
                <a:latin typeface="游ゴシック"/>
                <a:ea typeface="游ゴシック"/>
              </a:rPr>
              <a:t>▍ 1400mまでで使ってきた馬が中山マイルでも好位立ち回りを見せた点は高く評価できる。ラストは苦しくなったが、スタミナ面は今後の成長余地があるとみており、阪神外回りマイルでさらに末脚…</a:t>
            </a:r>
          </a:p>
        </p:txBody>
      </p:sp>
      <p:sp>
        <p:nvSpPr>
          <p:cNvPr id="16" name="TextBox 15"/>
          <p:cNvSpPr txBox="1"/>
          <p:nvPr/>
        </p:nvSpPr>
        <p:spPr>
          <a:xfrm>
            <a:off x="411479" y="5166360"/>
            <a:ext cx="3520439" cy="502920"/>
          </a:xfrm>
          <a:prstGeom prst="rect">
            <a:avLst/>
          </a:prstGeom>
          <a:noFill/>
        </p:spPr>
        <p:txBody>
          <a:bodyPr wrap="square">
            <a:spAutoFit/>
          </a:bodyPr>
          <a:lstStyle/>
          <a:p>
            <a:pPr algn="l"/>
            <a:r>
              <a:rPr sz="700" b="0" i="1">
                <a:solidFill>
                  <a:srgbClr val="C4B5FD"/>
                </a:solidFill>
                <a:latin typeface="游ゴシック"/>
                <a:ea typeface="游ゴシック"/>
              </a:rPr>
              <a:t>🧬 「早期は有利な形態」加点。日本適性○、スピード/スタミナ○。スタミナ核不足は桜花賞では軽微。</a:t>
            </a:r>
          </a:p>
        </p:txBody>
      </p:sp>
      <p:sp>
        <p:nvSpPr>
          <p:cNvPr id="17" name="Rounded Rectangle 16"/>
          <p:cNvSpPr/>
          <p:nvPr/>
        </p:nvSpPr>
        <p:spPr>
          <a:xfrm>
            <a:off x="4224528" y="960120"/>
            <a:ext cx="3703320" cy="53492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24528" y="960120"/>
            <a:ext cx="3703320" cy="502920"/>
          </a:xfrm>
          <a:prstGeom prst="rect">
            <a:avLst/>
          </a:prstGeom>
          <a:solidFill>
            <a:srgbClr val="3C1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15968" y="1005840"/>
            <a:ext cx="3520439" cy="384048"/>
          </a:xfrm>
          <a:prstGeom prst="rect">
            <a:avLst/>
          </a:prstGeom>
          <a:noFill/>
        </p:spPr>
        <p:txBody>
          <a:bodyPr wrap="square">
            <a:spAutoFit/>
          </a:bodyPr>
          <a:lstStyle/>
          <a:p>
            <a:pPr algn="l"/>
            <a:r>
              <a:rPr sz="1100" b="1" i="0">
                <a:solidFill>
                  <a:srgbClr val="C4B5FD"/>
                </a:solidFill>
                <a:latin typeface="游ゴシック"/>
                <a:ea typeface="游ゴシック"/>
              </a:rPr>
              <a:t>穴#2  5.9倍  (単#2)</a:t>
            </a:r>
          </a:p>
        </p:txBody>
      </p:sp>
      <p:sp>
        <p:nvSpPr>
          <p:cNvPr id="20" name="TextBox 19"/>
          <p:cNvSpPr txBox="1"/>
          <p:nvPr/>
        </p:nvSpPr>
        <p:spPr>
          <a:xfrm>
            <a:off x="4315968" y="1536192"/>
            <a:ext cx="3520439" cy="530352"/>
          </a:xfrm>
          <a:prstGeom prst="rect">
            <a:avLst/>
          </a:prstGeom>
          <a:noFill/>
        </p:spPr>
        <p:txBody>
          <a:bodyPr wrap="square">
            <a:spAutoFit/>
          </a:bodyPr>
          <a:lstStyle/>
          <a:p>
            <a:pPr algn="l"/>
            <a:r>
              <a:rPr sz="2000" b="1" i="0">
                <a:solidFill>
                  <a:srgbClr val="C4B5FD"/>
                </a:solidFill>
                <a:latin typeface="游明朝"/>
                <a:ea typeface="游明朝"/>
              </a:rPr>
              <a:t>アランカール</a:t>
            </a:r>
          </a:p>
        </p:txBody>
      </p:sp>
      <p:sp>
        <p:nvSpPr>
          <p:cNvPr id="21" name="TextBox 20"/>
          <p:cNvSpPr txBox="1"/>
          <p:nvPr/>
        </p:nvSpPr>
        <p:spPr>
          <a:xfrm>
            <a:off x="4315968" y="2139696"/>
            <a:ext cx="3520439" cy="292608"/>
          </a:xfrm>
          <a:prstGeom prst="rect">
            <a:avLst/>
          </a:prstGeom>
          <a:noFill/>
        </p:spPr>
        <p:txBody>
          <a:bodyPr wrap="square">
            <a:spAutoFit/>
          </a:bodyPr>
          <a:lstStyle/>
          <a:p>
            <a:pPr algn="l"/>
            <a:r>
              <a:rPr sz="1100" b="0" i="0">
                <a:solidFill>
                  <a:srgbClr val="6D28D9"/>
                </a:solidFill>
                <a:latin typeface="游ゴシック"/>
                <a:ea typeface="游ゴシック"/>
              </a:rPr>
              <a:t>穴スコア: 1.69pt</a:t>
            </a:r>
          </a:p>
        </p:txBody>
      </p:sp>
      <p:sp>
        <p:nvSpPr>
          <p:cNvPr id="22" name="Rectangle 21"/>
          <p:cNvSpPr/>
          <p:nvPr/>
        </p:nvSpPr>
        <p:spPr>
          <a:xfrm>
            <a:off x="4315968" y="2487168"/>
            <a:ext cx="3520439" cy="182880"/>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15968" y="2487168"/>
            <a:ext cx="3401952" cy="1828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15968" y="2743200"/>
            <a:ext cx="3520439" cy="27432"/>
          </a:xfrm>
          <a:prstGeom prst="rect">
            <a:avLst/>
          </a:prstGeom>
          <a:solidFill>
            <a:srgbClr val="3C1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15968" y="2834640"/>
            <a:ext cx="3520439" cy="411480"/>
          </a:xfrm>
          <a:prstGeom prst="rect">
            <a:avLst/>
          </a:prstGeom>
          <a:noFill/>
        </p:spPr>
        <p:txBody>
          <a:bodyPr wrap="square">
            <a:spAutoFit/>
          </a:bodyPr>
          <a:lstStyle/>
          <a:p>
            <a:pPr algn="l"/>
            <a:r>
              <a:rPr sz="900" b="1" i="0">
                <a:solidFill>
                  <a:srgbClr val="FCD34D"/>
                </a:solidFill>
                <a:latin typeface="游ゴシック"/>
                <a:ea typeface="游ゴシック"/>
              </a:rPr>
              <a:t>🎯 チューリップ賞GII経由（過去3頭穴輩出・着順不問）+0.8 / 前走3着（好走加算）+0.3</a:t>
            </a:r>
          </a:p>
        </p:txBody>
      </p:sp>
      <p:sp>
        <p:nvSpPr>
          <p:cNvPr id="26" name="TextBox 25"/>
          <p:cNvSpPr txBox="1"/>
          <p:nvPr/>
        </p:nvSpPr>
        <p:spPr>
          <a:xfrm>
            <a:off x="4315968" y="4023360"/>
            <a:ext cx="3520439" cy="1097280"/>
          </a:xfrm>
          <a:prstGeom prst="rect">
            <a:avLst/>
          </a:prstGeom>
          <a:noFill/>
        </p:spPr>
        <p:txBody>
          <a:bodyPr wrap="square">
            <a:spAutoFit/>
          </a:bodyPr>
          <a:lstStyle/>
          <a:p>
            <a:pPr algn="l"/>
            <a:r>
              <a:rPr sz="700" b="0" i="0">
                <a:solidFill>
                  <a:srgbClr val="FFC8DC"/>
                </a:solidFill>
                <a:latin typeface="游ゴシック"/>
                <a:ea typeface="游ゴシック"/>
              </a:rPr>
              <a:t>▍ スローペースで難しい競馬を強いられながらも、終いはしっかり伸びてきた。勝ち馬との差はあるが、流れが向けば末脚の切れ味は上位通用のレベルにある。しがらき帰りのリフレッシュ効果も加わり…</a:t>
            </a:r>
          </a:p>
        </p:txBody>
      </p:sp>
      <p:sp>
        <p:nvSpPr>
          <p:cNvPr id="27" name="TextBox 26"/>
          <p:cNvSpPr txBox="1"/>
          <p:nvPr/>
        </p:nvSpPr>
        <p:spPr>
          <a:xfrm>
            <a:off x="4315968" y="5166360"/>
            <a:ext cx="3520439" cy="502920"/>
          </a:xfrm>
          <a:prstGeom prst="rect">
            <a:avLst/>
          </a:prstGeom>
          <a:noFill/>
        </p:spPr>
        <p:txBody>
          <a:bodyPr wrap="square">
            <a:spAutoFit/>
          </a:bodyPr>
          <a:lstStyle/>
          <a:p>
            <a:pPr algn="l"/>
            <a:r>
              <a:rPr sz="700" b="0" i="1">
                <a:solidFill>
                  <a:srgbClr val="C4B5FD"/>
                </a:solidFill>
                <a:latin typeface="游ゴシック"/>
                <a:ea typeface="游ゴシック"/>
              </a:rPr>
              <a:t>🧬 全体の傾向は悪くなく影響度バランス良。ただし主導・血の集合がやや不明確で3代母内の生かしかた不完全。</a:t>
            </a:r>
          </a:p>
        </p:txBody>
      </p:sp>
      <p:sp>
        <p:nvSpPr>
          <p:cNvPr id="28" name="Rounded Rectangle 27"/>
          <p:cNvSpPr/>
          <p:nvPr/>
        </p:nvSpPr>
        <p:spPr>
          <a:xfrm>
            <a:off x="8129016" y="960120"/>
            <a:ext cx="3703320" cy="5349240"/>
          </a:xfrm>
          <a:prstGeom prst="round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29016" y="960120"/>
            <a:ext cx="3703320" cy="502920"/>
          </a:xfrm>
          <a:prstGeom prst="rect">
            <a:avLst/>
          </a:prstGeom>
          <a:solidFill>
            <a:srgbClr val="3C1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0456" y="1005840"/>
            <a:ext cx="3520439" cy="384048"/>
          </a:xfrm>
          <a:prstGeom prst="rect">
            <a:avLst/>
          </a:prstGeom>
          <a:noFill/>
        </p:spPr>
        <p:txBody>
          <a:bodyPr wrap="square">
            <a:spAutoFit/>
          </a:bodyPr>
          <a:lstStyle/>
          <a:p>
            <a:pPr algn="l"/>
            <a:r>
              <a:rPr sz="1100" b="1" i="0">
                <a:solidFill>
                  <a:srgbClr val="C4B5FD"/>
                </a:solidFill>
                <a:latin typeface="游ゴシック"/>
                <a:ea typeface="游ゴシック"/>
              </a:rPr>
              <a:t>穴#3  18.6倍  (単#7)</a:t>
            </a:r>
          </a:p>
        </p:txBody>
      </p:sp>
      <p:sp>
        <p:nvSpPr>
          <p:cNvPr id="31" name="TextBox 30"/>
          <p:cNvSpPr txBox="1"/>
          <p:nvPr/>
        </p:nvSpPr>
        <p:spPr>
          <a:xfrm>
            <a:off x="8220456" y="1536192"/>
            <a:ext cx="3520439" cy="530352"/>
          </a:xfrm>
          <a:prstGeom prst="rect">
            <a:avLst/>
          </a:prstGeom>
          <a:noFill/>
        </p:spPr>
        <p:txBody>
          <a:bodyPr wrap="square">
            <a:spAutoFit/>
          </a:bodyPr>
          <a:lstStyle/>
          <a:p>
            <a:pPr algn="l"/>
            <a:r>
              <a:rPr sz="2000" b="1" i="0">
                <a:solidFill>
                  <a:srgbClr val="C4B5FD"/>
                </a:solidFill>
                <a:latin typeface="游明朝"/>
                <a:ea typeface="游明朝"/>
              </a:rPr>
              <a:t>ディアダイヤモンド</a:t>
            </a:r>
          </a:p>
        </p:txBody>
      </p:sp>
      <p:sp>
        <p:nvSpPr>
          <p:cNvPr id="32" name="TextBox 31"/>
          <p:cNvSpPr txBox="1"/>
          <p:nvPr/>
        </p:nvSpPr>
        <p:spPr>
          <a:xfrm>
            <a:off x="8220456" y="2139696"/>
            <a:ext cx="3520439" cy="292608"/>
          </a:xfrm>
          <a:prstGeom prst="rect">
            <a:avLst/>
          </a:prstGeom>
          <a:noFill/>
        </p:spPr>
        <p:txBody>
          <a:bodyPr wrap="square">
            <a:spAutoFit/>
          </a:bodyPr>
          <a:lstStyle/>
          <a:p>
            <a:pPr algn="l"/>
            <a:r>
              <a:rPr sz="1100" b="0" i="0">
                <a:solidFill>
                  <a:srgbClr val="6D28D9"/>
                </a:solidFill>
                <a:latin typeface="游ゴシック"/>
                <a:ea typeface="游ゴシック"/>
              </a:rPr>
              <a:t>穴スコア: 1.46pt</a:t>
            </a:r>
          </a:p>
        </p:txBody>
      </p:sp>
      <p:sp>
        <p:nvSpPr>
          <p:cNvPr id="33" name="Rectangle 32"/>
          <p:cNvSpPr/>
          <p:nvPr/>
        </p:nvSpPr>
        <p:spPr>
          <a:xfrm>
            <a:off x="8220456" y="2487168"/>
            <a:ext cx="3520439" cy="182880"/>
          </a:xfrm>
          <a:prstGeom prst="rect">
            <a:avLst/>
          </a:prstGeom>
          <a:solidFill>
            <a:srgbClr val="3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0456" y="2487168"/>
            <a:ext cx="2929408" cy="1828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20456" y="2743200"/>
            <a:ext cx="3520439" cy="27432"/>
          </a:xfrm>
          <a:prstGeom prst="rect">
            <a:avLst/>
          </a:prstGeom>
          <a:solidFill>
            <a:srgbClr val="3C1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0456" y="2834640"/>
            <a:ext cx="3520439" cy="411480"/>
          </a:xfrm>
          <a:prstGeom prst="rect">
            <a:avLst/>
          </a:prstGeom>
          <a:noFill/>
        </p:spPr>
        <p:txBody>
          <a:bodyPr wrap="square">
            <a:spAutoFit/>
          </a:bodyPr>
          <a:lstStyle/>
          <a:p>
            <a:pPr algn="l"/>
            <a:r>
              <a:rPr sz="900" b="1" i="0">
                <a:solidFill>
                  <a:srgbClr val="FCD34D"/>
                </a:solidFill>
                <a:latin typeface="游ゴシック"/>
                <a:ea typeface="游ゴシック"/>
              </a:rPr>
              <a:t>🎯 アネモネ(L)前走1着（ライトバックと同パターン）+1.2</a:t>
            </a:r>
          </a:p>
        </p:txBody>
      </p:sp>
      <p:sp>
        <p:nvSpPr>
          <p:cNvPr id="37" name="TextBox 36"/>
          <p:cNvSpPr txBox="1"/>
          <p:nvPr/>
        </p:nvSpPr>
        <p:spPr>
          <a:xfrm>
            <a:off x="8220456" y="5166360"/>
            <a:ext cx="3520439" cy="502920"/>
          </a:xfrm>
          <a:prstGeom prst="rect">
            <a:avLst/>
          </a:prstGeom>
          <a:noFill/>
        </p:spPr>
        <p:txBody>
          <a:bodyPr wrap="square">
            <a:spAutoFit/>
          </a:bodyPr>
          <a:lstStyle/>
          <a:p>
            <a:pPr algn="l"/>
            <a:r>
              <a:rPr sz="700" b="0" i="1">
                <a:solidFill>
                  <a:srgbClr val="C4B5FD"/>
                </a:solidFill>
                <a:latin typeface="游ゴシック"/>
                <a:ea typeface="游ゴシック"/>
              </a:rPr>
              <a:t>🧬 「抑えて味のあるタイプではなく、勝ち味に遅い面」= 瞬発力勝負マイナス。主導・血の集合が不明確。</a:t>
            </a:r>
          </a:p>
        </p:txBody>
      </p:sp>
      <p:sp>
        <p:nvSpPr>
          <p:cNvPr id="38" name="Rectangle 37"/>
          <p:cNvSpPr/>
          <p:nvPr/>
        </p:nvSpPr>
        <p:spPr>
          <a:xfrm>
            <a:off x="0" y="6446520"/>
            <a:ext cx="12188952" cy="411480"/>
          </a:xfrm>
          <a:prstGeom prst="rect">
            <a:avLst/>
          </a:prstGeom>
          <a:solidFill>
            <a:srgbClr val="7B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6492240"/>
            <a:ext cx="11612880" cy="320040"/>
          </a:xfrm>
          <a:prstGeom prst="rect">
            <a:avLst/>
          </a:prstGeom>
          <a:noFill/>
        </p:spPr>
        <p:txBody>
          <a:bodyPr wrap="square">
            <a:spAutoFit/>
          </a:bodyPr>
          <a:lstStyle/>
          <a:p>
            <a:pPr algn="l"/>
            <a:r>
              <a:rPr sz="1000" b="0" i="0">
                <a:solidFill>
                  <a:srgbClr val="FFB4D2"/>
                </a:solidFill>
                <a:latin typeface="游ゴシック"/>
                <a:ea typeface="游ゴシック"/>
              </a:rPr>
              <a:t>UG競馬 競馬予想チャンネル  ／  桜花賞解析レポート 2026  ———  8/9  🔒</a:t>
            </a:r>
          </a:p>
        </p:txBody>
      </p:sp>
      <p:sp>
        <p:nvSpPr>
          <p:cNvPr id="40" name="TextBox 39"/>
          <p:cNvSpPr txBox="1"/>
          <p:nvPr/>
        </p:nvSpPr>
        <p:spPr>
          <a:xfrm>
            <a:off x="9875520" y="6473952"/>
            <a:ext cx="2103120" cy="347472"/>
          </a:xfrm>
          <a:prstGeom prst="rect">
            <a:avLst/>
          </a:prstGeom>
          <a:noFill/>
        </p:spPr>
        <p:txBody>
          <a:bodyPr wrap="square">
            <a:spAutoFit/>
          </a:bodyPr>
          <a:lstStyle/>
          <a:p>
            <a:pPr algn="r"/>
            <a:r>
              <a:rPr sz="1200" b="1" i="0">
                <a:solidFill>
                  <a:srgbClr val="FCD34D"/>
                </a:solidFill>
                <a:latin typeface="游ゴシック"/>
                <a:ea typeface="游ゴシック"/>
              </a:rPr>
              <a:t>有料限定</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081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01168"/>
            <a:ext cx="6400800" cy="548640"/>
          </a:xfrm>
          <a:prstGeom prst="rect">
            <a:avLst/>
          </a:prstGeom>
          <a:noFill/>
        </p:spPr>
        <p:txBody>
          <a:bodyPr wrap="square">
            <a:spAutoFit/>
          </a:bodyPr>
          <a:lstStyle/>
          <a:p>
            <a:pPr algn="l"/>
            <a:r>
              <a:rPr sz="3200" b="1" i="0">
                <a:solidFill>
                  <a:srgbClr val="FCD34D"/>
                </a:solidFill>
                <a:latin typeface="游明朝"/>
                <a:ea typeface="游明朝"/>
              </a:rPr>
              <a:t>買い目提案</a:t>
            </a:r>
          </a:p>
        </p:txBody>
      </p:sp>
      <p:sp>
        <p:nvSpPr>
          <p:cNvPr id="4" name="TextBox 3"/>
          <p:cNvSpPr txBox="1"/>
          <p:nvPr/>
        </p:nvSpPr>
        <p:spPr>
          <a:xfrm>
            <a:off x="8229600" y="256032"/>
            <a:ext cx="3749039" cy="411480"/>
          </a:xfrm>
          <a:prstGeom prst="rect">
            <a:avLst/>
          </a:prstGeom>
          <a:noFill/>
        </p:spPr>
        <p:txBody>
          <a:bodyPr wrap="square">
            <a:spAutoFit/>
          </a:bodyPr>
          <a:lstStyle/>
          <a:p>
            <a:pPr algn="r"/>
            <a:r>
              <a:rPr sz="1300" b="1" i="0">
                <a:solidFill>
                  <a:srgbClr val="C01860"/>
                </a:solidFill>
                <a:latin typeface="游ゴシック"/>
                <a:ea typeface="游ゴシック"/>
              </a:rPr>
              <a:t>🔒 メンバーシップ限定</a:t>
            </a:r>
          </a:p>
        </p:txBody>
      </p:sp>
      <p:sp>
        <p:nvSpPr>
          <p:cNvPr id="5" name="Rectangle 4"/>
          <p:cNvSpPr/>
          <p:nvPr/>
        </p:nvSpPr>
        <p:spPr>
          <a:xfrm>
            <a:off x="320040" y="822960"/>
            <a:ext cx="11430000" cy="36576"/>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914400"/>
            <a:ext cx="3200400" cy="530352"/>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914400"/>
            <a:ext cx="3200400" cy="530352"/>
          </a:xfrm>
          <a:prstGeom prst="rect">
            <a:avLst/>
          </a:prstGeom>
          <a:noFill/>
        </p:spPr>
        <p:txBody>
          <a:bodyPr wrap="square">
            <a:spAutoFit/>
          </a:bodyPr>
          <a:lstStyle/>
          <a:p>
            <a:pPr algn="ctr"/>
            <a:r>
              <a:rPr sz="2400" b="1" i="0">
                <a:solidFill>
                  <a:srgbClr val="1A0814"/>
                </a:solidFill>
                <a:latin typeface="游明朝"/>
                <a:ea typeface="游明朝"/>
              </a:rPr>
              <a:t>1強戦</a:t>
            </a:r>
          </a:p>
        </p:txBody>
      </p:sp>
      <p:sp>
        <p:nvSpPr>
          <p:cNvPr id="8" name="TextBox 7"/>
          <p:cNvSpPr txBox="1"/>
          <p:nvPr/>
        </p:nvSpPr>
        <p:spPr>
          <a:xfrm>
            <a:off x="3657600" y="1005840"/>
            <a:ext cx="8229600" cy="384048"/>
          </a:xfrm>
          <a:prstGeom prst="rect">
            <a:avLst/>
          </a:prstGeom>
          <a:noFill/>
        </p:spPr>
        <p:txBody>
          <a:bodyPr wrap="square">
            <a:spAutoFit/>
          </a:bodyPr>
          <a:lstStyle/>
          <a:p>
            <a:pPr algn="l"/>
            <a:r>
              <a:rPr sz="1200" b="0" i="0">
                <a:solidFill>
                  <a:srgbClr val="FFC8DC"/>
                </a:solidFill>
                <a:latin typeface="游ゴシック"/>
                <a:ea typeface="游ゴシック"/>
              </a:rPr>
              <a:t>単勝1位：スターアニス / 複勝1位：アランカール / 穴馬1位：ブラックチャリス</a:t>
            </a:r>
          </a:p>
        </p:txBody>
      </p:sp>
      <p:sp>
        <p:nvSpPr>
          <p:cNvPr id="9" name="Rectangle 8"/>
          <p:cNvSpPr/>
          <p:nvPr/>
        </p:nvSpPr>
        <p:spPr>
          <a:xfrm>
            <a:off x="320040" y="1517904"/>
            <a:ext cx="11430000" cy="36576"/>
          </a:xfrm>
          <a:prstGeom prst="rect">
            <a:avLst/>
          </a:prstGeom>
          <a:solidFill>
            <a:srgbClr val="501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664208"/>
            <a:ext cx="11430000" cy="1051560"/>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664208"/>
            <a:ext cx="54864" cy="105156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73936"/>
            <a:ext cx="685800" cy="329184"/>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773936"/>
            <a:ext cx="685800" cy="329184"/>
          </a:xfrm>
          <a:prstGeom prst="rect">
            <a:avLst/>
          </a:prstGeom>
          <a:noFill/>
        </p:spPr>
        <p:txBody>
          <a:bodyPr wrap="square">
            <a:spAutoFit/>
          </a:bodyPr>
          <a:lstStyle/>
          <a:p>
            <a:pPr algn="ctr"/>
            <a:r>
              <a:rPr sz="900" b="1" i="0">
                <a:solidFill>
                  <a:srgbClr val="1A0814"/>
                </a:solidFill>
                <a:latin typeface="游ゴシック"/>
                <a:ea typeface="游ゴシック"/>
              </a:rPr>
              <a:t>必 須</a:t>
            </a:r>
          </a:p>
        </p:txBody>
      </p:sp>
      <p:sp>
        <p:nvSpPr>
          <p:cNvPr id="14" name="Rectangle 13"/>
          <p:cNvSpPr/>
          <p:nvPr/>
        </p:nvSpPr>
        <p:spPr>
          <a:xfrm>
            <a:off x="1170432" y="1773936"/>
            <a:ext cx="868680" cy="329184"/>
          </a:xfrm>
          <a:prstGeom prst="rect">
            <a:avLst/>
          </a:prstGeom>
          <a:solidFill>
            <a:srgbClr val="3C1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 y="1773936"/>
            <a:ext cx="868680" cy="329184"/>
          </a:xfrm>
          <a:prstGeom prst="rect">
            <a:avLst/>
          </a:prstGeom>
          <a:noFill/>
        </p:spPr>
        <p:txBody>
          <a:bodyPr wrap="square">
            <a:spAutoFit/>
          </a:bodyPr>
          <a:lstStyle/>
          <a:p>
            <a:pPr algn="ctr"/>
            <a:r>
              <a:rPr sz="1100" b="1" i="0">
                <a:solidFill>
                  <a:srgbClr val="FCD34D"/>
                </a:solidFill>
                <a:latin typeface="游ゴシック"/>
                <a:ea typeface="游ゴシック"/>
              </a:rPr>
              <a:t>単 勝</a:t>
            </a:r>
          </a:p>
        </p:txBody>
      </p:sp>
      <p:sp>
        <p:nvSpPr>
          <p:cNvPr id="16" name="TextBox 15"/>
          <p:cNvSpPr txBox="1"/>
          <p:nvPr/>
        </p:nvSpPr>
        <p:spPr>
          <a:xfrm>
            <a:off x="2121408" y="1773936"/>
            <a:ext cx="731520" cy="329184"/>
          </a:xfrm>
          <a:prstGeom prst="rect">
            <a:avLst/>
          </a:prstGeom>
          <a:noFill/>
        </p:spPr>
        <p:txBody>
          <a:bodyPr wrap="square">
            <a:spAutoFit/>
          </a:bodyPr>
          <a:lstStyle/>
          <a:p>
            <a:pPr algn="ctr"/>
            <a:r>
              <a:rPr sz="1600" b="1" i="0">
                <a:solidFill>
                  <a:srgbClr val="FFFFFF"/>
                </a:solidFill>
                <a:latin typeface="游ゴシック"/>
                <a:ea typeface="游ゴシック"/>
              </a:rPr>
              <a:t>1点</a:t>
            </a:r>
          </a:p>
        </p:txBody>
      </p:sp>
      <p:sp>
        <p:nvSpPr>
          <p:cNvPr id="17" name="TextBox 16"/>
          <p:cNvSpPr txBox="1"/>
          <p:nvPr/>
        </p:nvSpPr>
        <p:spPr>
          <a:xfrm>
            <a:off x="2926080" y="1755648"/>
            <a:ext cx="7772400" cy="384048"/>
          </a:xfrm>
          <a:prstGeom prst="rect">
            <a:avLst/>
          </a:prstGeom>
          <a:noFill/>
        </p:spPr>
        <p:txBody>
          <a:bodyPr wrap="square">
            <a:spAutoFit/>
          </a:bodyPr>
          <a:lstStyle/>
          <a:p>
            <a:pPr algn="l"/>
            <a:r>
              <a:rPr sz="1200" b="1" i="0">
                <a:solidFill>
                  <a:srgbClr val="FFFFFF"/>
                </a:solidFill>
                <a:latin typeface="游ゴシック"/>
                <a:ea typeface="游ゴシック"/>
              </a:rPr>
              <a:t>スターアニス</a:t>
            </a:r>
          </a:p>
        </p:txBody>
      </p:sp>
      <p:sp>
        <p:nvSpPr>
          <p:cNvPr id="18" name="TextBox 17"/>
          <p:cNvSpPr txBox="1"/>
          <p:nvPr/>
        </p:nvSpPr>
        <p:spPr>
          <a:xfrm>
            <a:off x="2926080" y="2157984"/>
            <a:ext cx="8412480" cy="347472"/>
          </a:xfrm>
          <a:prstGeom prst="rect">
            <a:avLst/>
          </a:prstGeom>
          <a:noFill/>
        </p:spPr>
        <p:txBody>
          <a:bodyPr wrap="square">
            <a:spAutoFit/>
          </a:bodyPr>
          <a:lstStyle/>
          <a:p>
            <a:pPr algn="l"/>
            <a:r>
              <a:rPr sz="900" b="0" i="1">
                <a:solidFill>
                  <a:srgbClr val="FFC8DC"/>
                </a:solidFill>
                <a:latin typeface="游ゴシック"/>
                <a:ea typeface="游ゴシック"/>
              </a:rPr>
              <a:t>単勝ランク1位 固定</a:t>
            </a:r>
          </a:p>
        </p:txBody>
      </p:sp>
      <p:sp>
        <p:nvSpPr>
          <p:cNvPr id="19" name="Rectangle 18"/>
          <p:cNvSpPr/>
          <p:nvPr/>
        </p:nvSpPr>
        <p:spPr>
          <a:xfrm>
            <a:off x="320040" y="2761488"/>
            <a:ext cx="11430000" cy="1051560"/>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2761488"/>
            <a:ext cx="54864" cy="10515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2871216"/>
            <a:ext cx="685800" cy="3291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2871216"/>
            <a:ext cx="685800" cy="329184"/>
          </a:xfrm>
          <a:prstGeom prst="rect">
            <a:avLst/>
          </a:prstGeom>
          <a:noFill/>
        </p:spPr>
        <p:txBody>
          <a:bodyPr wrap="square">
            <a:spAutoFit/>
          </a:bodyPr>
          <a:lstStyle/>
          <a:p>
            <a:pPr algn="ctr"/>
            <a:r>
              <a:rPr sz="900" b="1" i="0">
                <a:solidFill>
                  <a:srgbClr val="1A0814"/>
                </a:solidFill>
                <a:latin typeface="游ゴシック"/>
                <a:ea typeface="游ゴシック"/>
              </a:rPr>
              <a:t>必 須</a:t>
            </a:r>
          </a:p>
        </p:txBody>
      </p:sp>
      <p:sp>
        <p:nvSpPr>
          <p:cNvPr id="23" name="Rectangle 22"/>
          <p:cNvSpPr/>
          <p:nvPr/>
        </p:nvSpPr>
        <p:spPr>
          <a:xfrm>
            <a:off x="1170432" y="2871216"/>
            <a:ext cx="868680" cy="329184"/>
          </a:xfrm>
          <a:prstGeom prst="rect">
            <a:avLst/>
          </a:prstGeom>
          <a:solidFill>
            <a:srgbClr val="3C1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70432" y="2871216"/>
            <a:ext cx="868680" cy="329184"/>
          </a:xfrm>
          <a:prstGeom prst="rect">
            <a:avLst/>
          </a:prstGeom>
          <a:noFill/>
        </p:spPr>
        <p:txBody>
          <a:bodyPr wrap="square">
            <a:spAutoFit/>
          </a:bodyPr>
          <a:lstStyle/>
          <a:p>
            <a:pPr algn="ctr"/>
            <a:r>
              <a:rPr sz="1100" b="1" i="0">
                <a:solidFill>
                  <a:srgbClr val="10B981"/>
                </a:solidFill>
                <a:latin typeface="游ゴシック"/>
                <a:ea typeface="游ゴシック"/>
              </a:rPr>
              <a:t>複 勝</a:t>
            </a:r>
          </a:p>
        </p:txBody>
      </p:sp>
      <p:sp>
        <p:nvSpPr>
          <p:cNvPr id="25" name="TextBox 24"/>
          <p:cNvSpPr txBox="1"/>
          <p:nvPr/>
        </p:nvSpPr>
        <p:spPr>
          <a:xfrm>
            <a:off x="2121408" y="2871216"/>
            <a:ext cx="731520" cy="329184"/>
          </a:xfrm>
          <a:prstGeom prst="rect">
            <a:avLst/>
          </a:prstGeom>
          <a:noFill/>
        </p:spPr>
        <p:txBody>
          <a:bodyPr wrap="square">
            <a:spAutoFit/>
          </a:bodyPr>
          <a:lstStyle/>
          <a:p>
            <a:pPr algn="ctr"/>
            <a:r>
              <a:rPr sz="1600" b="1" i="0">
                <a:solidFill>
                  <a:srgbClr val="FFFFFF"/>
                </a:solidFill>
                <a:latin typeface="游ゴシック"/>
                <a:ea typeface="游ゴシック"/>
              </a:rPr>
              <a:t>2点</a:t>
            </a:r>
          </a:p>
        </p:txBody>
      </p:sp>
      <p:sp>
        <p:nvSpPr>
          <p:cNvPr id="26" name="TextBox 25"/>
          <p:cNvSpPr txBox="1"/>
          <p:nvPr/>
        </p:nvSpPr>
        <p:spPr>
          <a:xfrm>
            <a:off x="2926080" y="2852928"/>
            <a:ext cx="7772400" cy="384048"/>
          </a:xfrm>
          <a:prstGeom prst="rect">
            <a:avLst/>
          </a:prstGeom>
          <a:noFill/>
        </p:spPr>
        <p:txBody>
          <a:bodyPr wrap="square">
            <a:spAutoFit/>
          </a:bodyPr>
          <a:lstStyle/>
          <a:p>
            <a:pPr algn="l"/>
            <a:r>
              <a:rPr sz="1200" b="1" i="0">
                <a:solidFill>
                  <a:srgbClr val="FFFFFF"/>
                </a:solidFill>
                <a:latin typeface="游ゴシック"/>
                <a:ea typeface="游ゴシック"/>
              </a:rPr>
              <a:t>アランカール / ブラックチャリス</a:t>
            </a:r>
          </a:p>
        </p:txBody>
      </p:sp>
      <p:sp>
        <p:nvSpPr>
          <p:cNvPr id="27" name="TextBox 26"/>
          <p:cNvSpPr txBox="1"/>
          <p:nvPr/>
        </p:nvSpPr>
        <p:spPr>
          <a:xfrm>
            <a:off x="2926080" y="3255264"/>
            <a:ext cx="8412480" cy="347472"/>
          </a:xfrm>
          <a:prstGeom prst="rect">
            <a:avLst/>
          </a:prstGeom>
          <a:noFill/>
        </p:spPr>
        <p:txBody>
          <a:bodyPr wrap="square">
            <a:spAutoFit/>
          </a:bodyPr>
          <a:lstStyle/>
          <a:p>
            <a:pPr algn="l"/>
            <a:r>
              <a:rPr sz="900" b="0" i="1">
                <a:solidFill>
                  <a:srgbClr val="FFC8DC"/>
                </a:solidFill>
                <a:latin typeface="游ゴシック"/>
                <a:ea typeface="游ゴシック"/>
              </a:rPr>
              <a:t>複勝1位＋穴馬1位 固定（重複時は繰り下げ）</a:t>
            </a:r>
          </a:p>
        </p:txBody>
      </p:sp>
      <p:sp>
        <p:nvSpPr>
          <p:cNvPr id="28" name="Rectangle 27"/>
          <p:cNvSpPr/>
          <p:nvPr/>
        </p:nvSpPr>
        <p:spPr>
          <a:xfrm>
            <a:off x="320040" y="3858768"/>
            <a:ext cx="11430000" cy="1051560"/>
          </a:xfrm>
          <a:prstGeom prst="rect">
            <a:avLst/>
          </a:prstGeom>
          <a:solidFill>
            <a:srgbClr val="230C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3858768"/>
            <a:ext cx="54864" cy="105156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1480" y="3968496"/>
            <a:ext cx="685800" cy="329184"/>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968496"/>
            <a:ext cx="685800" cy="329184"/>
          </a:xfrm>
          <a:prstGeom prst="rect">
            <a:avLst/>
          </a:prstGeom>
          <a:noFill/>
        </p:spPr>
        <p:txBody>
          <a:bodyPr wrap="square">
            <a:spAutoFit/>
          </a:bodyPr>
          <a:lstStyle/>
          <a:p>
            <a:pPr algn="ctr"/>
            <a:r>
              <a:rPr sz="900" b="1" i="0">
                <a:solidFill>
                  <a:srgbClr val="1A0814"/>
                </a:solidFill>
                <a:latin typeface="游ゴシック"/>
                <a:ea typeface="游ゴシック"/>
              </a:rPr>
              <a:t>2連系</a:t>
            </a:r>
          </a:p>
        </p:txBody>
      </p:sp>
      <p:sp>
        <p:nvSpPr>
          <p:cNvPr id="32" name="Rectangle 31"/>
          <p:cNvSpPr/>
          <p:nvPr/>
        </p:nvSpPr>
        <p:spPr>
          <a:xfrm>
            <a:off x="1170432" y="3968496"/>
            <a:ext cx="868680" cy="329184"/>
          </a:xfrm>
          <a:prstGeom prst="rect">
            <a:avLst/>
          </a:prstGeom>
          <a:solidFill>
            <a:srgbClr val="3C1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70432" y="3968496"/>
            <a:ext cx="868680" cy="329184"/>
          </a:xfrm>
          <a:prstGeom prst="rect">
            <a:avLst/>
          </a:prstGeom>
          <a:noFill/>
        </p:spPr>
        <p:txBody>
          <a:bodyPr wrap="square">
            <a:spAutoFit/>
          </a:bodyPr>
          <a:lstStyle/>
          <a:p>
            <a:pPr algn="ctr"/>
            <a:r>
              <a:rPr sz="1100" b="1" i="0">
                <a:solidFill>
                  <a:srgbClr val="FCD34D"/>
                </a:solidFill>
                <a:latin typeface="游ゴシック"/>
                <a:ea typeface="游ゴシック"/>
              </a:rPr>
              <a:t>馬 連</a:t>
            </a:r>
          </a:p>
        </p:txBody>
      </p:sp>
      <p:sp>
        <p:nvSpPr>
          <p:cNvPr id="34" name="TextBox 33"/>
          <p:cNvSpPr txBox="1"/>
          <p:nvPr/>
        </p:nvSpPr>
        <p:spPr>
          <a:xfrm>
            <a:off x="2121408" y="3968496"/>
            <a:ext cx="731520" cy="329184"/>
          </a:xfrm>
          <a:prstGeom prst="rect">
            <a:avLst/>
          </a:prstGeom>
          <a:noFill/>
        </p:spPr>
        <p:txBody>
          <a:bodyPr wrap="square">
            <a:spAutoFit/>
          </a:bodyPr>
          <a:lstStyle/>
          <a:p>
            <a:pPr algn="ctr"/>
            <a:r>
              <a:rPr sz="1600" b="1" i="0">
                <a:solidFill>
                  <a:srgbClr val="FFFFFF"/>
                </a:solidFill>
                <a:latin typeface="游ゴシック"/>
                <a:ea typeface="游ゴシック"/>
              </a:rPr>
              <a:t>6点</a:t>
            </a:r>
          </a:p>
        </p:txBody>
      </p:sp>
      <p:sp>
        <p:nvSpPr>
          <p:cNvPr id="35" name="TextBox 34"/>
          <p:cNvSpPr txBox="1"/>
          <p:nvPr/>
        </p:nvSpPr>
        <p:spPr>
          <a:xfrm>
            <a:off x="2926080" y="3950207"/>
            <a:ext cx="7772400" cy="384048"/>
          </a:xfrm>
          <a:prstGeom prst="rect">
            <a:avLst/>
          </a:prstGeom>
          <a:noFill/>
        </p:spPr>
        <p:txBody>
          <a:bodyPr wrap="square">
            <a:spAutoFit/>
          </a:bodyPr>
          <a:lstStyle/>
          <a:p>
            <a:pPr algn="l"/>
            <a:r>
              <a:rPr sz="1200" b="1" i="0">
                <a:solidFill>
                  <a:srgbClr val="FFFFFF"/>
                </a:solidFill>
                <a:latin typeface="游ゴシック"/>
                <a:ea typeface="游ゴシック"/>
              </a:rPr>
              <a:t>軸：スターアニス  ×  相手：上位6頭</a:t>
            </a:r>
          </a:p>
        </p:txBody>
      </p:sp>
      <p:sp>
        <p:nvSpPr>
          <p:cNvPr id="36" name="TextBox 35"/>
          <p:cNvSpPr txBox="1"/>
          <p:nvPr/>
        </p:nvSpPr>
        <p:spPr>
          <a:xfrm>
            <a:off x="2926080" y="4352544"/>
            <a:ext cx="8412480" cy="347472"/>
          </a:xfrm>
          <a:prstGeom prst="rect">
            <a:avLst/>
          </a:prstGeom>
          <a:noFill/>
        </p:spPr>
        <p:txBody>
          <a:bodyPr wrap="square">
            <a:spAutoFit/>
          </a:bodyPr>
          <a:lstStyle/>
          <a:p>
            <a:pPr algn="l"/>
            <a:r>
              <a:rPr sz="900" b="0" i="1">
                <a:solidFill>
                  <a:srgbClr val="FFC8DC"/>
                </a:solidFill>
                <a:latin typeface="游ゴシック"/>
                <a:ea typeface="游ゴシック"/>
              </a:rPr>
              <a:t>1強戦 → 軸1頭流し6点</a:t>
            </a:r>
          </a:p>
        </p:txBody>
      </p:sp>
      <p:sp>
        <p:nvSpPr>
          <p:cNvPr id="37" name="Rectangle 36"/>
          <p:cNvSpPr/>
          <p:nvPr/>
        </p:nvSpPr>
        <p:spPr>
          <a:xfrm>
            <a:off x="320040" y="4956048"/>
            <a:ext cx="11430000" cy="1051560"/>
          </a:xfrm>
          <a:prstGeom prst="rect">
            <a:avLst/>
          </a:prstGeom>
          <a:solidFill>
            <a:srgbClr val="2D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0040" y="4956048"/>
            <a:ext cx="54864" cy="1051560"/>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11480" y="5065776"/>
            <a:ext cx="685800" cy="329184"/>
          </a:xfrm>
          <a:prstGeom prst="rect">
            <a:avLst/>
          </a:prstGeom>
          <a:solidFill>
            <a:srgbClr val="C01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5065776"/>
            <a:ext cx="685800" cy="329184"/>
          </a:xfrm>
          <a:prstGeom prst="rect">
            <a:avLst/>
          </a:prstGeom>
          <a:noFill/>
        </p:spPr>
        <p:txBody>
          <a:bodyPr wrap="square">
            <a:spAutoFit/>
          </a:bodyPr>
          <a:lstStyle/>
          <a:p>
            <a:pPr algn="ctr"/>
            <a:r>
              <a:rPr sz="900" b="1" i="0">
                <a:solidFill>
                  <a:srgbClr val="1A0814"/>
                </a:solidFill>
                <a:latin typeface="游ゴシック"/>
                <a:ea typeface="游ゴシック"/>
              </a:rPr>
              <a:t>3連系</a:t>
            </a:r>
          </a:p>
        </p:txBody>
      </p:sp>
      <p:sp>
        <p:nvSpPr>
          <p:cNvPr id="41" name="Rectangle 40"/>
          <p:cNvSpPr/>
          <p:nvPr/>
        </p:nvSpPr>
        <p:spPr>
          <a:xfrm>
            <a:off x="1170432" y="5065776"/>
            <a:ext cx="868680" cy="329184"/>
          </a:xfrm>
          <a:prstGeom prst="rect">
            <a:avLst/>
          </a:prstGeom>
          <a:solidFill>
            <a:srgbClr val="3C1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70432" y="5065776"/>
            <a:ext cx="868680" cy="329184"/>
          </a:xfrm>
          <a:prstGeom prst="rect">
            <a:avLst/>
          </a:prstGeom>
          <a:noFill/>
        </p:spPr>
        <p:txBody>
          <a:bodyPr wrap="square">
            <a:spAutoFit/>
          </a:bodyPr>
          <a:lstStyle/>
          <a:p>
            <a:pPr algn="ctr"/>
            <a:r>
              <a:rPr sz="1100" b="1" i="0">
                <a:solidFill>
                  <a:srgbClr val="C01860"/>
                </a:solidFill>
                <a:latin typeface="游ゴシック"/>
                <a:ea typeface="游ゴシック"/>
              </a:rPr>
              <a:t>3連単</a:t>
            </a:r>
          </a:p>
        </p:txBody>
      </p:sp>
      <p:sp>
        <p:nvSpPr>
          <p:cNvPr id="43" name="TextBox 42"/>
          <p:cNvSpPr txBox="1"/>
          <p:nvPr/>
        </p:nvSpPr>
        <p:spPr>
          <a:xfrm>
            <a:off x="2121408" y="5065776"/>
            <a:ext cx="731520" cy="329184"/>
          </a:xfrm>
          <a:prstGeom prst="rect">
            <a:avLst/>
          </a:prstGeom>
          <a:noFill/>
        </p:spPr>
        <p:txBody>
          <a:bodyPr wrap="square">
            <a:spAutoFit/>
          </a:bodyPr>
          <a:lstStyle/>
          <a:p>
            <a:pPr algn="ctr"/>
            <a:r>
              <a:rPr sz="1600" b="1" i="0">
                <a:solidFill>
                  <a:srgbClr val="FFFFFF"/>
                </a:solidFill>
                <a:latin typeface="游ゴシック"/>
                <a:ea typeface="游ゴシック"/>
              </a:rPr>
              <a:t>30点</a:t>
            </a:r>
          </a:p>
        </p:txBody>
      </p:sp>
      <p:sp>
        <p:nvSpPr>
          <p:cNvPr id="44" name="TextBox 43"/>
          <p:cNvSpPr txBox="1"/>
          <p:nvPr/>
        </p:nvSpPr>
        <p:spPr>
          <a:xfrm>
            <a:off x="2926080" y="5047488"/>
            <a:ext cx="7772400" cy="384048"/>
          </a:xfrm>
          <a:prstGeom prst="rect">
            <a:avLst/>
          </a:prstGeom>
          <a:noFill/>
        </p:spPr>
        <p:txBody>
          <a:bodyPr wrap="square">
            <a:spAutoFit/>
          </a:bodyPr>
          <a:lstStyle/>
          <a:p>
            <a:pPr algn="l"/>
            <a:r>
              <a:rPr sz="1200" b="1" i="0">
                <a:solidFill>
                  <a:srgbClr val="FFFFFF"/>
                </a:solidFill>
                <a:latin typeface="游ゴシック"/>
                <a:ea typeface="游ゴシック"/>
              </a:rPr>
              <a:t>1着固定：スターアニス  ×  2,3着：上位6頭</a:t>
            </a:r>
          </a:p>
        </p:txBody>
      </p:sp>
      <p:sp>
        <p:nvSpPr>
          <p:cNvPr id="45" name="TextBox 44"/>
          <p:cNvSpPr txBox="1"/>
          <p:nvPr/>
        </p:nvSpPr>
        <p:spPr>
          <a:xfrm>
            <a:off x="2926080" y="5449824"/>
            <a:ext cx="8412480" cy="347472"/>
          </a:xfrm>
          <a:prstGeom prst="rect">
            <a:avLst/>
          </a:prstGeom>
          <a:noFill/>
        </p:spPr>
        <p:txBody>
          <a:bodyPr wrap="square">
            <a:spAutoFit/>
          </a:bodyPr>
          <a:lstStyle/>
          <a:p>
            <a:pPr algn="l"/>
            <a:r>
              <a:rPr sz="900" b="0" i="1">
                <a:solidFill>
                  <a:srgbClr val="FFC8DC"/>
                </a:solidFill>
                <a:latin typeface="游ゴシック"/>
                <a:ea typeface="游ゴシック"/>
              </a:rPr>
              <a:t>1強戦 → 1着固定30点フォーメーション</a:t>
            </a:r>
          </a:p>
        </p:txBody>
      </p:sp>
      <p:sp>
        <p:nvSpPr>
          <p:cNvPr id="46" name="Rectangle 45"/>
          <p:cNvSpPr/>
          <p:nvPr/>
        </p:nvSpPr>
        <p:spPr>
          <a:xfrm>
            <a:off x="320040" y="6144768"/>
            <a:ext cx="11430000" cy="256032"/>
          </a:xfrm>
          <a:prstGeom prst="rect">
            <a:avLst/>
          </a:prstGeom>
          <a:solidFill>
            <a:srgbClr val="7B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6153912"/>
            <a:ext cx="11155680" cy="228600"/>
          </a:xfrm>
          <a:prstGeom prst="rect">
            <a:avLst/>
          </a:prstGeom>
          <a:noFill/>
        </p:spPr>
        <p:txBody>
          <a:bodyPr wrap="square">
            <a:spAutoFit/>
          </a:bodyPr>
          <a:lstStyle/>
          <a:p>
            <a:pPr algn="l"/>
            <a:r>
              <a:rPr sz="1100" b="1" i="0">
                <a:solidFill>
                  <a:srgbClr val="FCD34D"/>
                </a:solidFill>
                <a:latin typeface="游ゴシック"/>
                <a:ea typeface="游ゴシック"/>
              </a:rPr>
              <a:t>合計 39点  ／  ※枠番・騎手スコア確定後に微調整あり</a:t>
            </a:r>
          </a:p>
        </p:txBody>
      </p:sp>
      <p:sp>
        <p:nvSpPr>
          <p:cNvPr id="48" name="Rectangle 47"/>
          <p:cNvSpPr/>
          <p:nvPr/>
        </p:nvSpPr>
        <p:spPr>
          <a:xfrm>
            <a:off x="0" y="6446520"/>
            <a:ext cx="12188952" cy="411480"/>
          </a:xfrm>
          <a:prstGeom prst="rect">
            <a:avLst/>
          </a:prstGeom>
          <a:solidFill>
            <a:srgbClr val="7B1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4320" y="6492240"/>
            <a:ext cx="11612880" cy="320040"/>
          </a:xfrm>
          <a:prstGeom prst="rect">
            <a:avLst/>
          </a:prstGeom>
          <a:noFill/>
        </p:spPr>
        <p:txBody>
          <a:bodyPr wrap="square">
            <a:spAutoFit/>
          </a:bodyPr>
          <a:lstStyle/>
          <a:p>
            <a:pPr algn="l"/>
            <a:r>
              <a:rPr sz="1000" b="0" i="0">
                <a:solidFill>
                  <a:srgbClr val="FFB4D2"/>
                </a:solidFill>
                <a:latin typeface="游ゴシック"/>
                <a:ea typeface="游ゴシック"/>
              </a:rPr>
              <a:t>UG競馬 競馬予想チャンネル  ／  桜花賞解析レポート 2026  ———  9/9  🔒</a:t>
            </a:r>
          </a:p>
        </p:txBody>
      </p:sp>
      <p:sp>
        <p:nvSpPr>
          <p:cNvPr id="50" name="TextBox 49"/>
          <p:cNvSpPr txBox="1"/>
          <p:nvPr/>
        </p:nvSpPr>
        <p:spPr>
          <a:xfrm>
            <a:off x="9875520" y="6473952"/>
            <a:ext cx="2103120" cy="347472"/>
          </a:xfrm>
          <a:prstGeom prst="rect">
            <a:avLst/>
          </a:prstGeom>
          <a:noFill/>
        </p:spPr>
        <p:txBody>
          <a:bodyPr wrap="square">
            <a:spAutoFit/>
          </a:bodyPr>
          <a:lstStyle/>
          <a:p>
            <a:pPr algn="r"/>
            <a:r>
              <a:rPr sz="1200" b="1" i="0">
                <a:solidFill>
                  <a:srgbClr val="FCD34D"/>
                </a:solidFill>
                <a:latin typeface="游ゴシック"/>
                <a:ea typeface="游ゴシック"/>
              </a:rPr>
              <a:t>有料限定</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