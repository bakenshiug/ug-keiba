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136E"/>
        </a:solidFill>
        <a:effectLst/>
      </p:bgPr>
    </p:bg>
    <p:spTree>
      <p:nvGrpSpPr>
        <p:cNvPr id="1" name=""/>
        <p:cNvGrpSpPr/>
        <p:nvPr/>
      </p:nvGrpSpPr>
      <p:grpSpPr/>
      <p:pic>
        <p:nvPicPr>
          <p:cNvPr id="2" name="Picture 1" descr="brain_cover.jpg"/>
          <p:cNvPicPr>
            <a:picLocks noChangeAspect="1"/>
          </p:cNvPicPr>
          <p:nvPr/>
        </p:nvPicPr>
        <p:blipFill>
          <a:blip r:embed="rId2"/>
          <a:stretch>
            <a:fillRect/>
          </a:stretch>
        </p:blipFill>
        <p:spPr>
          <a:xfrm>
            <a:off x="5120640" y="-91440"/>
            <a:ext cx="7315200" cy="7040880"/>
          </a:xfrm>
          <a:prstGeom prst="rect">
            <a:avLst/>
          </a:prstGeom>
        </p:spPr>
      </p:pic>
      <p:sp>
        <p:nvSpPr>
          <p:cNvPr id="3" name="Rectangle 2"/>
          <p:cNvSpPr/>
          <p:nvPr/>
        </p:nvSpPr>
        <p:spPr>
          <a:xfrm>
            <a:off x="0" y="0"/>
            <a:ext cx="5669280" cy="68580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400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93992"/>
            <a:ext cx="12188952" cy="6400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502920"/>
            <a:ext cx="1280160" cy="502920"/>
          </a:xfrm>
          <a:prstGeom prst="round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502920"/>
            <a:ext cx="1280160" cy="502920"/>
          </a:xfrm>
          <a:prstGeom prst="rect">
            <a:avLst/>
          </a:prstGeom>
          <a:noFill/>
        </p:spPr>
        <p:txBody>
          <a:bodyPr wrap="square">
            <a:spAutoFit/>
          </a:bodyPr>
          <a:lstStyle/>
          <a:p>
            <a:pPr algn="ctr"/>
            <a:r>
              <a:rPr sz="2000" b="1" i="0">
                <a:solidFill>
                  <a:srgbClr val="0F0A0C"/>
                </a:solidFill>
                <a:latin typeface="游明朝"/>
                <a:ea typeface="游明朝"/>
              </a:rPr>
              <a:t>G 1</a:t>
            </a:r>
          </a:p>
        </p:txBody>
      </p:sp>
      <p:sp>
        <p:nvSpPr>
          <p:cNvPr id="8" name="TextBox 7"/>
          <p:cNvSpPr txBox="1"/>
          <p:nvPr/>
        </p:nvSpPr>
        <p:spPr>
          <a:xfrm>
            <a:off x="365760" y="1115568"/>
            <a:ext cx="5212080" cy="1691640"/>
          </a:xfrm>
          <a:prstGeom prst="rect">
            <a:avLst/>
          </a:prstGeom>
          <a:noFill/>
        </p:spPr>
        <p:txBody>
          <a:bodyPr wrap="square">
            <a:spAutoFit/>
          </a:bodyPr>
          <a:lstStyle/>
          <a:p>
            <a:pPr algn="l"/>
            <a:r>
              <a:rPr sz="8000" b="1" i="0">
                <a:solidFill>
                  <a:srgbClr val="FFFFFF"/>
                </a:solidFill>
                <a:latin typeface="游明朝"/>
                <a:ea typeface="游明朝"/>
              </a:rPr>
              <a:t>桜花賞</a:t>
            </a:r>
          </a:p>
        </p:txBody>
      </p:sp>
      <p:sp>
        <p:nvSpPr>
          <p:cNvPr id="9" name="Rectangle 8"/>
          <p:cNvSpPr/>
          <p:nvPr/>
        </p:nvSpPr>
        <p:spPr>
          <a:xfrm>
            <a:off x="365760" y="2907792"/>
            <a:ext cx="5212080" cy="6400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063240"/>
            <a:ext cx="5212080" cy="804672"/>
          </a:xfrm>
          <a:prstGeom prst="rect">
            <a:avLst/>
          </a:prstGeom>
          <a:noFill/>
        </p:spPr>
        <p:txBody>
          <a:bodyPr wrap="square">
            <a:spAutoFit/>
          </a:bodyPr>
          <a:lstStyle/>
          <a:p>
            <a:pPr algn="l"/>
            <a:r>
              <a:rPr sz="3600" b="1" i="0">
                <a:solidFill>
                  <a:srgbClr val="F5B731"/>
                </a:solidFill>
                <a:latin typeface="游明朝"/>
                <a:ea typeface="游明朝"/>
              </a:rPr>
              <a:t>徹 底 解 析</a:t>
            </a:r>
          </a:p>
        </p:txBody>
      </p:sp>
      <p:sp>
        <p:nvSpPr>
          <p:cNvPr id="11" name="TextBox 10"/>
          <p:cNvSpPr txBox="1"/>
          <p:nvPr/>
        </p:nvSpPr>
        <p:spPr>
          <a:xfrm>
            <a:off x="365760" y="4005072"/>
            <a:ext cx="5212080" cy="438912"/>
          </a:xfrm>
          <a:prstGeom prst="rect">
            <a:avLst/>
          </a:prstGeom>
          <a:noFill/>
        </p:spPr>
        <p:txBody>
          <a:bodyPr wrap="square">
            <a:spAutoFit/>
          </a:bodyPr>
          <a:lstStyle/>
          <a:p>
            <a:pPr algn="l"/>
            <a:r>
              <a:rPr sz="1200" b="0" i="0">
                <a:solidFill>
                  <a:srgbClr val="FFDCEB"/>
                </a:solidFill>
                <a:latin typeface="游ゴシック"/>
                <a:ea typeface="游ゴシック"/>
              </a:rPr>
              <a:t>2026年4月12日（日）  阪神競馬場  芝1600m外  19頭立て</a:t>
            </a:r>
          </a:p>
        </p:txBody>
      </p:sp>
      <p:sp>
        <p:nvSpPr>
          <p:cNvPr id="12" name="Rectangle 11"/>
          <p:cNvSpPr/>
          <p:nvPr/>
        </p:nvSpPr>
        <p:spPr>
          <a:xfrm>
            <a:off x="365760" y="4553712"/>
            <a:ext cx="5212080" cy="45720"/>
          </a:xfrm>
          <a:prstGeom prst="rect">
            <a:avLst/>
          </a:prstGeom>
          <a:solidFill>
            <a:srgbClr val="FFB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663440"/>
            <a:ext cx="5212080" cy="438912"/>
          </a:xfrm>
          <a:prstGeom prst="rect">
            <a:avLst/>
          </a:prstGeom>
          <a:noFill/>
        </p:spPr>
        <p:txBody>
          <a:bodyPr wrap="square">
            <a:spAutoFit/>
          </a:bodyPr>
          <a:lstStyle/>
          <a:p>
            <a:pPr algn="l"/>
            <a:r>
              <a:rPr sz="1300" b="0" i="1">
                <a:solidFill>
                  <a:srgbClr val="FFF0F8"/>
                </a:solidFill>
                <a:latin typeface="游ゴシック"/>
                <a:ea typeface="游ゴシック"/>
              </a:rPr>
              <a:t>ギーニョ重賞データ × 血統解析 × 特別ファクター</a:t>
            </a:r>
          </a:p>
        </p:txBody>
      </p:sp>
      <p:pic>
        <p:nvPicPr>
          <p:cNvPr id="14" name="Picture 13" descr="goto.jpg"/>
          <p:cNvPicPr>
            <a:picLocks noChangeAspect="1"/>
          </p:cNvPicPr>
          <p:nvPr/>
        </p:nvPicPr>
        <p:blipFill>
          <a:blip r:embed="rId3"/>
          <a:stretch>
            <a:fillRect/>
          </a:stretch>
        </p:blipFill>
        <p:spPr>
          <a:xfrm>
            <a:off x="8961120" y="2926080"/>
            <a:ext cx="2926080" cy="2194560"/>
          </a:xfrm>
          <a:prstGeom prst="rect">
            <a:avLst/>
          </a:prstGeom>
        </p:spPr>
      </p:pic>
      <p:sp>
        <p:nvSpPr>
          <p:cNvPr id="15" name="Rectangle 14"/>
          <p:cNvSpPr/>
          <p:nvPr/>
        </p:nvSpPr>
        <p:spPr>
          <a:xfrm>
            <a:off x="0" y="6291072"/>
            <a:ext cx="585216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336792"/>
            <a:ext cx="5303520" cy="402336"/>
          </a:xfrm>
          <a:prstGeom prst="rect">
            <a:avLst/>
          </a:prstGeom>
          <a:noFill/>
        </p:spPr>
        <p:txBody>
          <a:bodyPr wrap="square">
            <a:spAutoFit/>
          </a:bodyPr>
          <a:lstStyle/>
          <a:p>
            <a:pPr algn="l"/>
            <a:r>
              <a:rPr sz="1300" b="1" i="0">
                <a:solidFill>
                  <a:srgbClr val="B4084B"/>
                </a:solidFill>
                <a:latin typeface="游ゴシック"/>
                <a:ea typeface="游ゴシック"/>
              </a:rPr>
              <a:t>UG競馬 競馬予想チャンネル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384048" y="320040"/>
            <a:ext cx="2423160" cy="5029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331720" cy="502920"/>
          </a:xfrm>
          <a:prstGeom prst="rect">
            <a:avLst/>
          </a:prstGeom>
          <a:noFill/>
        </p:spPr>
        <p:txBody>
          <a:bodyPr wrap="square">
            <a:spAutoFit/>
          </a:bodyPr>
          <a:lstStyle/>
          <a:p>
            <a:pPr algn="ctr"/>
            <a:r>
              <a:rPr sz="1400" b="1" i="0">
                <a:solidFill>
                  <a:srgbClr val="FFFFFF"/>
                </a:solidFill>
                <a:latin typeface="游ゴシック"/>
                <a:ea typeface="游ゴシック"/>
              </a:rPr>
              <a:t>①  ギーニョデータ解析</a:t>
            </a:r>
          </a:p>
        </p:txBody>
      </p:sp>
      <p:sp>
        <p:nvSpPr>
          <p:cNvPr id="6" name="TextBox 5"/>
          <p:cNvSpPr txBox="1"/>
          <p:nvPr/>
        </p:nvSpPr>
        <p:spPr>
          <a:xfrm>
            <a:off x="0" y="1051560"/>
            <a:ext cx="12188952" cy="3520440"/>
          </a:xfrm>
          <a:prstGeom prst="rect">
            <a:avLst/>
          </a:prstGeom>
          <a:noFill/>
        </p:spPr>
        <p:txBody>
          <a:bodyPr wrap="square">
            <a:spAutoFit/>
          </a:bodyPr>
          <a:lstStyle/>
          <a:p>
            <a:pPr algn="ctr"/>
            <a:r>
              <a:rPr sz="11000" b="1" i="0">
                <a:solidFill>
                  <a:srgbClr val="B45309"/>
                </a:solidFill>
                <a:latin typeface="游明朝"/>
                <a:ea typeface="游明朝"/>
              </a:rPr>
              <a:t>70 %</a:t>
            </a:r>
          </a:p>
        </p:txBody>
      </p:sp>
      <p:sp>
        <p:nvSpPr>
          <p:cNvPr id="7" name="Rectangle 6"/>
          <p:cNvSpPr/>
          <p:nvPr/>
        </p:nvSpPr>
        <p:spPr>
          <a:xfrm>
            <a:off x="1645920" y="4645152"/>
            <a:ext cx="8897112" cy="5486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754880"/>
            <a:ext cx="12188952" cy="658368"/>
          </a:xfrm>
          <a:prstGeom prst="rect">
            <a:avLst/>
          </a:prstGeom>
          <a:noFill/>
        </p:spPr>
        <p:txBody>
          <a:bodyPr wrap="square">
            <a:spAutoFit/>
          </a:bodyPr>
          <a:lstStyle/>
          <a:p>
            <a:pPr algn="ctr"/>
            <a:r>
              <a:rPr sz="2200" b="1" i="0">
                <a:solidFill>
                  <a:srgbClr val="0F0A0C"/>
                </a:solidFill>
                <a:latin typeface="游明朝"/>
                <a:ea typeface="游明朝"/>
              </a:rPr>
              <a:t>2番人気の複勝率</a:t>
            </a:r>
          </a:p>
        </p:txBody>
      </p:sp>
      <p:sp>
        <p:nvSpPr>
          <p:cNvPr id="9" name="TextBox 8"/>
          <p:cNvSpPr txBox="1"/>
          <p:nvPr/>
        </p:nvSpPr>
        <p:spPr>
          <a:xfrm>
            <a:off x="457200" y="5504688"/>
            <a:ext cx="11274552" cy="502920"/>
          </a:xfrm>
          <a:prstGeom prst="rect">
            <a:avLst/>
          </a:prstGeom>
          <a:noFill/>
        </p:spPr>
        <p:txBody>
          <a:bodyPr wrap="square">
            <a:spAutoFit/>
          </a:bodyPr>
          <a:lstStyle/>
          <a:p>
            <a:pPr algn="ctr"/>
            <a:r>
              <a:rPr sz="1400" b="0" i="1">
                <a:solidFill>
                  <a:srgbClr val="6B505A"/>
                </a:solidFill>
                <a:latin typeface="游ゴシック"/>
                <a:ea typeface="游ゴシック"/>
              </a:rPr>
              <a:t>― 1番人気（60%）を上回る「最強人気ゾーン」―</a:t>
            </a:r>
          </a:p>
        </p:txBody>
      </p:sp>
      <p:sp>
        <p:nvSpPr>
          <p:cNvPr id="10" name="Rounded Rectangle 9"/>
          <p:cNvSpPr/>
          <p:nvPr/>
        </p:nvSpPr>
        <p:spPr>
          <a:xfrm>
            <a:off x="3474720" y="6035040"/>
            <a:ext cx="5239512" cy="402336"/>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6035040"/>
            <a:ext cx="5029200" cy="402336"/>
          </a:xfrm>
          <a:prstGeom prst="rect">
            <a:avLst/>
          </a:prstGeom>
          <a:noFill/>
        </p:spPr>
        <p:txBody>
          <a:bodyPr wrap="square">
            <a:spAutoFit/>
          </a:bodyPr>
          <a:lstStyle/>
          <a:p>
            <a:pPr algn="ctr"/>
            <a:r>
              <a:rPr sz="1200" b="1" i="0">
                <a:solidFill>
                  <a:srgbClr val="FFFFFF"/>
                </a:solidFill>
                <a:latin typeface="游ゴシック"/>
                <a:ea typeface="游ゴシック"/>
              </a:rPr>
              <a:t>2番人気 = 過去10年 最も期待値が高い人気</a:t>
            </a:r>
          </a:p>
        </p:txBody>
      </p:sp>
      <p:pic>
        <p:nvPicPr>
          <p:cNvPr id="12" name="Picture 11" descr="ginyo.jpg"/>
          <p:cNvPicPr>
            <a:picLocks noChangeAspect="1"/>
          </p:cNvPicPr>
          <p:nvPr/>
        </p:nvPicPr>
        <p:blipFill>
          <a:blip r:embed="rId2"/>
          <a:stretch>
            <a:fillRect/>
          </a:stretch>
        </p:blipFill>
        <p:spPr>
          <a:xfrm>
            <a:off x="9189720" y="3931920"/>
            <a:ext cx="2834640" cy="2121408"/>
          </a:xfrm>
          <a:prstGeom prst="rect">
            <a:avLst/>
          </a:prstGeom>
        </p:spPr>
      </p:pic>
      <p:sp>
        <p:nvSpPr>
          <p:cNvPr id="13" name="Rectangle 1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15" name="TextBox 14"/>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384048" y="320040"/>
            <a:ext cx="24231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331720" cy="502920"/>
          </a:xfrm>
          <a:prstGeom prst="rect">
            <a:avLst/>
          </a:prstGeom>
          <a:noFill/>
        </p:spPr>
        <p:txBody>
          <a:bodyPr wrap="square">
            <a:spAutoFit/>
          </a:bodyPr>
          <a:lstStyle/>
          <a:p>
            <a:pPr algn="ctr"/>
            <a:r>
              <a:rPr sz="1400" b="1" i="0">
                <a:solidFill>
                  <a:srgbClr val="FFFFFF"/>
                </a:solidFill>
                <a:latin typeface="游ゴシック"/>
                <a:ea typeface="游ゴシック"/>
              </a:rPr>
              <a:t>②  ギーニョデータ解析</a:t>
            </a:r>
          </a:p>
        </p:txBody>
      </p:sp>
      <p:sp>
        <p:nvSpPr>
          <p:cNvPr id="6" name="TextBox 5"/>
          <p:cNvSpPr txBox="1"/>
          <p:nvPr/>
        </p:nvSpPr>
        <p:spPr>
          <a:xfrm>
            <a:off x="0" y="1051560"/>
            <a:ext cx="12188952" cy="3520440"/>
          </a:xfrm>
          <a:prstGeom prst="rect">
            <a:avLst/>
          </a:prstGeom>
          <a:noFill/>
        </p:spPr>
        <p:txBody>
          <a:bodyPr wrap="square">
            <a:spAutoFit/>
          </a:bodyPr>
          <a:lstStyle/>
          <a:p>
            <a:pPr algn="ctr"/>
            <a:r>
              <a:rPr sz="11000" b="1" i="0">
                <a:solidFill>
                  <a:srgbClr val="16A34A"/>
                </a:solidFill>
                <a:latin typeface="游明朝"/>
                <a:ea typeface="游明朝"/>
              </a:rPr>
              <a:t>100 %</a:t>
            </a:r>
          </a:p>
        </p:txBody>
      </p:sp>
      <p:sp>
        <p:nvSpPr>
          <p:cNvPr id="7" name="Rectangle 6"/>
          <p:cNvSpPr/>
          <p:nvPr/>
        </p:nvSpPr>
        <p:spPr>
          <a:xfrm>
            <a:off x="1645920" y="4645152"/>
            <a:ext cx="8897112"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754880"/>
            <a:ext cx="12188952" cy="658368"/>
          </a:xfrm>
          <a:prstGeom prst="rect">
            <a:avLst/>
          </a:prstGeom>
          <a:noFill/>
        </p:spPr>
        <p:txBody>
          <a:bodyPr wrap="square">
            <a:spAutoFit/>
          </a:bodyPr>
          <a:lstStyle/>
          <a:p>
            <a:pPr algn="ctr"/>
            <a:r>
              <a:rPr sz="2200" b="1" i="0">
                <a:solidFill>
                  <a:srgbClr val="0F0A0C"/>
                </a:solidFill>
                <a:latin typeface="游明朝"/>
                <a:ea typeface="游明朝"/>
              </a:rPr>
              <a:t>G1前走1着の複勝率</a:t>
            </a:r>
          </a:p>
        </p:txBody>
      </p:sp>
      <p:sp>
        <p:nvSpPr>
          <p:cNvPr id="9" name="TextBox 8"/>
          <p:cNvSpPr txBox="1"/>
          <p:nvPr/>
        </p:nvSpPr>
        <p:spPr>
          <a:xfrm>
            <a:off x="457200" y="5504688"/>
            <a:ext cx="11274552" cy="502920"/>
          </a:xfrm>
          <a:prstGeom prst="rect">
            <a:avLst/>
          </a:prstGeom>
          <a:noFill/>
        </p:spPr>
        <p:txBody>
          <a:bodyPr wrap="square">
            <a:spAutoFit/>
          </a:bodyPr>
          <a:lstStyle/>
          <a:p>
            <a:pPr algn="ctr"/>
            <a:r>
              <a:rPr sz="1400" b="0" i="1">
                <a:solidFill>
                  <a:srgbClr val="6B505A"/>
                </a:solidFill>
                <a:latin typeface="游ゴシック"/>
                <a:ea typeface="游ゴシック"/>
              </a:rPr>
              <a:t>― 阪神JFからの直行ローテ  過去10年 全馬複勝圏 ―</a:t>
            </a:r>
          </a:p>
        </p:txBody>
      </p:sp>
      <p:sp>
        <p:nvSpPr>
          <p:cNvPr id="10" name="Rounded Rectangle 9"/>
          <p:cNvSpPr/>
          <p:nvPr/>
        </p:nvSpPr>
        <p:spPr>
          <a:xfrm>
            <a:off x="3474720" y="6035040"/>
            <a:ext cx="5239512" cy="402336"/>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6035040"/>
            <a:ext cx="5029200" cy="402336"/>
          </a:xfrm>
          <a:prstGeom prst="rect">
            <a:avLst/>
          </a:prstGeom>
          <a:noFill/>
        </p:spPr>
        <p:txBody>
          <a:bodyPr wrap="square">
            <a:spAutoFit/>
          </a:bodyPr>
          <a:lstStyle/>
          <a:p>
            <a:pPr algn="ctr"/>
            <a:r>
              <a:rPr sz="1200" b="1" i="0">
                <a:solidFill>
                  <a:srgbClr val="FFFFFF"/>
                </a:solidFill>
                <a:latin typeface="游ゴシック"/>
                <a:ea typeface="游ゴシック"/>
              </a:rPr>
              <a:t>前代未聞のデータ  →  スターアニスに直結</a:t>
            </a:r>
          </a:p>
        </p:txBody>
      </p:sp>
      <p:pic>
        <p:nvPicPr>
          <p:cNvPr id="12" name="Picture 11" descr="ginyo.jpg"/>
          <p:cNvPicPr>
            <a:picLocks noChangeAspect="1"/>
          </p:cNvPicPr>
          <p:nvPr/>
        </p:nvPicPr>
        <p:blipFill>
          <a:blip r:embed="rId2"/>
          <a:stretch>
            <a:fillRect/>
          </a:stretch>
        </p:blipFill>
        <p:spPr>
          <a:xfrm>
            <a:off x="9189720" y="3931920"/>
            <a:ext cx="2834640" cy="2121408"/>
          </a:xfrm>
          <a:prstGeom prst="rect">
            <a:avLst/>
          </a:prstGeom>
        </p:spPr>
      </p:pic>
      <p:sp>
        <p:nvSpPr>
          <p:cNvPr id="13" name="Rectangle 1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15" name="TextBox 14"/>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3/12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384048" y="320040"/>
            <a:ext cx="2423160" cy="502920"/>
          </a:xfrm>
          <a:prstGeom prst="round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331720" cy="502920"/>
          </a:xfrm>
          <a:prstGeom prst="rect">
            <a:avLst/>
          </a:prstGeom>
          <a:noFill/>
        </p:spPr>
        <p:txBody>
          <a:bodyPr wrap="square">
            <a:spAutoFit/>
          </a:bodyPr>
          <a:lstStyle/>
          <a:p>
            <a:pPr algn="ctr"/>
            <a:r>
              <a:rPr sz="1400" b="1" i="0">
                <a:solidFill>
                  <a:srgbClr val="FFFFFF"/>
                </a:solidFill>
                <a:latin typeface="游ゴシック"/>
                <a:ea typeface="游ゴシック"/>
              </a:rPr>
              <a:t>③  ギーニョデータ解析</a:t>
            </a:r>
          </a:p>
        </p:txBody>
      </p:sp>
      <p:sp>
        <p:nvSpPr>
          <p:cNvPr id="6" name="TextBox 5"/>
          <p:cNvSpPr txBox="1"/>
          <p:nvPr/>
        </p:nvSpPr>
        <p:spPr>
          <a:xfrm>
            <a:off x="0" y="1051560"/>
            <a:ext cx="12188952" cy="3520440"/>
          </a:xfrm>
          <a:prstGeom prst="rect">
            <a:avLst/>
          </a:prstGeom>
          <a:noFill/>
        </p:spPr>
        <p:txBody>
          <a:bodyPr wrap="square">
            <a:spAutoFit/>
          </a:bodyPr>
          <a:lstStyle/>
          <a:p>
            <a:pPr algn="ctr"/>
            <a:r>
              <a:rPr sz="11000" b="1" i="0">
                <a:solidFill>
                  <a:srgbClr val="E8136E"/>
                </a:solidFill>
                <a:latin typeface="游明朝"/>
                <a:ea typeface="游明朝"/>
              </a:rPr>
              <a:t>80 %</a:t>
            </a:r>
          </a:p>
        </p:txBody>
      </p:sp>
      <p:sp>
        <p:nvSpPr>
          <p:cNvPr id="7" name="Rectangle 6"/>
          <p:cNvSpPr/>
          <p:nvPr/>
        </p:nvSpPr>
        <p:spPr>
          <a:xfrm>
            <a:off x="1645920" y="4645152"/>
            <a:ext cx="8897112" cy="54864"/>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754880"/>
            <a:ext cx="12188952" cy="658368"/>
          </a:xfrm>
          <a:prstGeom prst="rect">
            <a:avLst/>
          </a:prstGeom>
          <a:noFill/>
        </p:spPr>
        <p:txBody>
          <a:bodyPr wrap="square">
            <a:spAutoFit/>
          </a:bodyPr>
          <a:lstStyle/>
          <a:p>
            <a:pPr algn="ctr"/>
            <a:r>
              <a:rPr sz="2200" b="1" i="0">
                <a:solidFill>
                  <a:srgbClr val="0F0A0C"/>
                </a:solidFill>
                <a:latin typeface="游明朝"/>
                <a:ea typeface="游明朝"/>
              </a:rPr>
              <a:t>上がり3F  1位馬の複勝率</a:t>
            </a:r>
          </a:p>
        </p:txBody>
      </p:sp>
      <p:sp>
        <p:nvSpPr>
          <p:cNvPr id="9" name="TextBox 8"/>
          <p:cNvSpPr txBox="1"/>
          <p:nvPr/>
        </p:nvSpPr>
        <p:spPr>
          <a:xfrm>
            <a:off x="457200" y="5504688"/>
            <a:ext cx="11274552" cy="502920"/>
          </a:xfrm>
          <a:prstGeom prst="rect">
            <a:avLst/>
          </a:prstGeom>
          <a:noFill/>
        </p:spPr>
        <p:txBody>
          <a:bodyPr wrap="square">
            <a:spAutoFit/>
          </a:bodyPr>
          <a:lstStyle/>
          <a:p>
            <a:pPr algn="ctr"/>
            <a:r>
              <a:rPr sz="1400" b="0" i="1">
                <a:solidFill>
                  <a:srgbClr val="6B505A"/>
                </a:solidFill>
                <a:latin typeface="游ゴシック"/>
                <a:ea typeface="游ゴシック"/>
              </a:rPr>
              <a:t>― 直線で一番切れる馬が主役になるレース ―</a:t>
            </a:r>
          </a:p>
        </p:txBody>
      </p:sp>
      <p:sp>
        <p:nvSpPr>
          <p:cNvPr id="10" name="Rounded Rectangle 9"/>
          <p:cNvSpPr/>
          <p:nvPr/>
        </p:nvSpPr>
        <p:spPr>
          <a:xfrm>
            <a:off x="3474720" y="6035040"/>
            <a:ext cx="5239512" cy="402336"/>
          </a:xfrm>
          <a:prstGeom prst="round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6035040"/>
            <a:ext cx="5029200" cy="402336"/>
          </a:xfrm>
          <a:prstGeom prst="rect">
            <a:avLst/>
          </a:prstGeom>
          <a:noFill/>
        </p:spPr>
        <p:txBody>
          <a:bodyPr wrap="square">
            <a:spAutoFit/>
          </a:bodyPr>
          <a:lstStyle/>
          <a:p>
            <a:pPr algn="ctr"/>
            <a:r>
              <a:rPr sz="1200" b="1" i="0">
                <a:solidFill>
                  <a:srgbClr val="FFFFFF"/>
                </a:solidFill>
                <a:latin typeface="游ゴシック"/>
                <a:ea typeface="游ゴシック"/>
              </a:rPr>
              <a:t>上がり3F最速馬 →  勝率40% / 複勝率80%</a:t>
            </a:r>
          </a:p>
        </p:txBody>
      </p:sp>
      <p:pic>
        <p:nvPicPr>
          <p:cNvPr id="12" name="Picture 11" descr="goto.jpg"/>
          <p:cNvPicPr>
            <a:picLocks noChangeAspect="1"/>
          </p:cNvPicPr>
          <p:nvPr/>
        </p:nvPicPr>
        <p:blipFill>
          <a:blip r:embed="rId2"/>
          <a:stretch>
            <a:fillRect/>
          </a:stretch>
        </p:blipFill>
        <p:spPr>
          <a:xfrm>
            <a:off x="9326880" y="3840480"/>
            <a:ext cx="2651760" cy="1993392"/>
          </a:xfrm>
          <a:prstGeom prst="rect">
            <a:avLst/>
          </a:prstGeom>
        </p:spPr>
      </p:pic>
      <p:sp>
        <p:nvSpPr>
          <p:cNvPr id="13" name="Rectangle 1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15" name="TextBox 14"/>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4/12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384048" y="320040"/>
            <a:ext cx="242316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331720" cy="502920"/>
          </a:xfrm>
          <a:prstGeom prst="rect">
            <a:avLst/>
          </a:prstGeom>
          <a:noFill/>
        </p:spPr>
        <p:txBody>
          <a:bodyPr wrap="square">
            <a:spAutoFit/>
          </a:bodyPr>
          <a:lstStyle/>
          <a:p>
            <a:pPr algn="ctr"/>
            <a:r>
              <a:rPr sz="1400" b="1" i="0">
                <a:solidFill>
                  <a:srgbClr val="FFFFFF"/>
                </a:solidFill>
                <a:latin typeface="游ゴシック"/>
                <a:ea typeface="游ゴシック"/>
              </a:rPr>
              <a:t>④  ギーニョデータ解析</a:t>
            </a:r>
          </a:p>
        </p:txBody>
      </p:sp>
      <p:sp>
        <p:nvSpPr>
          <p:cNvPr id="6" name="TextBox 5"/>
          <p:cNvSpPr txBox="1"/>
          <p:nvPr/>
        </p:nvSpPr>
        <p:spPr>
          <a:xfrm>
            <a:off x="0" y="1051560"/>
            <a:ext cx="12188952" cy="3520440"/>
          </a:xfrm>
          <a:prstGeom prst="rect">
            <a:avLst/>
          </a:prstGeom>
          <a:noFill/>
        </p:spPr>
        <p:txBody>
          <a:bodyPr wrap="square">
            <a:spAutoFit/>
          </a:bodyPr>
          <a:lstStyle/>
          <a:p>
            <a:pPr algn="ctr"/>
            <a:r>
              <a:rPr sz="11000" b="1" i="0">
                <a:solidFill>
                  <a:srgbClr val="DC2626"/>
                </a:solidFill>
                <a:latin typeface="游明朝"/>
                <a:ea typeface="游明朝"/>
              </a:rPr>
              <a:t>0 %</a:t>
            </a:r>
          </a:p>
        </p:txBody>
      </p:sp>
      <p:sp>
        <p:nvSpPr>
          <p:cNvPr id="7" name="Rectangle 6"/>
          <p:cNvSpPr/>
          <p:nvPr/>
        </p:nvSpPr>
        <p:spPr>
          <a:xfrm>
            <a:off x="1645920" y="4645152"/>
            <a:ext cx="8897112"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754880"/>
            <a:ext cx="12188952" cy="658368"/>
          </a:xfrm>
          <a:prstGeom prst="rect">
            <a:avLst/>
          </a:prstGeom>
          <a:noFill/>
        </p:spPr>
        <p:txBody>
          <a:bodyPr wrap="square">
            <a:spAutoFit/>
          </a:bodyPr>
          <a:lstStyle/>
          <a:p>
            <a:pPr algn="ctr"/>
            <a:r>
              <a:rPr sz="2200" b="1" i="0">
                <a:solidFill>
                  <a:srgbClr val="0F0A0C"/>
                </a:solidFill>
                <a:latin typeface="游明朝"/>
                <a:ea typeface="游明朝"/>
              </a:rPr>
              <a:t>10番人気以下の複勝率</a:t>
            </a:r>
          </a:p>
        </p:txBody>
      </p:sp>
      <p:sp>
        <p:nvSpPr>
          <p:cNvPr id="9" name="TextBox 8"/>
          <p:cNvSpPr txBox="1"/>
          <p:nvPr/>
        </p:nvSpPr>
        <p:spPr>
          <a:xfrm>
            <a:off x="457200" y="5504688"/>
            <a:ext cx="11274552" cy="502920"/>
          </a:xfrm>
          <a:prstGeom prst="rect">
            <a:avLst/>
          </a:prstGeom>
          <a:noFill/>
        </p:spPr>
        <p:txBody>
          <a:bodyPr wrap="square">
            <a:spAutoFit/>
          </a:bodyPr>
          <a:lstStyle/>
          <a:p>
            <a:pPr algn="ctr"/>
            <a:r>
              <a:rPr sz="1400" b="0" i="1">
                <a:solidFill>
                  <a:srgbClr val="6B505A"/>
                </a:solidFill>
                <a:latin typeface="游ゴシック"/>
                <a:ea typeface="游ゴシック"/>
              </a:rPr>
              <a:t>― 人気薄は完全消し。上位人気に絞り込む ―</a:t>
            </a:r>
          </a:p>
        </p:txBody>
      </p:sp>
      <p:sp>
        <p:nvSpPr>
          <p:cNvPr id="10" name="Rounded Rectangle 9"/>
          <p:cNvSpPr/>
          <p:nvPr/>
        </p:nvSpPr>
        <p:spPr>
          <a:xfrm>
            <a:off x="3474720" y="6035040"/>
            <a:ext cx="5239512" cy="402336"/>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6035040"/>
            <a:ext cx="5029200" cy="402336"/>
          </a:xfrm>
          <a:prstGeom prst="rect">
            <a:avLst/>
          </a:prstGeom>
          <a:noFill/>
        </p:spPr>
        <p:txBody>
          <a:bodyPr wrap="square">
            <a:spAutoFit/>
          </a:bodyPr>
          <a:lstStyle/>
          <a:p>
            <a:pPr algn="ctr"/>
            <a:r>
              <a:rPr sz="1200" b="1" i="0">
                <a:solidFill>
                  <a:srgbClr val="FFFFFF"/>
                </a:solidFill>
                <a:latin typeface="游ゴシック"/>
                <a:ea typeface="游ゴシック"/>
              </a:rPr>
              <a:t>穴馬を買う必要はゼロ  →  上位8番人気内に集中</a:t>
            </a:r>
          </a:p>
        </p:txBody>
      </p:sp>
      <p:pic>
        <p:nvPicPr>
          <p:cNvPr id="12" name="Picture 11" descr="ginyo.jpg"/>
          <p:cNvPicPr>
            <a:picLocks noChangeAspect="1"/>
          </p:cNvPicPr>
          <p:nvPr/>
        </p:nvPicPr>
        <p:blipFill>
          <a:blip r:embed="rId2"/>
          <a:stretch>
            <a:fillRect/>
          </a:stretch>
        </p:blipFill>
        <p:spPr>
          <a:xfrm>
            <a:off x="9189720" y="3931920"/>
            <a:ext cx="2834640" cy="2121408"/>
          </a:xfrm>
          <a:prstGeom prst="rect">
            <a:avLst/>
          </a:prstGeom>
        </p:spPr>
      </p:pic>
      <p:sp>
        <p:nvSpPr>
          <p:cNvPr id="13" name="Rectangle 1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15" name="TextBox 14"/>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384048" y="320040"/>
            <a:ext cx="242316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331720" cy="502920"/>
          </a:xfrm>
          <a:prstGeom prst="rect">
            <a:avLst/>
          </a:prstGeom>
          <a:noFill/>
        </p:spPr>
        <p:txBody>
          <a:bodyPr wrap="square">
            <a:spAutoFit/>
          </a:bodyPr>
          <a:lstStyle/>
          <a:p>
            <a:pPr algn="ctr"/>
            <a:r>
              <a:rPr sz="1400" b="1" i="0">
                <a:solidFill>
                  <a:srgbClr val="FFFFFF"/>
                </a:solidFill>
                <a:latin typeface="游ゴシック"/>
                <a:ea typeface="游ゴシック"/>
              </a:rPr>
              <a:t>⑤  ギーニョデータ解析</a:t>
            </a:r>
          </a:p>
        </p:txBody>
      </p:sp>
      <p:sp>
        <p:nvSpPr>
          <p:cNvPr id="6" name="TextBox 5"/>
          <p:cNvSpPr txBox="1"/>
          <p:nvPr/>
        </p:nvSpPr>
        <p:spPr>
          <a:xfrm>
            <a:off x="0" y="1051560"/>
            <a:ext cx="12188952" cy="3520440"/>
          </a:xfrm>
          <a:prstGeom prst="rect">
            <a:avLst/>
          </a:prstGeom>
          <a:noFill/>
        </p:spPr>
        <p:txBody>
          <a:bodyPr wrap="square">
            <a:spAutoFit/>
          </a:bodyPr>
          <a:lstStyle/>
          <a:p>
            <a:pPr algn="ctr"/>
            <a:r>
              <a:rPr sz="11000" b="1" i="0">
                <a:solidFill>
                  <a:srgbClr val="EA580C"/>
                </a:solidFill>
                <a:latin typeface="游明朝"/>
                <a:ea typeface="游明朝"/>
              </a:rPr>
              <a:t>5 %</a:t>
            </a:r>
          </a:p>
        </p:txBody>
      </p:sp>
      <p:sp>
        <p:nvSpPr>
          <p:cNvPr id="7" name="Rectangle 6"/>
          <p:cNvSpPr/>
          <p:nvPr/>
        </p:nvSpPr>
        <p:spPr>
          <a:xfrm>
            <a:off x="1645920" y="4645152"/>
            <a:ext cx="8897112"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754880"/>
            <a:ext cx="12188952" cy="658368"/>
          </a:xfrm>
          <a:prstGeom prst="rect">
            <a:avLst/>
          </a:prstGeom>
          <a:noFill/>
        </p:spPr>
        <p:txBody>
          <a:bodyPr wrap="square">
            <a:spAutoFit/>
          </a:bodyPr>
          <a:lstStyle/>
          <a:p>
            <a:pPr algn="ctr"/>
            <a:r>
              <a:rPr sz="2200" b="1" i="0">
                <a:solidFill>
                  <a:srgbClr val="0F0A0C"/>
                </a:solidFill>
                <a:latin typeface="游明朝"/>
                <a:ea typeface="游明朝"/>
              </a:rPr>
              <a:t>G2前走1着の複勝率</a:t>
            </a:r>
          </a:p>
        </p:txBody>
      </p:sp>
      <p:sp>
        <p:nvSpPr>
          <p:cNvPr id="9" name="TextBox 8"/>
          <p:cNvSpPr txBox="1"/>
          <p:nvPr/>
        </p:nvSpPr>
        <p:spPr>
          <a:xfrm>
            <a:off x="457200" y="5504688"/>
            <a:ext cx="11274552" cy="502920"/>
          </a:xfrm>
          <a:prstGeom prst="rect">
            <a:avLst/>
          </a:prstGeom>
          <a:noFill/>
        </p:spPr>
        <p:txBody>
          <a:bodyPr wrap="square">
            <a:spAutoFit/>
          </a:bodyPr>
          <a:lstStyle/>
          <a:p>
            <a:pPr algn="ctr"/>
            <a:r>
              <a:rPr sz="1400" b="0" i="1">
                <a:solidFill>
                  <a:srgbClr val="6B505A"/>
                </a:solidFill>
                <a:latin typeface="游ゴシック"/>
                <a:ea typeface="游ゴシック"/>
              </a:rPr>
              <a:t>― チューリップ賞前走は見かけ上強そうでも危険ゾーン ―</a:t>
            </a:r>
          </a:p>
        </p:txBody>
      </p:sp>
      <p:sp>
        <p:nvSpPr>
          <p:cNvPr id="10" name="Rounded Rectangle 9"/>
          <p:cNvSpPr/>
          <p:nvPr/>
        </p:nvSpPr>
        <p:spPr>
          <a:xfrm>
            <a:off x="3474720" y="6035040"/>
            <a:ext cx="5239512" cy="402336"/>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6035040"/>
            <a:ext cx="5029200" cy="402336"/>
          </a:xfrm>
          <a:prstGeom prst="rect">
            <a:avLst/>
          </a:prstGeom>
          <a:noFill/>
        </p:spPr>
        <p:txBody>
          <a:bodyPr wrap="square">
            <a:spAutoFit/>
          </a:bodyPr>
          <a:lstStyle/>
          <a:p>
            <a:pPr algn="ctr"/>
            <a:r>
              <a:rPr sz="1200" b="1" i="0">
                <a:solidFill>
                  <a:srgbClr val="FFFFFF"/>
                </a:solidFill>
                <a:latin typeface="游ゴシック"/>
                <a:ea typeface="游ゴシック"/>
              </a:rPr>
              <a:t>G2前走1着 = 過去10年 最大の罠データ</a:t>
            </a:r>
          </a:p>
        </p:txBody>
      </p:sp>
      <p:pic>
        <p:nvPicPr>
          <p:cNvPr id="12" name="Picture 11" descr="goto.jpg"/>
          <p:cNvPicPr>
            <a:picLocks noChangeAspect="1"/>
          </p:cNvPicPr>
          <p:nvPr/>
        </p:nvPicPr>
        <p:blipFill>
          <a:blip r:embed="rId2"/>
          <a:stretch>
            <a:fillRect/>
          </a:stretch>
        </p:blipFill>
        <p:spPr>
          <a:xfrm>
            <a:off x="9326880" y="3840480"/>
            <a:ext cx="2651760" cy="1993392"/>
          </a:xfrm>
          <a:prstGeom prst="rect">
            <a:avLst/>
          </a:prstGeom>
        </p:spPr>
      </p:pic>
      <p:sp>
        <p:nvSpPr>
          <p:cNvPr id="13" name="Rectangle 1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15" name="TextBox 14"/>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1371600" y="201168"/>
            <a:ext cx="9445752" cy="658368"/>
          </a:xfrm>
          <a:prstGeom prst="round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01168"/>
            <a:ext cx="9445752" cy="658368"/>
          </a:xfrm>
          <a:prstGeom prst="rect">
            <a:avLst/>
          </a:prstGeom>
          <a:noFill/>
        </p:spPr>
        <p:txBody>
          <a:bodyPr wrap="square">
            <a:spAutoFit/>
          </a:bodyPr>
          <a:lstStyle/>
          <a:p>
            <a:pPr algn="ctr"/>
            <a:r>
              <a:rPr sz="2400" b="1" i="0">
                <a:solidFill>
                  <a:srgbClr val="FFFFFF"/>
                </a:solidFill>
                <a:latin typeface="游明朝"/>
                <a:ea typeface="游明朝"/>
              </a:rPr>
              <a:t>血 統 解 析</a:t>
            </a:r>
          </a:p>
        </p:txBody>
      </p:sp>
      <p:sp>
        <p:nvSpPr>
          <p:cNvPr id="6" name="TextBox 5"/>
          <p:cNvSpPr txBox="1"/>
          <p:nvPr/>
        </p:nvSpPr>
        <p:spPr>
          <a:xfrm>
            <a:off x="1417320" y="201168"/>
            <a:ext cx="9354312" cy="658368"/>
          </a:xfrm>
          <a:prstGeom prst="rect">
            <a:avLst/>
          </a:prstGeom>
          <a:noFill/>
        </p:spPr>
        <p:txBody>
          <a:bodyPr wrap="square">
            <a:spAutoFit/>
          </a:bodyPr>
          <a:lstStyle/>
          <a:p>
            <a:pPr algn="ctr"/>
            <a:r>
              <a:rPr sz="2400" b="1" i="0">
                <a:solidFill>
                  <a:srgbClr val="FFFFFF"/>
                </a:solidFill>
                <a:latin typeface="游明朝"/>
                <a:ea typeface="游明朝"/>
              </a:rPr>
              <a:t>血 統 解 析</a:t>
            </a:r>
          </a:p>
        </p:txBody>
      </p:sp>
      <p:sp>
        <p:nvSpPr>
          <p:cNvPr id="7" name="TextBox 6"/>
          <p:cNvSpPr txBox="1"/>
          <p:nvPr/>
        </p:nvSpPr>
        <p:spPr>
          <a:xfrm>
            <a:off x="457200" y="960120"/>
            <a:ext cx="11274552" cy="365760"/>
          </a:xfrm>
          <a:prstGeom prst="rect">
            <a:avLst/>
          </a:prstGeom>
          <a:noFill/>
        </p:spPr>
        <p:txBody>
          <a:bodyPr wrap="square">
            <a:spAutoFit/>
          </a:bodyPr>
          <a:lstStyle/>
          <a:p>
            <a:pPr algn="ctr"/>
            <a:r>
              <a:rPr sz="1200" b="0" i="1">
                <a:solidFill>
                  <a:srgbClr val="6B505A"/>
                </a:solidFill>
                <a:latin typeface="游ゴシック"/>
                <a:ea typeface="游ゴシック"/>
              </a:rPr>
              <a:t>ギーニョ血統データ  桜花賞 父系・母父系 複勝率ランキング</a:t>
            </a:r>
          </a:p>
        </p:txBody>
      </p:sp>
      <p:sp>
        <p:nvSpPr>
          <p:cNvPr id="8" name="Rectangle 7"/>
          <p:cNvSpPr/>
          <p:nvPr/>
        </p:nvSpPr>
        <p:spPr>
          <a:xfrm>
            <a:off x="365760" y="1417320"/>
            <a:ext cx="5394960" cy="47548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17320"/>
            <a:ext cx="5394960" cy="475488"/>
          </a:xfrm>
          <a:prstGeom prst="rect">
            <a:avLst/>
          </a:prstGeom>
          <a:noFill/>
        </p:spPr>
        <p:txBody>
          <a:bodyPr wrap="square">
            <a:spAutoFit/>
          </a:bodyPr>
          <a:lstStyle/>
          <a:p>
            <a:pPr algn="ctr"/>
            <a:r>
              <a:rPr sz="1500" b="1" i="0">
                <a:solidFill>
                  <a:srgbClr val="FFFFFF"/>
                </a:solidFill>
                <a:latin typeface="游明朝"/>
                <a:ea typeface="游明朝"/>
              </a:rPr>
              <a:t>父　系  ランキング</a:t>
            </a:r>
          </a:p>
        </p:txBody>
      </p:sp>
      <p:sp>
        <p:nvSpPr>
          <p:cNvPr id="10" name="Rounded Rectangle 9"/>
          <p:cNvSpPr/>
          <p:nvPr/>
        </p:nvSpPr>
        <p:spPr>
          <a:xfrm>
            <a:off x="365760" y="1965960"/>
            <a:ext cx="5394960" cy="1234440"/>
          </a:xfrm>
          <a:prstGeom prst="roundRect">
            <a:avLst/>
          </a:prstGeom>
          <a:solidFill>
            <a:srgbClr val="FFF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64008" cy="123444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57400"/>
            <a:ext cx="3200400" cy="438912"/>
          </a:xfrm>
          <a:prstGeom prst="rect">
            <a:avLst/>
          </a:prstGeom>
          <a:noFill/>
        </p:spPr>
        <p:txBody>
          <a:bodyPr wrap="square">
            <a:spAutoFit/>
          </a:bodyPr>
          <a:lstStyle/>
          <a:p>
            <a:pPr algn="l"/>
            <a:r>
              <a:rPr sz="1400" b="1" i="0">
                <a:solidFill>
                  <a:srgbClr val="0F0A0C"/>
                </a:solidFill>
                <a:latin typeface="游明朝"/>
                <a:ea typeface="游明朝"/>
              </a:rPr>
              <a:t>🥇  キタサンブラック</a:t>
            </a:r>
          </a:p>
        </p:txBody>
      </p:sp>
      <p:sp>
        <p:nvSpPr>
          <p:cNvPr id="13" name="TextBox 12"/>
          <p:cNvSpPr txBox="1"/>
          <p:nvPr/>
        </p:nvSpPr>
        <p:spPr>
          <a:xfrm>
            <a:off x="548640" y="2532888"/>
            <a:ext cx="3200400" cy="320040"/>
          </a:xfrm>
          <a:prstGeom prst="rect">
            <a:avLst/>
          </a:prstGeom>
          <a:noFill/>
        </p:spPr>
        <p:txBody>
          <a:bodyPr wrap="square">
            <a:spAutoFit/>
          </a:bodyPr>
          <a:lstStyle/>
          <a:p>
            <a:pPr algn="l"/>
            <a:r>
              <a:rPr sz="1000" b="0" i="0">
                <a:solidFill>
                  <a:srgbClr val="6B505A"/>
                </a:solidFill>
                <a:latin typeface="游ゴシック"/>
                <a:ea typeface="游ゴシック"/>
              </a:rPr>
              <a:t>複勝率  66.7%  (3頭)</a:t>
            </a:r>
          </a:p>
        </p:txBody>
      </p:sp>
      <p:sp>
        <p:nvSpPr>
          <p:cNvPr id="14" name="Rectangle 13"/>
          <p:cNvSpPr/>
          <p:nvPr/>
        </p:nvSpPr>
        <p:spPr>
          <a:xfrm>
            <a:off x="3913632" y="2148840"/>
            <a:ext cx="1600200"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13632" y="2148840"/>
            <a:ext cx="1067333" cy="22860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862072"/>
            <a:ext cx="4663440" cy="292608"/>
          </a:xfrm>
          <a:prstGeom prst="rect">
            <a:avLst/>
          </a:prstGeom>
          <a:noFill/>
        </p:spPr>
        <p:txBody>
          <a:bodyPr wrap="square">
            <a:spAutoFit/>
          </a:bodyPr>
          <a:lstStyle/>
          <a:p>
            <a:pPr algn="l"/>
            <a:r>
              <a:rPr sz="900" b="0" i="1">
                <a:solidFill>
                  <a:srgbClr val="F5B731"/>
                </a:solidFill>
                <a:latin typeface="游ゴシック"/>
                <a:ea typeface="游ゴシック"/>
              </a:rPr>
              <a:t>ブラックチャリス</a:t>
            </a:r>
          </a:p>
        </p:txBody>
      </p:sp>
      <p:sp>
        <p:nvSpPr>
          <p:cNvPr id="17" name="Rounded Rectangle 16"/>
          <p:cNvSpPr/>
          <p:nvPr/>
        </p:nvSpPr>
        <p:spPr>
          <a:xfrm>
            <a:off x="365760" y="3319272"/>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319272"/>
            <a:ext cx="64008" cy="123444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10712"/>
            <a:ext cx="3200400" cy="438912"/>
          </a:xfrm>
          <a:prstGeom prst="rect">
            <a:avLst/>
          </a:prstGeom>
          <a:noFill/>
        </p:spPr>
        <p:txBody>
          <a:bodyPr wrap="square">
            <a:spAutoFit/>
          </a:bodyPr>
          <a:lstStyle/>
          <a:p>
            <a:pPr algn="l"/>
            <a:r>
              <a:rPr sz="1400" b="0" i="0">
                <a:solidFill>
                  <a:srgbClr val="0F0A0C"/>
                </a:solidFill>
                <a:latin typeface="游明朝"/>
                <a:ea typeface="游明朝"/>
              </a:rPr>
              <a:t>🥈  エピファネイア</a:t>
            </a:r>
          </a:p>
        </p:txBody>
      </p:sp>
      <p:sp>
        <p:nvSpPr>
          <p:cNvPr id="20" name="TextBox 19"/>
          <p:cNvSpPr txBox="1"/>
          <p:nvPr/>
        </p:nvSpPr>
        <p:spPr>
          <a:xfrm>
            <a:off x="548640" y="3886200"/>
            <a:ext cx="3200400" cy="320040"/>
          </a:xfrm>
          <a:prstGeom prst="rect">
            <a:avLst/>
          </a:prstGeom>
          <a:noFill/>
        </p:spPr>
        <p:txBody>
          <a:bodyPr wrap="square">
            <a:spAutoFit/>
          </a:bodyPr>
          <a:lstStyle/>
          <a:p>
            <a:pPr algn="l"/>
            <a:r>
              <a:rPr sz="1000" b="0" i="0">
                <a:solidFill>
                  <a:srgbClr val="6B505A"/>
                </a:solidFill>
                <a:latin typeface="游ゴシック"/>
                <a:ea typeface="游ゴシック"/>
              </a:rPr>
              <a:t>複勝率  28.6%  (7頭)</a:t>
            </a:r>
          </a:p>
        </p:txBody>
      </p:sp>
      <p:sp>
        <p:nvSpPr>
          <p:cNvPr id="21" name="Rectangle 20"/>
          <p:cNvSpPr/>
          <p:nvPr/>
        </p:nvSpPr>
        <p:spPr>
          <a:xfrm>
            <a:off x="3913632" y="3502152"/>
            <a:ext cx="1600200"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13632" y="3502152"/>
            <a:ext cx="457657" cy="2286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215383"/>
            <a:ext cx="4663440" cy="292608"/>
          </a:xfrm>
          <a:prstGeom prst="rect">
            <a:avLst/>
          </a:prstGeom>
          <a:noFill/>
        </p:spPr>
        <p:txBody>
          <a:bodyPr wrap="square">
            <a:spAutoFit/>
          </a:bodyPr>
          <a:lstStyle/>
          <a:p>
            <a:pPr algn="l"/>
            <a:r>
              <a:rPr sz="900" b="0" i="1">
                <a:solidFill>
                  <a:srgbClr val="E8136E"/>
                </a:solidFill>
                <a:latin typeface="游ゴシック"/>
                <a:ea typeface="游ゴシック"/>
              </a:rPr>
              <a:t>アランカール</a:t>
            </a:r>
          </a:p>
        </p:txBody>
      </p:sp>
      <p:sp>
        <p:nvSpPr>
          <p:cNvPr id="24" name="Rounded Rectangle 23"/>
          <p:cNvSpPr/>
          <p:nvPr/>
        </p:nvSpPr>
        <p:spPr>
          <a:xfrm>
            <a:off x="365760" y="4672583"/>
            <a:ext cx="5394960" cy="1234440"/>
          </a:xfrm>
          <a:prstGeom prst="roundRect">
            <a:avLst/>
          </a:prstGeom>
          <a:solidFill>
            <a:srgbClr val="FFF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672583"/>
            <a:ext cx="64008" cy="1234440"/>
          </a:xfrm>
          <a:prstGeom prst="rect">
            <a:avLst/>
          </a:prstGeom>
          <a:solidFill>
            <a:srgbClr val="6B5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764023"/>
            <a:ext cx="3200400" cy="438912"/>
          </a:xfrm>
          <a:prstGeom prst="rect">
            <a:avLst/>
          </a:prstGeom>
          <a:noFill/>
        </p:spPr>
        <p:txBody>
          <a:bodyPr wrap="square">
            <a:spAutoFit/>
          </a:bodyPr>
          <a:lstStyle/>
          <a:p>
            <a:pPr algn="l"/>
            <a:r>
              <a:rPr sz="1400" b="0" i="0">
                <a:solidFill>
                  <a:srgbClr val="0F0A0C"/>
                </a:solidFill>
                <a:latin typeface="游明朝"/>
                <a:ea typeface="游明朝"/>
              </a:rPr>
              <a:t>🥉  ロードカナロア</a:t>
            </a:r>
          </a:p>
        </p:txBody>
      </p:sp>
      <p:sp>
        <p:nvSpPr>
          <p:cNvPr id="27" name="TextBox 26"/>
          <p:cNvSpPr txBox="1"/>
          <p:nvPr/>
        </p:nvSpPr>
        <p:spPr>
          <a:xfrm>
            <a:off x="548640" y="5239512"/>
            <a:ext cx="3200400" cy="320040"/>
          </a:xfrm>
          <a:prstGeom prst="rect">
            <a:avLst/>
          </a:prstGeom>
          <a:noFill/>
        </p:spPr>
        <p:txBody>
          <a:bodyPr wrap="square">
            <a:spAutoFit/>
          </a:bodyPr>
          <a:lstStyle/>
          <a:p>
            <a:pPr algn="l"/>
            <a:r>
              <a:rPr sz="1000" b="0" i="0">
                <a:solidFill>
                  <a:srgbClr val="6B505A"/>
                </a:solidFill>
                <a:latin typeface="游ゴシック"/>
                <a:ea typeface="游ゴシック"/>
              </a:rPr>
              <a:t>複勝率  22.2%  (多数)</a:t>
            </a:r>
          </a:p>
        </p:txBody>
      </p:sp>
      <p:sp>
        <p:nvSpPr>
          <p:cNvPr id="28" name="Rectangle 27"/>
          <p:cNvSpPr/>
          <p:nvPr/>
        </p:nvSpPr>
        <p:spPr>
          <a:xfrm>
            <a:off x="3913632" y="4855464"/>
            <a:ext cx="1600200"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13632" y="4855464"/>
            <a:ext cx="355244" cy="228600"/>
          </a:xfrm>
          <a:prstGeom prst="rect">
            <a:avLst/>
          </a:prstGeom>
          <a:solidFill>
            <a:srgbClr val="6B5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568696"/>
            <a:ext cx="4663440" cy="292608"/>
          </a:xfrm>
          <a:prstGeom prst="rect">
            <a:avLst/>
          </a:prstGeom>
          <a:noFill/>
        </p:spPr>
        <p:txBody>
          <a:bodyPr wrap="square">
            <a:spAutoFit/>
          </a:bodyPr>
          <a:lstStyle/>
          <a:p>
            <a:pPr algn="l"/>
            <a:r>
              <a:rPr sz="900" b="0" i="1">
                <a:solidFill>
                  <a:srgbClr val="6B505A"/>
                </a:solidFill>
                <a:latin typeface="游ゴシック"/>
                <a:ea typeface="游ゴシック"/>
              </a:rPr>
              <a:t>複は〇 単は✕</a:t>
            </a:r>
          </a:p>
        </p:txBody>
      </p:sp>
      <p:sp>
        <p:nvSpPr>
          <p:cNvPr id="31" name="Rectangle 30"/>
          <p:cNvSpPr/>
          <p:nvPr/>
        </p:nvSpPr>
        <p:spPr>
          <a:xfrm>
            <a:off x="6400800" y="1417320"/>
            <a:ext cx="5394960" cy="47548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1417320"/>
            <a:ext cx="5394960" cy="475488"/>
          </a:xfrm>
          <a:prstGeom prst="rect">
            <a:avLst/>
          </a:prstGeom>
          <a:noFill/>
        </p:spPr>
        <p:txBody>
          <a:bodyPr wrap="square">
            <a:spAutoFit/>
          </a:bodyPr>
          <a:lstStyle/>
          <a:p>
            <a:pPr algn="ctr"/>
            <a:r>
              <a:rPr sz="1500" b="1" i="0">
                <a:solidFill>
                  <a:srgbClr val="FFFFFF"/>
                </a:solidFill>
                <a:latin typeface="游明朝"/>
                <a:ea typeface="游明朝"/>
              </a:rPr>
              <a:t>母父系  ランキング</a:t>
            </a:r>
          </a:p>
        </p:txBody>
      </p:sp>
      <p:sp>
        <p:nvSpPr>
          <p:cNvPr id="33" name="Rounded Rectangle 32"/>
          <p:cNvSpPr/>
          <p:nvPr/>
        </p:nvSpPr>
        <p:spPr>
          <a:xfrm>
            <a:off x="6400800" y="1965960"/>
            <a:ext cx="5394960" cy="1234440"/>
          </a:xfrm>
          <a:prstGeom prst="roundRect">
            <a:avLst/>
          </a:prstGeom>
          <a:solidFill>
            <a:srgbClr val="F0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0" y="1965960"/>
            <a:ext cx="64008" cy="123444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2057400"/>
            <a:ext cx="3108960" cy="438912"/>
          </a:xfrm>
          <a:prstGeom prst="rect">
            <a:avLst/>
          </a:prstGeom>
          <a:noFill/>
        </p:spPr>
        <p:txBody>
          <a:bodyPr wrap="square">
            <a:spAutoFit/>
          </a:bodyPr>
          <a:lstStyle/>
          <a:p>
            <a:pPr algn="l"/>
            <a:r>
              <a:rPr sz="1400" b="1" i="0">
                <a:solidFill>
                  <a:srgbClr val="0F0A0C"/>
                </a:solidFill>
                <a:latin typeface="游明朝"/>
                <a:ea typeface="游明朝"/>
              </a:rPr>
              <a:t>🥇  ハーツクライ</a:t>
            </a:r>
          </a:p>
        </p:txBody>
      </p:sp>
      <p:sp>
        <p:nvSpPr>
          <p:cNvPr id="36" name="TextBox 35"/>
          <p:cNvSpPr txBox="1"/>
          <p:nvPr/>
        </p:nvSpPr>
        <p:spPr>
          <a:xfrm>
            <a:off x="6583680" y="2532888"/>
            <a:ext cx="3108960" cy="320040"/>
          </a:xfrm>
          <a:prstGeom prst="rect">
            <a:avLst/>
          </a:prstGeom>
          <a:noFill/>
        </p:spPr>
        <p:txBody>
          <a:bodyPr wrap="square">
            <a:spAutoFit/>
          </a:bodyPr>
          <a:lstStyle/>
          <a:p>
            <a:pPr algn="l"/>
            <a:r>
              <a:rPr sz="1000" b="0" i="0">
                <a:solidFill>
                  <a:srgbClr val="6B505A"/>
                </a:solidFill>
                <a:latin typeface="游ゴシック"/>
                <a:ea typeface="游ゴシック"/>
              </a:rPr>
              <a:t>複勝率  50.0%  (2頭)</a:t>
            </a:r>
          </a:p>
        </p:txBody>
      </p:sp>
      <p:sp>
        <p:nvSpPr>
          <p:cNvPr id="37" name="Rectangle 36"/>
          <p:cNvSpPr/>
          <p:nvPr/>
        </p:nvSpPr>
        <p:spPr>
          <a:xfrm>
            <a:off x="9829800" y="2148840"/>
            <a:ext cx="1719072"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29800" y="2148840"/>
            <a:ext cx="859536" cy="22860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2862072"/>
            <a:ext cx="5029200" cy="292608"/>
          </a:xfrm>
          <a:prstGeom prst="rect">
            <a:avLst/>
          </a:prstGeom>
          <a:noFill/>
        </p:spPr>
        <p:txBody>
          <a:bodyPr wrap="square">
            <a:spAutoFit/>
          </a:bodyPr>
          <a:lstStyle/>
          <a:p>
            <a:pPr algn="l"/>
            <a:r>
              <a:rPr sz="900" b="0" i="1">
                <a:solidFill>
                  <a:srgbClr val="F5B731"/>
                </a:solidFill>
                <a:latin typeface="游ゴシック"/>
                <a:ea typeface="游ゴシック"/>
              </a:rPr>
              <a:t>フェスティバルヒル</a:t>
            </a:r>
          </a:p>
        </p:txBody>
      </p:sp>
      <p:sp>
        <p:nvSpPr>
          <p:cNvPr id="40" name="Rounded Rectangle 39"/>
          <p:cNvSpPr/>
          <p:nvPr/>
        </p:nvSpPr>
        <p:spPr>
          <a:xfrm>
            <a:off x="6400800" y="3319272"/>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3319272"/>
            <a:ext cx="64008" cy="12344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3410712"/>
            <a:ext cx="3108960" cy="438912"/>
          </a:xfrm>
          <a:prstGeom prst="rect">
            <a:avLst/>
          </a:prstGeom>
          <a:noFill/>
        </p:spPr>
        <p:txBody>
          <a:bodyPr wrap="square">
            <a:spAutoFit/>
          </a:bodyPr>
          <a:lstStyle/>
          <a:p>
            <a:pPr algn="l"/>
            <a:r>
              <a:rPr sz="1400" b="0" i="0">
                <a:solidFill>
                  <a:srgbClr val="0F0A0C"/>
                </a:solidFill>
                <a:latin typeface="游明朝"/>
                <a:ea typeface="游明朝"/>
              </a:rPr>
              <a:t>🥈  クロフネ</a:t>
            </a:r>
          </a:p>
        </p:txBody>
      </p:sp>
      <p:sp>
        <p:nvSpPr>
          <p:cNvPr id="43" name="TextBox 42"/>
          <p:cNvSpPr txBox="1"/>
          <p:nvPr/>
        </p:nvSpPr>
        <p:spPr>
          <a:xfrm>
            <a:off x="6583680" y="3886200"/>
            <a:ext cx="3108960" cy="320040"/>
          </a:xfrm>
          <a:prstGeom prst="rect">
            <a:avLst/>
          </a:prstGeom>
          <a:noFill/>
        </p:spPr>
        <p:txBody>
          <a:bodyPr wrap="square">
            <a:spAutoFit/>
          </a:bodyPr>
          <a:lstStyle/>
          <a:p>
            <a:pPr algn="l"/>
            <a:r>
              <a:rPr sz="1000" b="0" i="0">
                <a:solidFill>
                  <a:srgbClr val="6B505A"/>
                </a:solidFill>
                <a:latin typeface="游ゴシック"/>
                <a:ea typeface="游ゴシック"/>
              </a:rPr>
              <a:t>複勝率  42.9%  (7頭)</a:t>
            </a:r>
          </a:p>
        </p:txBody>
      </p:sp>
      <p:sp>
        <p:nvSpPr>
          <p:cNvPr id="44" name="Rectangle 43"/>
          <p:cNvSpPr/>
          <p:nvPr/>
        </p:nvSpPr>
        <p:spPr>
          <a:xfrm>
            <a:off x="9829800" y="3502152"/>
            <a:ext cx="1719072"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29800" y="3502152"/>
            <a:ext cx="737481" cy="2286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00800" y="4672583"/>
            <a:ext cx="5394960" cy="1234440"/>
          </a:xfrm>
          <a:prstGeom prst="roundRect">
            <a:avLst/>
          </a:prstGeom>
          <a:solidFill>
            <a:srgbClr val="F0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0" y="4672583"/>
            <a:ext cx="64008" cy="1234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4764023"/>
            <a:ext cx="3108960" cy="438912"/>
          </a:xfrm>
          <a:prstGeom prst="rect">
            <a:avLst/>
          </a:prstGeom>
          <a:noFill/>
        </p:spPr>
        <p:txBody>
          <a:bodyPr wrap="square">
            <a:spAutoFit/>
          </a:bodyPr>
          <a:lstStyle/>
          <a:p>
            <a:pPr algn="l"/>
            <a:r>
              <a:rPr sz="1400" b="0" i="0">
                <a:solidFill>
                  <a:srgbClr val="0F0A0C"/>
                </a:solidFill>
                <a:latin typeface="游明朝"/>
                <a:ea typeface="游明朝"/>
              </a:rPr>
              <a:t>🥉  ディープインパクト</a:t>
            </a:r>
          </a:p>
        </p:txBody>
      </p:sp>
      <p:sp>
        <p:nvSpPr>
          <p:cNvPr id="49" name="TextBox 48"/>
          <p:cNvSpPr txBox="1"/>
          <p:nvPr/>
        </p:nvSpPr>
        <p:spPr>
          <a:xfrm>
            <a:off x="6583680" y="5239512"/>
            <a:ext cx="3108960" cy="320040"/>
          </a:xfrm>
          <a:prstGeom prst="rect">
            <a:avLst/>
          </a:prstGeom>
          <a:noFill/>
        </p:spPr>
        <p:txBody>
          <a:bodyPr wrap="square">
            <a:spAutoFit/>
          </a:bodyPr>
          <a:lstStyle/>
          <a:p>
            <a:pPr algn="l"/>
            <a:r>
              <a:rPr sz="1000" b="0" i="0">
                <a:solidFill>
                  <a:srgbClr val="6B505A"/>
                </a:solidFill>
                <a:latin typeface="游ゴシック"/>
                <a:ea typeface="游ゴシック"/>
              </a:rPr>
              <a:t>複勝率  0.0%  (多数)</a:t>
            </a:r>
          </a:p>
        </p:txBody>
      </p:sp>
      <p:sp>
        <p:nvSpPr>
          <p:cNvPr id="50" name="Rectangle 49"/>
          <p:cNvSpPr/>
          <p:nvPr/>
        </p:nvSpPr>
        <p:spPr>
          <a:xfrm>
            <a:off x="9829800" y="4855464"/>
            <a:ext cx="1719072" cy="22860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0" y="5568696"/>
            <a:ext cx="5029200" cy="292608"/>
          </a:xfrm>
          <a:prstGeom prst="rect">
            <a:avLst/>
          </a:prstGeom>
          <a:noFill/>
        </p:spPr>
        <p:txBody>
          <a:bodyPr wrap="square">
            <a:spAutoFit/>
          </a:bodyPr>
          <a:lstStyle/>
          <a:p>
            <a:pPr algn="l"/>
            <a:r>
              <a:rPr sz="900" b="0" i="1">
                <a:solidFill>
                  <a:srgbClr val="DC2626"/>
                </a:solidFill>
                <a:latin typeface="游ゴシック"/>
                <a:ea typeface="游ゴシック"/>
              </a:rPr>
              <a:t>ルールザウェイヴ 消し</a:t>
            </a:r>
          </a:p>
        </p:txBody>
      </p:sp>
      <p:sp>
        <p:nvSpPr>
          <p:cNvPr id="52" name="Rounded Rectangle 51"/>
          <p:cNvSpPr/>
          <p:nvPr/>
        </p:nvSpPr>
        <p:spPr>
          <a:xfrm>
            <a:off x="365760" y="6016752"/>
            <a:ext cx="7772400" cy="3931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5760" y="6016752"/>
            <a:ext cx="64008" cy="39319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6053328"/>
            <a:ext cx="7498079" cy="310896"/>
          </a:xfrm>
          <a:prstGeom prst="rect">
            <a:avLst/>
          </a:prstGeom>
          <a:noFill/>
        </p:spPr>
        <p:txBody>
          <a:bodyPr wrap="square">
            <a:spAutoFit/>
          </a:bodyPr>
          <a:lstStyle/>
          <a:p>
            <a:pPr algn="l"/>
            <a:r>
              <a:rPr sz="900" b="0" i="0">
                <a:solidFill>
                  <a:srgbClr val="0F0A0C"/>
                </a:solidFill>
                <a:latin typeface="游ゴシック"/>
                <a:ea typeface="游ゴシック"/>
              </a:rPr>
              <a:t>血統総括: ブラックチャリス（父66.7%）とフェスティバルヒル（母父50%）が血統最上位。ただしデータ相克あり。</a:t>
            </a:r>
          </a:p>
        </p:txBody>
      </p:sp>
      <p:pic>
        <p:nvPicPr>
          <p:cNvPr id="55" name="Picture 54" descr="ginyo.jpg"/>
          <p:cNvPicPr>
            <a:picLocks noChangeAspect="1"/>
          </p:cNvPicPr>
          <p:nvPr/>
        </p:nvPicPr>
        <p:blipFill>
          <a:blip r:embed="rId2"/>
          <a:stretch>
            <a:fillRect/>
          </a:stretch>
        </p:blipFill>
        <p:spPr>
          <a:xfrm>
            <a:off x="8321040" y="4937760"/>
            <a:ext cx="3566160" cy="2670048"/>
          </a:xfrm>
          <a:prstGeom prst="rect">
            <a:avLst/>
          </a:prstGeom>
        </p:spPr>
      </p:pic>
      <p:sp>
        <p:nvSpPr>
          <p:cNvPr id="56" name="Rectangle 55"/>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58" name="TextBox 57"/>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ounded Rectangle 3"/>
          <p:cNvSpPr/>
          <p:nvPr/>
        </p:nvSpPr>
        <p:spPr>
          <a:xfrm>
            <a:off x="1371600" y="201168"/>
            <a:ext cx="9445752" cy="658368"/>
          </a:xfrm>
          <a:prstGeom prst="round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17320" y="201168"/>
            <a:ext cx="9354312" cy="658368"/>
          </a:xfrm>
          <a:prstGeom prst="rect">
            <a:avLst/>
          </a:prstGeom>
          <a:noFill/>
        </p:spPr>
        <p:txBody>
          <a:bodyPr wrap="square">
            <a:spAutoFit/>
          </a:bodyPr>
          <a:lstStyle/>
          <a:p>
            <a:pPr algn="ctr"/>
            <a:r>
              <a:rPr sz="2400" b="1" i="0">
                <a:solidFill>
                  <a:srgbClr val="FFFFFF"/>
                </a:solidFill>
                <a:latin typeface="游明朝"/>
                <a:ea typeface="游明朝"/>
              </a:rPr>
              <a:t>特 別 解 析</a:t>
            </a:r>
          </a:p>
        </p:txBody>
      </p:sp>
      <p:sp>
        <p:nvSpPr>
          <p:cNvPr id="6" name="TextBox 5"/>
          <p:cNvSpPr txBox="1"/>
          <p:nvPr/>
        </p:nvSpPr>
        <p:spPr>
          <a:xfrm>
            <a:off x="457200" y="960120"/>
            <a:ext cx="11274552" cy="365760"/>
          </a:xfrm>
          <a:prstGeom prst="rect">
            <a:avLst/>
          </a:prstGeom>
          <a:noFill/>
        </p:spPr>
        <p:txBody>
          <a:bodyPr wrap="square">
            <a:spAutoFit/>
          </a:bodyPr>
          <a:lstStyle/>
          <a:p>
            <a:pPr algn="ctr"/>
            <a:r>
              <a:rPr sz="1200" b="0" i="1">
                <a:solidFill>
                  <a:srgbClr val="6B505A"/>
                </a:solidFill>
                <a:latin typeface="游ゴシック"/>
                <a:ea typeface="游ゴシック"/>
              </a:rPr>
              <a:t>G2前走の罠  /  G1前走の正解  /  穴馬ファクター該当馬</a:t>
            </a:r>
          </a:p>
        </p:txBody>
      </p:sp>
      <p:sp>
        <p:nvSpPr>
          <p:cNvPr id="7" name="Rounded Rectangle 6"/>
          <p:cNvSpPr/>
          <p:nvPr/>
        </p:nvSpPr>
        <p:spPr>
          <a:xfrm>
            <a:off x="365760" y="1444752"/>
            <a:ext cx="3520440" cy="4480560"/>
          </a:xfrm>
          <a:prstGeom prst="round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4500" y="1572768"/>
            <a:ext cx="822960" cy="749808"/>
          </a:xfrm>
          <a:prstGeom prst="rect">
            <a:avLst/>
          </a:prstGeom>
          <a:noFill/>
        </p:spPr>
        <p:txBody>
          <a:bodyPr wrap="square">
            <a:spAutoFit/>
          </a:bodyPr>
          <a:lstStyle/>
          <a:p>
            <a:pPr algn="ctr"/>
            <a:r>
              <a:rPr sz="3200" b="0" i="0">
                <a:latin typeface="游ゴシック"/>
                <a:ea typeface="游ゴシック"/>
              </a:rPr>
              <a:t>🚫</a:t>
            </a:r>
          </a:p>
        </p:txBody>
      </p:sp>
      <p:sp>
        <p:nvSpPr>
          <p:cNvPr id="9" name="TextBox 8"/>
          <p:cNvSpPr txBox="1"/>
          <p:nvPr/>
        </p:nvSpPr>
        <p:spPr>
          <a:xfrm>
            <a:off x="502920" y="2377440"/>
            <a:ext cx="3246120" cy="502920"/>
          </a:xfrm>
          <a:prstGeom prst="rect">
            <a:avLst/>
          </a:prstGeom>
          <a:noFill/>
        </p:spPr>
        <p:txBody>
          <a:bodyPr wrap="square">
            <a:spAutoFit/>
          </a:bodyPr>
          <a:lstStyle/>
          <a:p>
            <a:pPr algn="ctr"/>
            <a:r>
              <a:rPr sz="1600" b="1" i="0">
                <a:solidFill>
                  <a:srgbClr val="FFFFFF"/>
                </a:solidFill>
                <a:latin typeface="游明朝"/>
                <a:ea typeface="游明朝"/>
              </a:rPr>
              <a:t>G2前走の罠</a:t>
            </a:r>
          </a:p>
        </p:txBody>
      </p:sp>
      <p:sp>
        <p:nvSpPr>
          <p:cNvPr id="10" name="TextBox 9"/>
          <p:cNvSpPr txBox="1"/>
          <p:nvPr/>
        </p:nvSpPr>
        <p:spPr>
          <a:xfrm>
            <a:off x="502920" y="2971800"/>
            <a:ext cx="3246120" cy="841248"/>
          </a:xfrm>
          <a:prstGeom prst="rect">
            <a:avLst/>
          </a:prstGeom>
          <a:noFill/>
        </p:spPr>
        <p:txBody>
          <a:bodyPr wrap="square">
            <a:spAutoFit/>
          </a:bodyPr>
          <a:lstStyle/>
          <a:p>
            <a:pPr algn="ctr"/>
            <a:r>
              <a:rPr sz="1000" b="0" i="0">
                <a:solidFill>
                  <a:srgbClr val="FFF0F5"/>
                </a:solidFill>
                <a:latin typeface="游ゴシック"/>
                <a:ea typeface="游ゴシック"/>
              </a:rPr>
              <a:t>チューリップ賞などG2前走1着は複勝率わずか5%。
実力があっても大幅割引が正解。</a:t>
            </a:r>
          </a:p>
        </p:txBody>
      </p:sp>
      <p:sp>
        <p:nvSpPr>
          <p:cNvPr id="11" name="Rounded Rectangle 10"/>
          <p:cNvSpPr/>
          <p:nvPr/>
        </p:nvSpPr>
        <p:spPr>
          <a:xfrm>
            <a:off x="4224528" y="1444752"/>
            <a:ext cx="3520440" cy="44805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3268" y="1572768"/>
            <a:ext cx="822960" cy="749808"/>
          </a:xfrm>
          <a:prstGeom prst="rect">
            <a:avLst/>
          </a:prstGeom>
          <a:noFill/>
        </p:spPr>
        <p:txBody>
          <a:bodyPr wrap="square">
            <a:spAutoFit/>
          </a:bodyPr>
          <a:lstStyle/>
          <a:p>
            <a:pPr algn="ctr"/>
            <a:r>
              <a:rPr sz="3200" b="0" i="0">
                <a:latin typeface="游ゴシック"/>
                <a:ea typeface="游ゴシック"/>
              </a:rPr>
              <a:t>✅</a:t>
            </a:r>
          </a:p>
        </p:txBody>
      </p:sp>
      <p:sp>
        <p:nvSpPr>
          <p:cNvPr id="13" name="TextBox 12"/>
          <p:cNvSpPr txBox="1"/>
          <p:nvPr/>
        </p:nvSpPr>
        <p:spPr>
          <a:xfrm>
            <a:off x="4361688" y="2377440"/>
            <a:ext cx="3246120" cy="502920"/>
          </a:xfrm>
          <a:prstGeom prst="rect">
            <a:avLst/>
          </a:prstGeom>
          <a:noFill/>
        </p:spPr>
        <p:txBody>
          <a:bodyPr wrap="square">
            <a:spAutoFit/>
          </a:bodyPr>
          <a:lstStyle/>
          <a:p>
            <a:pPr algn="ctr"/>
            <a:r>
              <a:rPr sz="1600" b="1" i="0">
                <a:solidFill>
                  <a:srgbClr val="FFFFFF"/>
                </a:solidFill>
                <a:latin typeface="游明朝"/>
                <a:ea typeface="游明朝"/>
              </a:rPr>
              <a:t>G1前走の正解</a:t>
            </a:r>
          </a:p>
        </p:txBody>
      </p:sp>
      <p:sp>
        <p:nvSpPr>
          <p:cNvPr id="14" name="TextBox 13"/>
          <p:cNvSpPr txBox="1"/>
          <p:nvPr/>
        </p:nvSpPr>
        <p:spPr>
          <a:xfrm>
            <a:off x="4361688" y="2971800"/>
            <a:ext cx="3246120" cy="841248"/>
          </a:xfrm>
          <a:prstGeom prst="rect">
            <a:avLst/>
          </a:prstGeom>
          <a:noFill/>
        </p:spPr>
        <p:txBody>
          <a:bodyPr wrap="square">
            <a:spAutoFit/>
          </a:bodyPr>
          <a:lstStyle/>
          <a:p>
            <a:pPr algn="ctr"/>
            <a:r>
              <a:rPr sz="1000" b="0" i="0">
                <a:solidFill>
                  <a:srgbClr val="FFFFFF"/>
                </a:solidFill>
                <a:latin typeface="游ゴシック"/>
                <a:ea typeface="游ゴシック"/>
              </a:rPr>
              <a:t>G1前走1着は複勝率100%。
阪神JF直行ローテは最強条件。</a:t>
            </a:r>
          </a:p>
        </p:txBody>
      </p:sp>
      <p:sp>
        <p:nvSpPr>
          <p:cNvPr id="15" name="Rounded Rectangle 14"/>
          <p:cNvSpPr/>
          <p:nvPr/>
        </p:nvSpPr>
        <p:spPr>
          <a:xfrm>
            <a:off x="4389120" y="3950208"/>
            <a:ext cx="319125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3995928"/>
            <a:ext cx="3008376" cy="329184"/>
          </a:xfrm>
          <a:prstGeom prst="rect">
            <a:avLst/>
          </a:prstGeom>
          <a:noFill/>
        </p:spPr>
        <p:txBody>
          <a:bodyPr wrap="square">
            <a:spAutoFit/>
          </a:bodyPr>
          <a:lstStyle/>
          <a:p>
            <a:pPr algn="l"/>
            <a:r>
              <a:rPr sz="1100" b="1" i="0">
                <a:solidFill>
                  <a:srgbClr val="16A34A"/>
                </a:solidFill>
                <a:latin typeface="游ゴシック"/>
                <a:ea typeface="游ゴシック"/>
              </a:rPr>
              <a:t>スターアニス</a:t>
            </a:r>
          </a:p>
        </p:txBody>
      </p:sp>
      <p:sp>
        <p:nvSpPr>
          <p:cNvPr id="17" name="Rounded Rectangle 16"/>
          <p:cNvSpPr/>
          <p:nvPr/>
        </p:nvSpPr>
        <p:spPr>
          <a:xfrm>
            <a:off x="8083296" y="1444752"/>
            <a:ext cx="3520440" cy="448056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32036" y="1572768"/>
            <a:ext cx="822960" cy="749808"/>
          </a:xfrm>
          <a:prstGeom prst="rect">
            <a:avLst/>
          </a:prstGeom>
          <a:noFill/>
        </p:spPr>
        <p:txBody>
          <a:bodyPr wrap="square">
            <a:spAutoFit/>
          </a:bodyPr>
          <a:lstStyle/>
          <a:p>
            <a:pPr algn="ctr"/>
            <a:r>
              <a:rPr sz="3200" b="0" i="0">
                <a:latin typeface="游ゴシック"/>
                <a:ea typeface="游ゴシック"/>
              </a:rPr>
              <a:t>🎯</a:t>
            </a:r>
          </a:p>
        </p:txBody>
      </p:sp>
      <p:sp>
        <p:nvSpPr>
          <p:cNvPr id="19" name="TextBox 18"/>
          <p:cNvSpPr txBox="1"/>
          <p:nvPr/>
        </p:nvSpPr>
        <p:spPr>
          <a:xfrm>
            <a:off x="8220456" y="2377440"/>
            <a:ext cx="3246120" cy="502920"/>
          </a:xfrm>
          <a:prstGeom prst="rect">
            <a:avLst/>
          </a:prstGeom>
          <a:noFill/>
        </p:spPr>
        <p:txBody>
          <a:bodyPr wrap="square">
            <a:spAutoFit/>
          </a:bodyPr>
          <a:lstStyle/>
          <a:p>
            <a:pPr algn="ctr"/>
            <a:r>
              <a:rPr sz="1600" b="1" i="0">
                <a:solidFill>
                  <a:srgbClr val="FFFFFF"/>
                </a:solidFill>
                <a:latin typeface="游明朝"/>
                <a:ea typeface="游明朝"/>
              </a:rPr>
              <a:t>穴馬ファクター</a:t>
            </a:r>
          </a:p>
        </p:txBody>
      </p:sp>
      <p:sp>
        <p:nvSpPr>
          <p:cNvPr id="20" name="TextBox 19"/>
          <p:cNvSpPr txBox="1"/>
          <p:nvPr/>
        </p:nvSpPr>
        <p:spPr>
          <a:xfrm>
            <a:off x="8220456" y="2971800"/>
            <a:ext cx="3246120" cy="841248"/>
          </a:xfrm>
          <a:prstGeom prst="rect">
            <a:avLst/>
          </a:prstGeom>
          <a:noFill/>
        </p:spPr>
        <p:txBody>
          <a:bodyPr wrap="square">
            <a:spAutoFit/>
          </a:bodyPr>
          <a:lstStyle/>
          <a:p>
            <a:pPr algn="ctr"/>
            <a:r>
              <a:rPr sz="1000" b="0" i="0">
                <a:solidFill>
                  <a:srgbClr val="FFFFFF"/>
                </a:solidFill>
                <a:latin typeface="游ゴシック"/>
                <a:ea typeface="游ゴシック"/>
              </a:rPr>
              <a:t>レース統計から導かれた穴馬候補。
血統×ローテが揃った一発期待馬。</a:t>
            </a:r>
          </a:p>
        </p:txBody>
      </p:sp>
      <p:sp>
        <p:nvSpPr>
          <p:cNvPr id="21" name="Rounded Rectangle 20"/>
          <p:cNvSpPr/>
          <p:nvPr/>
        </p:nvSpPr>
        <p:spPr>
          <a:xfrm>
            <a:off x="8247888" y="3950208"/>
            <a:ext cx="319125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3995928"/>
            <a:ext cx="3008376" cy="329184"/>
          </a:xfrm>
          <a:prstGeom prst="rect">
            <a:avLst/>
          </a:prstGeom>
          <a:noFill/>
        </p:spPr>
        <p:txBody>
          <a:bodyPr wrap="square">
            <a:spAutoFit/>
          </a:bodyPr>
          <a:lstStyle/>
          <a:p>
            <a:pPr algn="l"/>
            <a:r>
              <a:rPr sz="1100" b="1" i="0">
                <a:solidFill>
                  <a:srgbClr val="B45309"/>
                </a:solidFill>
                <a:latin typeface="游ゴシック"/>
                <a:ea typeface="游ゴシック"/>
              </a:rPr>
              <a:t>アイニードユー</a:t>
            </a:r>
          </a:p>
        </p:txBody>
      </p:sp>
      <p:sp>
        <p:nvSpPr>
          <p:cNvPr id="23" name="Rounded Rectangle 22"/>
          <p:cNvSpPr/>
          <p:nvPr/>
        </p:nvSpPr>
        <p:spPr>
          <a:xfrm>
            <a:off x="8247888" y="4425696"/>
            <a:ext cx="319125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7" y="4471416"/>
            <a:ext cx="3008376" cy="329184"/>
          </a:xfrm>
          <a:prstGeom prst="rect">
            <a:avLst/>
          </a:prstGeom>
          <a:noFill/>
        </p:spPr>
        <p:txBody>
          <a:bodyPr wrap="square">
            <a:spAutoFit/>
          </a:bodyPr>
          <a:lstStyle/>
          <a:p>
            <a:pPr algn="l"/>
            <a:r>
              <a:rPr sz="1100" b="1" i="0">
                <a:solidFill>
                  <a:srgbClr val="B45309"/>
                </a:solidFill>
                <a:latin typeface="游ゴシック"/>
                <a:ea typeface="游ゴシック"/>
              </a:rPr>
              <a:t>アランカール</a:t>
            </a:r>
          </a:p>
        </p:txBody>
      </p:sp>
      <p:sp>
        <p:nvSpPr>
          <p:cNvPr id="25" name="Rounded Rectangle 24"/>
          <p:cNvSpPr/>
          <p:nvPr/>
        </p:nvSpPr>
        <p:spPr>
          <a:xfrm>
            <a:off x="8247888" y="4901184"/>
            <a:ext cx="319125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7" y="4946904"/>
            <a:ext cx="3008376" cy="329184"/>
          </a:xfrm>
          <a:prstGeom prst="rect">
            <a:avLst/>
          </a:prstGeom>
          <a:noFill/>
        </p:spPr>
        <p:txBody>
          <a:bodyPr wrap="square">
            <a:spAutoFit/>
          </a:bodyPr>
          <a:lstStyle/>
          <a:p>
            <a:pPr algn="l"/>
            <a:r>
              <a:rPr sz="1100" b="1" i="0">
                <a:solidFill>
                  <a:srgbClr val="B45309"/>
                </a:solidFill>
                <a:latin typeface="游ゴシック"/>
                <a:ea typeface="游ゴシック"/>
              </a:rPr>
              <a:t>サンアントワーヌ</a:t>
            </a:r>
          </a:p>
        </p:txBody>
      </p:sp>
      <p:sp>
        <p:nvSpPr>
          <p:cNvPr id="27" name="Rounded Rectangle 26"/>
          <p:cNvSpPr/>
          <p:nvPr/>
        </p:nvSpPr>
        <p:spPr>
          <a:xfrm>
            <a:off x="8247888" y="5376672"/>
            <a:ext cx="319125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7" y="5422392"/>
            <a:ext cx="3008376" cy="329184"/>
          </a:xfrm>
          <a:prstGeom prst="rect">
            <a:avLst/>
          </a:prstGeom>
          <a:noFill/>
        </p:spPr>
        <p:txBody>
          <a:bodyPr wrap="square">
            <a:spAutoFit/>
          </a:bodyPr>
          <a:lstStyle/>
          <a:p>
            <a:pPr algn="l"/>
            <a:r>
              <a:rPr sz="1100" b="1" i="0">
                <a:solidFill>
                  <a:srgbClr val="B45309"/>
                </a:solidFill>
                <a:latin typeface="游ゴシック"/>
                <a:ea typeface="游ゴシック"/>
              </a:rPr>
              <a:t>スウィートハピネス</a:t>
            </a:r>
          </a:p>
        </p:txBody>
      </p:sp>
      <p:pic>
        <p:nvPicPr>
          <p:cNvPr id="29" name="Picture 28" descr="goto.jpg"/>
          <p:cNvPicPr>
            <a:picLocks noChangeAspect="1"/>
          </p:cNvPicPr>
          <p:nvPr/>
        </p:nvPicPr>
        <p:blipFill>
          <a:blip r:embed="rId2"/>
          <a:stretch>
            <a:fillRect/>
          </a:stretch>
        </p:blipFill>
        <p:spPr>
          <a:xfrm>
            <a:off x="274320" y="4389120"/>
            <a:ext cx="1920240" cy="1444752"/>
          </a:xfrm>
          <a:prstGeom prst="rect">
            <a:avLst/>
          </a:prstGeom>
        </p:spPr>
      </p:pic>
      <p:sp>
        <p:nvSpPr>
          <p:cNvPr id="30" name="Rectangle 29"/>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32" name="TextBox 31"/>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ectangle 3"/>
          <p:cNvSpPr/>
          <p:nvPr/>
        </p:nvSpPr>
        <p:spPr>
          <a:xfrm>
            <a:off x="0" y="0"/>
            <a:ext cx="12188952" cy="1261872"/>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8229600" cy="685800"/>
          </a:xfrm>
          <a:prstGeom prst="rect">
            <a:avLst/>
          </a:prstGeom>
          <a:noFill/>
        </p:spPr>
        <p:txBody>
          <a:bodyPr wrap="square">
            <a:spAutoFit/>
          </a:bodyPr>
          <a:lstStyle/>
          <a:p>
            <a:pPr algn="l"/>
            <a:r>
              <a:rPr sz="3000" b="1" i="0">
                <a:solidFill>
                  <a:srgbClr val="FFFFFF"/>
                </a:solidFill>
                <a:latin typeface="游明朝"/>
                <a:ea typeface="游明朝"/>
              </a:rPr>
              <a:t>総合スコア 1 位</a:t>
            </a:r>
          </a:p>
        </p:txBody>
      </p:sp>
      <p:sp>
        <p:nvSpPr>
          <p:cNvPr id="6" name="TextBox 5"/>
          <p:cNvSpPr txBox="1"/>
          <p:nvPr/>
        </p:nvSpPr>
        <p:spPr>
          <a:xfrm>
            <a:off x="457200" y="804672"/>
            <a:ext cx="10972800" cy="402336"/>
          </a:xfrm>
          <a:prstGeom prst="rect">
            <a:avLst/>
          </a:prstGeom>
          <a:noFill/>
        </p:spPr>
        <p:txBody>
          <a:bodyPr wrap="square">
            <a:spAutoFit/>
          </a:bodyPr>
          <a:lstStyle/>
          <a:p>
            <a:pPr algn="l"/>
            <a:r>
              <a:rPr sz="1200" b="0" i="1">
                <a:solidFill>
                  <a:srgbClr val="FFDCEB"/>
                </a:solidFill>
                <a:latin typeface="游ゴシック"/>
                <a:ea typeface="游ゴシック"/>
              </a:rPr>
              <a:t>単勝×複勝 バランス総合評価  /  スターアニス  4.2倍</a:t>
            </a:r>
          </a:p>
        </p:txBody>
      </p:sp>
      <p:sp>
        <p:nvSpPr>
          <p:cNvPr id="7" name="Rounded Rectangle 6"/>
          <p:cNvSpPr/>
          <p:nvPr/>
        </p:nvSpPr>
        <p:spPr>
          <a:xfrm>
            <a:off x="347472" y="1417320"/>
            <a:ext cx="512064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 y="1417320"/>
            <a:ext cx="5120640" cy="50292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4800600" cy="411480"/>
          </a:xfrm>
          <a:prstGeom prst="rect">
            <a:avLst/>
          </a:prstGeom>
          <a:noFill/>
        </p:spPr>
        <p:txBody>
          <a:bodyPr wrap="square">
            <a:spAutoFit/>
          </a:bodyPr>
          <a:lstStyle/>
          <a:p>
            <a:pPr algn="l"/>
            <a:r>
              <a:rPr sz="1300" b="1" i="0">
                <a:solidFill>
                  <a:srgbClr val="FFFFFF"/>
                </a:solidFill>
                <a:latin typeface="游ゴシック"/>
                <a:ea typeface="游ゴシック"/>
              </a:rPr>
              <a:t>総合  #1</a:t>
            </a:r>
          </a:p>
        </p:txBody>
      </p:sp>
      <p:sp>
        <p:nvSpPr>
          <p:cNvPr id="10" name="TextBox 9"/>
          <p:cNvSpPr txBox="1"/>
          <p:nvPr/>
        </p:nvSpPr>
        <p:spPr>
          <a:xfrm>
            <a:off x="411480" y="2011680"/>
            <a:ext cx="4937760" cy="868680"/>
          </a:xfrm>
          <a:prstGeom prst="rect">
            <a:avLst/>
          </a:prstGeom>
          <a:noFill/>
        </p:spPr>
        <p:txBody>
          <a:bodyPr wrap="square">
            <a:spAutoFit/>
          </a:bodyPr>
          <a:lstStyle/>
          <a:p>
            <a:pPr algn="ctr"/>
            <a:r>
              <a:rPr sz="2800" b="1" i="0">
                <a:solidFill>
                  <a:srgbClr val="E8136E"/>
                </a:solidFill>
                <a:latin typeface="游明朝"/>
                <a:ea typeface="游明朝"/>
              </a:rPr>
              <a:t>スターアニス</a:t>
            </a:r>
          </a:p>
        </p:txBody>
      </p:sp>
      <p:sp>
        <p:nvSpPr>
          <p:cNvPr id="11" name="TextBox 10"/>
          <p:cNvSpPr txBox="1"/>
          <p:nvPr/>
        </p:nvSpPr>
        <p:spPr>
          <a:xfrm>
            <a:off x="411480" y="2944368"/>
            <a:ext cx="4937760" cy="347472"/>
          </a:xfrm>
          <a:prstGeom prst="rect">
            <a:avLst/>
          </a:prstGeom>
          <a:noFill/>
        </p:spPr>
        <p:txBody>
          <a:bodyPr wrap="square">
            <a:spAutoFit/>
          </a:bodyPr>
          <a:lstStyle/>
          <a:p>
            <a:pPr algn="ctr"/>
            <a:r>
              <a:rPr sz="1300" b="0" i="0">
                <a:solidFill>
                  <a:srgbClr val="6B505A"/>
                </a:solidFill>
                <a:latin typeface="游ゴシック"/>
                <a:ea typeface="游ゴシック"/>
              </a:rPr>
              <a:t>想定オッズ  4.2倍</a:t>
            </a:r>
          </a:p>
        </p:txBody>
      </p:sp>
      <p:sp>
        <p:nvSpPr>
          <p:cNvPr id="12" name="TextBox 11"/>
          <p:cNvSpPr txBox="1"/>
          <p:nvPr/>
        </p:nvSpPr>
        <p:spPr>
          <a:xfrm>
            <a:off x="502920" y="3429000"/>
            <a:ext cx="640080" cy="420624"/>
          </a:xfrm>
          <a:prstGeom prst="rect">
            <a:avLst/>
          </a:prstGeom>
          <a:noFill/>
        </p:spPr>
        <p:txBody>
          <a:bodyPr wrap="square">
            <a:spAutoFit/>
          </a:bodyPr>
          <a:lstStyle/>
          <a:p>
            <a:pPr algn="l"/>
            <a:r>
              <a:rPr sz="1000" b="1" i="0">
                <a:solidFill>
                  <a:srgbClr val="E8136E"/>
                </a:solidFill>
                <a:latin typeface="游ゴシック"/>
                <a:ea typeface="游ゴシック"/>
              </a:rPr>
              <a:t>総合</a:t>
            </a:r>
          </a:p>
        </p:txBody>
      </p:sp>
      <p:sp>
        <p:nvSpPr>
          <p:cNvPr id="13" name="Rectangle 12"/>
          <p:cNvSpPr/>
          <p:nvPr/>
        </p:nvSpPr>
        <p:spPr>
          <a:xfrm>
            <a:off x="1207008" y="3538728"/>
            <a:ext cx="3246120" cy="219456"/>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7008" y="3538728"/>
            <a:ext cx="2012912" cy="219456"/>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3429000"/>
            <a:ext cx="841248" cy="420624"/>
          </a:xfrm>
          <a:prstGeom prst="rect">
            <a:avLst/>
          </a:prstGeom>
          <a:noFill/>
        </p:spPr>
        <p:txBody>
          <a:bodyPr wrap="square">
            <a:spAutoFit/>
          </a:bodyPr>
          <a:lstStyle/>
          <a:p>
            <a:pPr algn="r"/>
            <a:r>
              <a:rPr sz="900" b="1" i="0">
                <a:solidFill>
                  <a:srgbClr val="E8136E"/>
                </a:solidFill>
                <a:latin typeface="游ゴシック"/>
                <a:ea typeface="游ゴシック"/>
              </a:rPr>
              <a:t>62.0%  #1</a:t>
            </a:r>
          </a:p>
        </p:txBody>
      </p:sp>
      <p:sp>
        <p:nvSpPr>
          <p:cNvPr id="16" name="TextBox 15"/>
          <p:cNvSpPr txBox="1"/>
          <p:nvPr/>
        </p:nvSpPr>
        <p:spPr>
          <a:xfrm>
            <a:off x="502920" y="4050791"/>
            <a:ext cx="640080" cy="420624"/>
          </a:xfrm>
          <a:prstGeom prst="rect">
            <a:avLst/>
          </a:prstGeom>
          <a:noFill/>
        </p:spPr>
        <p:txBody>
          <a:bodyPr wrap="square">
            <a:spAutoFit/>
          </a:bodyPr>
          <a:lstStyle/>
          <a:p>
            <a:pPr algn="l"/>
            <a:r>
              <a:rPr sz="1000" b="1" i="0">
                <a:solidFill>
                  <a:srgbClr val="B45309"/>
                </a:solidFill>
                <a:latin typeface="游ゴシック"/>
                <a:ea typeface="游ゴシック"/>
              </a:rPr>
              <a:t>単勝</a:t>
            </a:r>
          </a:p>
        </p:txBody>
      </p:sp>
      <p:sp>
        <p:nvSpPr>
          <p:cNvPr id="17" name="Rectangle 16"/>
          <p:cNvSpPr/>
          <p:nvPr/>
        </p:nvSpPr>
        <p:spPr>
          <a:xfrm>
            <a:off x="1207008" y="4160520"/>
            <a:ext cx="3246120" cy="219456"/>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7008" y="4160520"/>
            <a:ext cx="2004956" cy="21945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8848" y="4050791"/>
            <a:ext cx="841248" cy="420624"/>
          </a:xfrm>
          <a:prstGeom prst="rect">
            <a:avLst/>
          </a:prstGeom>
          <a:noFill/>
        </p:spPr>
        <p:txBody>
          <a:bodyPr wrap="square">
            <a:spAutoFit/>
          </a:bodyPr>
          <a:lstStyle/>
          <a:p>
            <a:pPr algn="r"/>
            <a:r>
              <a:rPr sz="900" b="1" i="0">
                <a:solidFill>
                  <a:srgbClr val="B45309"/>
                </a:solidFill>
                <a:latin typeface="游ゴシック"/>
                <a:ea typeface="游ゴシック"/>
              </a:rPr>
              <a:t>61.8%  #1</a:t>
            </a:r>
          </a:p>
        </p:txBody>
      </p:sp>
      <p:sp>
        <p:nvSpPr>
          <p:cNvPr id="20" name="TextBox 19"/>
          <p:cNvSpPr txBox="1"/>
          <p:nvPr/>
        </p:nvSpPr>
        <p:spPr>
          <a:xfrm>
            <a:off x="502920" y="4672584"/>
            <a:ext cx="640080" cy="420624"/>
          </a:xfrm>
          <a:prstGeom prst="rect">
            <a:avLst/>
          </a:prstGeom>
          <a:noFill/>
        </p:spPr>
        <p:txBody>
          <a:bodyPr wrap="square">
            <a:spAutoFit/>
          </a:bodyPr>
          <a:lstStyle/>
          <a:p>
            <a:pPr algn="l"/>
            <a:r>
              <a:rPr sz="1000" b="1" i="0">
                <a:solidFill>
                  <a:srgbClr val="16A34A"/>
                </a:solidFill>
                <a:latin typeface="游ゴシック"/>
                <a:ea typeface="游ゴシック"/>
              </a:rPr>
              <a:t>複勝</a:t>
            </a:r>
          </a:p>
        </p:txBody>
      </p:sp>
      <p:sp>
        <p:nvSpPr>
          <p:cNvPr id="21" name="Rectangle 20"/>
          <p:cNvSpPr/>
          <p:nvPr/>
        </p:nvSpPr>
        <p:spPr>
          <a:xfrm>
            <a:off x="1207008" y="4782312"/>
            <a:ext cx="3246120" cy="219456"/>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7008" y="4782312"/>
            <a:ext cx="2020868" cy="219456"/>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4672584"/>
            <a:ext cx="841248" cy="420624"/>
          </a:xfrm>
          <a:prstGeom prst="rect">
            <a:avLst/>
          </a:prstGeom>
          <a:noFill/>
        </p:spPr>
        <p:txBody>
          <a:bodyPr wrap="square">
            <a:spAutoFit/>
          </a:bodyPr>
          <a:lstStyle/>
          <a:p>
            <a:pPr algn="r"/>
            <a:r>
              <a:rPr sz="900" b="1" i="0">
                <a:solidFill>
                  <a:srgbClr val="16A34A"/>
                </a:solidFill>
                <a:latin typeface="游ゴシック"/>
                <a:ea typeface="游ゴシック"/>
              </a:rPr>
              <a:t>62.3%  #2</a:t>
            </a:r>
          </a:p>
        </p:txBody>
      </p:sp>
      <p:sp>
        <p:nvSpPr>
          <p:cNvPr id="24" name="Rectangle 23"/>
          <p:cNvSpPr/>
          <p:nvPr/>
        </p:nvSpPr>
        <p:spPr>
          <a:xfrm>
            <a:off x="502920" y="5440680"/>
            <a:ext cx="4828032" cy="804672"/>
          </a:xfrm>
          <a:prstGeom prst="rect">
            <a:avLst/>
          </a:prstGeom>
          <a:solidFill>
            <a:srgbClr val="FF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440680"/>
            <a:ext cx="64008" cy="80467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477256"/>
            <a:ext cx="4572000" cy="713232"/>
          </a:xfrm>
          <a:prstGeom prst="rect">
            <a:avLst/>
          </a:prstGeom>
          <a:noFill/>
        </p:spPr>
        <p:txBody>
          <a:bodyPr wrap="square">
            <a:spAutoFit/>
          </a:bodyPr>
          <a:lstStyle/>
          <a:p>
            <a:pPr algn="l"/>
            <a:r>
              <a:rPr sz="800" b="0" i="1">
                <a:solidFill>
                  <a:srgbClr val="0F0A0C"/>
                </a:solidFill>
                <a:latin typeface="游ゴシック"/>
                <a:ea typeface="游ゴシック"/>
              </a:rPr>
              <a:t>⭐ G1前走1着(阪神JF)→桜花賞連対率100%（ソダシ1着・リバティアイランド1着・アスコリピチェーノ2着・アルマヴェローチェ2着）／ZI最高値132／体重478kgベストゾーン一致</a:t>
            </a:r>
          </a:p>
        </p:txBody>
      </p:sp>
      <p:sp>
        <p:nvSpPr>
          <p:cNvPr id="27" name="Rounded Rectangle 26"/>
          <p:cNvSpPr/>
          <p:nvPr/>
        </p:nvSpPr>
        <p:spPr>
          <a:xfrm>
            <a:off x="5742432" y="1417320"/>
            <a:ext cx="612648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42432" y="1417320"/>
            <a:ext cx="6126480" cy="50292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7880" y="1463040"/>
            <a:ext cx="5806440" cy="411480"/>
          </a:xfrm>
          <a:prstGeom prst="rect">
            <a:avLst/>
          </a:prstGeom>
          <a:noFill/>
        </p:spPr>
        <p:txBody>
          <a:bodyPr wrap="square">
            <a:spAutoFit/>
          </a:bodyPr>
          <a:lstStyle/>
          <a:p>
            <a:pPr algn="l"/>
            <a:r>
              <a:rPr sz="1300" b="1" i="0">
                <a:solidFill>
                  <a:srgbClr val="FFFFFF"/>
                </a:solidFill>
                <a:latin typeface="游ゴシック"/>
                <a:ea typeface="游ゴシック"/>
              </a:rPr>
              <a:t>ファクター詳細</a:t>
            </a:r>
          </a:p>
        </p:txBody>
      </p:sp>
      <p:sp>
        <p:nvSpPr>
          <p:cNvPr id="30" name="Rectangle 29"/>
          <p:cNvSpPr/>
          <p:nvPr/>
        </p:nvSpPr>
        <p:spPr>
          <a:xfrm>
            <a:off x="5742432" y="2029968"/>
            <a:ext cx="6126480" cy="502920"/>
          </a:xfrm>
          <a:prstGeom prst="rect">
            <a:avLst/>
          </a:prstGeom>
          <a:solidFill>
            <a:srgbClr val="FD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70448" y="212140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能力 ZI</a:t>
            </a:r>
          </a:p>
        </p:txBody>
      </p:sp>
      <p:sp>
        <p:nvSpPr>
          <p:cNvPr id="32" name="TextBox 31"/>
          <p:cNvSpPr txBox="1"/>
          <p:nvPr/>
        </p:nvSpPr>
        <p:spPr>
          <a:xfrm>
            <a:off x="8339327" y="2121408"/>
            <a:ext cx="3401568" cy="329184"/>
          </a:xfrm>
          <a:prstGeom prst="rect">
            <a:avLst/>
          </a:prstGeom>
          <a:noFill/>
        </p:spPr>
        <p:txBody>
          <a:bodyPr wrap="square">
            <a:spAutoFit/>
          </a:bodyPr>
          <a:lstStyle/>
          <a:p>
            <a:pPr algn="r"/>
            <a:r>
              <a:rPr sz="1100" b="0" i="0">
                <a:solidFill>
                  <a:srgbClr val="0F0A0C"/>
                </a:solidFill>
                <a:latin typeface="游ゴシック"/>
                <a:ea typeface="游ゴシック"/>
              </a:rPr>
              <a:t>132</a:t>
            </a:r>
          </a:p>
        </p:txBody>
      </p:sp>
      <p:sp>
        <p:nvSpPr>
          <p:cNvPr id="33" name="Rectangle 32"/>
          <p:cNvSpPr/>
          <p:nvPr/>
        </p:nvSpPr>
        <p:spPr>
          <a:xfrm>
            <a:off x="5742432" y="2578608"/>
            <a:ext cx="61264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70448" y="267004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近走グレード</a:t>
            </a:r>
          </a:p>
        </p:txBody>
      </p:sp>
      <p:sp>
        <p:nvSpPr>
          <p:cNvPr id="35" name="TextBox 34"/>
          <p:cNvSpPr txBox="1"/>
          <p:nvPr/>
        </p:nvSpPr>
        <p:spPr>
          <a:xfrm>
            <a:off x="8339327" y="2670048"/>
            <a:ext cx="3401568" cy="329184"/>
          </a:xfrm>
          <a:prstGeom prst="rect">
            <a:avLst/>
          </a:prstGeom>
          <a:noFill/>
        </p:spPr>
        <p:txBody>
          <a:bodyPr wrap="square">
            <a:spAutoFit/>
          </a:bodyPr>
          <a:lstStyle/>
          <a:p>
            <a:pPr algn="r"/>
            <a:r>
              <a:rPr sz="1100" b="1" i="0">
                <a:solidFill>
                  <a:srgbClr val="E8136E"/>
                </a:solidFill>
                <a:latin typeface="游ゴシック"/>
                <a:ea typeface="游ゴシック"/>
              </a:rPr>
              <a:t>3S</a:t>
            </a:r>
          </a:p>
        </p:txBody>
      </p:sp>
      <p:sp>
        <p:nvSpPr>
          <p:cNvPr id="36" name="Rectangle 35"/>
          <p:cNvSpPr/>
          <p:nvPr/>
        </p:nvSpPr>
        <p:spPr>
          <a:xfrm>
            <a:off x="5742432" y="3127248"/>
            <a:ext cx="6126480" cy="502920"/>
          </a:xfrm>
          <a:prstGeom prst="rect">
            <a:avLst/>
          </a:prstGeom>
          <a:solidFill>
            <a:srgbClr val="FD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70448" y="321868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コース適性</a:t>
            </a:r>
          </a:p>
        </p:txBody>
      </p:sp>
      <p:sp>
        <p:nvSpPr>
          <p:cNvPr id="38" name="TextBox 37"/>
          <p:cNvSpPr txBox="1"/>
          <p:nvPr/>
        </p:nvSpPr>
        <p:spPr>
          <a:xfrm>
            <a:off x="8339327" y="3218688"/>
            <a:ext cx="3401568" cy="329184"/>
          </a:xfrm>
          <a:prstGeom prst="rect">
            <a:avLst/>
          </a:prstGeom>
          <a:noFill/>
        </p:spPr>
        <p:txBody>
          <a:bodyPr wrap="square">
            <a:spAutoFit/>
          </a:bodyPr>
          <a:lstStyle/>
          <a:p>
            <a:pPr algn="r"/>
            <a:r>
              <a:rPr sz="1100" b="1" i="0">
                <a:solidFill>
                  <a:srgbClr val="E8136E"/>
                </a:solidFill>
                <a:latin typeface="游ゴシック"/>
                <a:ea typeface="游ゴシック"/>
              </a:rPr>
              <a:t>S</a:t>
            </a:r>
          </a:p>
        </p:txBody>
      </p:sp>
      <p:sp>
        <p:nvSpPr>
          <p:cNvPr id="39" name="Rectangle 38"/>
          <p:cNvSpPr/>
          <p:nvPr/>
        </p:nvSpPr>
        <p:spPr>
          <a:xfrm>
            <a:off x="5742432" y="3675887"/>
            <a:ext cx="61264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70448" y="3767327"/>
            <a:ext cx="2377440" cy="329184"/>
          </a:xfrm>
          <a:prstGeom prst="rect">
            <a:avLst/>
          </a:prstGeom>
          <a:noFill/>
        </p:spPr>
        <p:txBody>
          <a:bodyPr wrap="square">
            <a:spAutoFit/>
          </a:bodyPr>
          <a:lstStyle/>
          <a:p>
            <a:pPr algn="l"/>
            <a:r>
              <a:rPr sz="1000" b="0" i="0">
                <a:solidFill>
                  <a:srgbClr val="6B505A"/>
                </a:solidFill>
                <a:latin typeface="游ゴシック"/>
                <a:ea typeface="游ゴシック"/>
              </a:rPr>
              <a:t>ローテ評価</a:t>
            </a:r>
          </a:p>
        </p:txBody>
      </p:sp>
      <p:sp>
        <p:nvSpPr>
          <p:cNvPr id="41" name="TextBox 40"/>
          <p:cNvSpPr txBox="1"/>
          <p:nvPr/>
        </p:nvSpPr>
        <p:spPr>
          <a:xfrm>
            <a:off x="8339327" y="3767327"/>
            <a:ext cx="3401568" cy="329184"/>
          </a:xfrm>
          <a:prstGeom prst="rect">
            <a:avLst/>
          </a:prstGeom>
          <a:noFill/>
        </p:spPr>
        <p:txBody>
          <a:bodyPr wrap="square">
            <a:spAutoFit/>
          </a:bodyPr>
          <a:lstStyle/>
          <a:p>
            <a:pPr algn="r"/>
            <a:r>
              <a:rPr sz="1100" b="1" i="0">
                <a:solidFill>
                  <a:srgbClr val="E8136E"/>
                </a:solidFill>
                <a:latin typeface="游ゴシック"/>
                <a:ea typeface="游ゴシック"/>
              </a:rPr>
              <a:t>S</a:t>
            </a:r>
          </a:p>
        </p:txBody>
      </p:sp>
      <p:sp>
        <p:nvSpPr>
          <p:cNvPr id="42" name="Rectangle 41"/>
          <p:cNvSpPr/>
          <p:nvPr/>
        </p:nvSpPr>
        <p:spPr>
          <a:xfrm>
            <a:off x="5742432" y="4224528"/>
            <a:ext cx="6126480" cy="502920"/>
          </a:xfrm>
          <a:prstGeom prst="rect">
            <a:avLst/>
          </a:prstGeom>
          <a:solidFill>
            <a:srgbClr val="FD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70448" y="431596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厩舎</a:t>
            </a:r>
          </a:p>
        </p:txBody>
      </p:sp>
      <p:sp>
        <p:nvSpPr>
          <p:cNvPr id="44" name="TextBox 43"/>
          <p:cNvSpPr txBox="1"/>
          <p:nvPr/>
        </p:nvSpPr>
        <p:spPr>
          <a:xfrm>
            <a:off x="8339327" y="4315968"/>
            <a:ext cx="3401568" cy="329184"/>
          </a:xfrm>
          <a:prstGeom prst="rect">
            <a:avLst/>
          </a:prstGeom>
          <a:noFill/>
        </p:spPr>
        <p:txBody>
          <a:bodyPr wrap="square">
            <a:spAutoFit/>
          </a:bodyPr>
          <a:lstStyle/>
          <a:p>
            <a:pPr algn="r"/>
            <a:r>
              <a:rPr sz="1100" b="1" i="0">
                <a:solidFill>
                  <a:srgbClr val="E8136E"/>
                </a:solidFill>
                <a:latin typeface="游ゴシック"/>
                <a:ea typeface="游ゴシック"/>
              </a:rPr>
              <a:t>A</a:t>
            </a:r>
          </a:p>
        </p:txBody>
      </p:sp>
      <p:sp>
        <p:nvSpPr>
          <p:cNvPr id="45" name="Rectangle 44"/>
          <p:cNvSpPr/>
          <p:nvPr/>
        </p:nvSpPr>
        <p:spPr>
          <a:xfrm>
            <a:off x="5742432" y="4773168"/>
            <a:ext cx="61264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70448" y="486460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調教</a:t>
            </a:r>
          </a:p>
        </p:txBody>
      </p:sp>
      <p:sp>
        <p:nvSpPr>
          <p:cNvPr id="47" name="TextBox 46"/>
          <p:cNvSpPr txBox="1"/>
          <p:nvPr/>
        </p:nvSpPr>
        <p:spPr>
          <a:xfrm>
            <a:off x="8339327" y="4864608"/>
            <a:ext cx="3401568" cy="329184"/>
          </a:xfrm>
          <a:prstGeom prst="rect">
            <a:avLst/>
          </a:prstGeom>
          <a:noFill/>
        </p:spPr>
        <p:txBody>
          <a:bodyPr wrap="square">
            <a:spAutoFit/>
          </a:bodyPr>
          <a:lstStyle/>
          <a:p>
            <a:pPr algn="r"/>
            <a:r>
              <a:rPr sz="1100" b="1" i="0">
                <a:solidFill>
                  <a:srgbClr val="E8136E"/>
                </a:solidFill>
                <a:latin typeface="游ゴシック"/>
                <a:ea typeface="游ゴシック"/>
              </a:rPr>
              <a:t>3S</a:t>
            </a:r>
          </a:p>
        </p:txBody>
      </p:sp>
      <p:sp>
        <p:nvSpPr>
          <p:cNvPr id="48" name="Rectangle 47"/>
          <p:cNvSpPr/>
          <p:nvPr/>
        </p:nvSpPr>
        <p:spPr>
          <a:xfrm>
            <a:off x="5742432" y="5321808"/>
            <a:ext cx="6126480" cy="502920"/>
          </a:xfrm>
          <a:prstGeom prst="rect">
            <a:avLst/>
          </a:prstGeom>
          <a:solidFill>
            <a:srgbClr val="FD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70448" y="541324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前走</a:t>
            </a:r>
          </a:p>
        </p:txBody>
      </p:sp>
      <p:sp>
        <p:nvSpPr>
          <p:cNvPr id="50" name="TextBox 49"/>
          <p:cNvSpPr txBox="1"/>
          <p:nvPr/>
        </p:nvSpPr>
        <p:spPr>
          <a:xfrm>
            <a:off x="8339327" y="5413248"/>
            <a:ext cx="3401568" cy="329184"/>
          </a:xfrm>
          <a:prstGeom prst="rect">
            <a:avLst/>
          </a:prstGeom>
          <a:noFill/>
        </p:spPr>
        <p:txBody>
          <a:bodyPr wrap="square">
            <a:spAutoFit/>
          </a:bodyPr>
          <a:lstStyle/>
          <a:p>
            <a:pPr algn="r"/>
            <a:r>
              <a:rPr sz="1100" b="0" i="0">
                <a:solidFill>
                  <a:srgbClr val="0F0A0C"/>
                </a:solidFill>
                <a:latin typeface="游ゴシック"/>
                <a:ea typeface="游ゴシック"/>
              </a:rPr>
              <a:t>阪神ジュG1</a:t>
            </a:r>
          </a:p>
        </p:txBody>
      </p:sp>
      <p:sp>
        <p:nvSpPr>
          <p:cNvPr id="51" name="Rectangle 50"/>
          <p:cNvSpPr/>
          <p:nvPr/>
        </p:nvSpPr>
        <p:spPr>
          <a:xfrm>
            <a:off x="5742432" y="5870448"/>
            <a:ext cx="61264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70448" y="5961888"/>
            <a:ext cx="2377440" cy="329184"/>
          </a:xfrm>
          <a:prstGeom prst="rect">
            <a:avLst/>
          </a:prstGeom>
          <a:noFill/>
        </p:spPr>
        <p:txBody>
          <a:bodyPr wrap="square">
            <a:spAutoFit/>
          </a:bodyPr>
          <a:lstStyle/>
          <a:p>
            <a:pPr algn="l"/>
            <a:r>
              <a:rPr sz="1000" b="0" i="0">
                <a:solidFill>
                  <a:srgbClr val="6B505A"/>
                </a:solidFill>
                <a:latin typeface="游ゴシック"/>
                <a:ea typeface="游ゴシック"/>
              </a:rPr>
              <a:t>前走結果</a:t>
            </a:r>
          </a:p>
        </p:txBody>
      </p:sp>
      <p:sp>
        <p:nvSpPr>
          <p:cNvPr id="53" name="TextBox 52"/>
          <p:cNvSpPr txBox="1"/>
          <p:nvPr/>
        </p:nvSpPr>
        <p:spPr>
          <a:xfrm>
            <a:off x="8339327" y="5961888"/>
            <a:ext cx="3401568" cy="329184"/>
          </a:xfrm>
          <a:prstGeom prst="rect">
            <a:avLst/>
          </a:prstGeom>
          <a:noFill/>
        </p:spPr>
        <p:txBody>
          <a:bodyPr wrap="square">
            <a:spAutoFit/>
          </a:bodyPr>
          <a:lstStyle/>
          <a:p>
            <a:pPr algn="r"/>
            <a:r>
              <a:rPr sz="1100" b="1" i="0">
                <a:solidFill>
                  <a:srgbClr val="E8136E"/>
                </a:solidFill>
                <a:latin typeface="游ゴシック"/>
                <a:ea typeface="游ゴシック"/>
              </a:rPr>
              <a:t>1着</a:t>
            </a:r>
          </a:p>
        </p:txBody>
      </p:sp>
      <p:pic>
        <p:nvPicPr>
          <p:cNvPr id="54" name="Picture 53" descr="goto.jpg"/>
          <p:cNvPicPr>
            <a:picLocks noChangeAspect="1"/>
          </p:cNvPicPr>
          <p:nvPr/>
        </p:nvPicPr>
        <p:blipFill>
          <a:blip r:embed="rId2"/>
          <a:stretch>
            <a:fillRect/>
          </a:stretch>
        </p:blipFill>
        <p:spPr>
          <a:xfrm>
            <a:off x="9144000" y="4224528"/>
            <a:ext cx="2834640" cy="2121408"/>
          </a:xfrm>
          <a:prstGeom prst="rect">
            <a:avLst/>
          </a:prstGeom>
        </p:spPr>
      </p:pic>
      <p:sp>
        <p:nvSpPr>
          <p:cNvPr id="55" name="Rectangle 54"/>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57" name="TextBox 56"/>
          <p:cNvSpPr txBox="1"/>
          <p:nvPr/>
        </p:nvSpPr>
        <p:spPr>
          <a:xfrm>
            <a:off x="8686800" y="6519672"/>
            <a:ext cx="3200400" cy="274320"/>
          </a:xfrm>
          <a:prstGeom prst="rect">
            <a:avLst/>
          </a:prstGeom>
          <a:noFill/>
        </p:spPr>
        <p:txBody>
          <a:bodyPr wrap="square">
            <a:spAutoFit/>
          </a:bodyPr>
          <a:lstStyle/>
          <a:p>
            <a:pPr algn="r"/>
            <a:r>
              <a:rPr sz="1000" b="1" i="0">
                <a:solidFill>
                  <a:srgbClr val="FFE696"/>
                </a:solidFill>
                <a:latin typeface="游ゴシック"/>
                <a:ea typeface="游ゴシック"/>
              </a:rPr>
              <a:t>🔒 メンバーシップ限定  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ectangle 3"/>
          <p:cNvSpPr/>
          <p:nvPr/>
        </p:nvSpPr>
        <p:spPr>
          <a:xfrm>
            <a:off x="0" y="0"/>
            <a:ext cx="12188952"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8229600" cy="685800"/>
          </a:xfrm>
          <a:prstGeom prst="rect">
            <a:avLst/>
          </a:prstGeom>
          <a:noFill/>
        </p:spPr>
        <p:txBody>
          <a:bodyPr wrap="square">
            <a:spAutoFit/>
          </a:bodyPr>
          <a:lstStyle/>
          <a:p>
            <a:pPr algn="l"/>
            <a:r>
              <a:rPr sz="3000" b="1" i="0">
                <a:solidFill>
                  <a:srgbClr val="FFFFFF"/>
                </a:solidFill>
                <a:latin typeface="游明朝"/>
                <a:ea typeface="游明朝"/>
              </a:rPr>
              <a:t>単勝スコア 1 位</a:t>
            </a:r>
          </a:p>
        </p:txBody>
      </p:sp>
      <p:sp>
        <p:nvSpPr>
          <p:cNvPr id="6" name="TextBox 5"/>
          <p:cNvSpPr txBox="1"/>
          <p:nvPr/>
        </p:nvSpPr>
        <p:spPr>
          <a:xfrm>
            <a:off x="457200" y="804672"/>
            <a:ext cx="10972800" cy="402336"/>
          </a:xfrm>
          <a:prstGeom prst="rect">
            <a:avLst/>
          </a:prstGeom>
          <a:noFill/>
        </p:spPr>
        <p:txBody>
          <a:bodyPr wrap="square">
            <a:spAutoFit/>
          </a:bodyPr>
          <a:lstStyle/>
          <a:p>
            <a:pPr algn="l"/>
            <a:r>
              <a:rPr sz="1200" b="0" i="1">
                <a:solidFill>
                  <a:srgbClr val="FFF5D2"/>
                </a:solidFill>
                <a:latin typeface="游ゴシック"/>
                <a:ea typeface="游ゴシック"/>
              </a:rPr>
              <a:t>勝ち馬スコア最上位  /  スターアニス  4.2倍</a:t>
            </a:r>
          </a:p>
        </p:txBody>
      </p:sp>
      <p:sp>
        <p:nvSpPr>
          <p:cNvPr id="7" name="Rounded Rectangle 6"/>
          <p:cNvSpPr/>
          <p:nvPr/>
        </p:nvSpPr>
        <p:spPr>
          <a:xfrm>
            <a:off x="347472" y="1417320"/>
            <a:ext cx="512064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36192"/>
            <a:ext cx="4937760" cy="841248"/>
          </a:xfrm>
          <a:prstGeom prst="rect">
            <a:avLst/>
          </a:prstGeom>
          <a:noFill/>
        </p:spPr>
        <p:txBody>
          <a:bodyPr wrap="square">
            <a:spAutoFit/>
          </a:bodyPr>
          <a:lstStyle/>
          <a:p>
            <a:pPr algn="ctr"/>
            <a:r>
              <a:rPr sz="2600" b="1" i="0">
                <a:solidFill>
                  <a:srgbClr val="B45309"/>
                </a:solidFill>
                <a:latin typeface="游明朝"/>
                <a:ea typeface="游明朝"/>
              </a:rPr>
              <a:t>スターアニス</a:t>
            </a:r>
          </a:p>
        </p:txBody>
      </p:sp>
      <p:sp>
        <p:nvSpPr>
          <p:cNvPr id="9" name="TextBox 8"/>
          <p:cNvSpPr txBox="1"/>
          <p:nvPr/>
        </p:nvSpPr>
        <p:spPr>
          <a:xfrm>
            <a:off x="411480" y="2395728"/>
            <a:ext cx="4937760" cy="804672"/>
          </a:xfrm>
          <a:prstGeom prst="rect">
            <a:avLst/>
          </a:prstGeom>
          <a:noFill/>
        </p:spPr>
        <p:txBody>
          <a:bodyPr wrap="square">
            <a:spAutoFit/>
          </a:bodyPr>
          <a:lstStyle/>
          <a:p>
            <a:pPr algn="ctr"/>
            <a:r>
              <a:rPr sz="4400" b="1" i="0">
                <a:solidFill>
                  <a:srgbClr val="B45309"/>
                </a:solidFill>
                <a:latin typeface="游明朝"/>
                <a:ea typeface="游明朝"/>
              </a:rPr>
              <a:t>61.8 %</a:t>
            </a:r>
          </a:p>
        </p:txBody>
      </p:sp>
      <p:sp>
        <p:nvSpPr>
          <p:cNvPr id="10" name="TextBox 9"/>
          <p:cNvSpPr txBox="1"/>
          <p:nvPr/>
        </p:nvSpPr>
        <p:spPr>
          <a:xfrm>
            <a:off x="411480" y="3246120"/>
            <a:ext cx="4937760" cy="347472"/>
          </a:xfrm>
          <a:prstGeom prst="rect">
            <a:avLst/>
          </a:prstGeom>
          <a:noFill/>
        </p:spPr>
        <p:txBody>
          <a:bodyPr wrap="square">
            <a:spAutoFit/>
          </a:bodyPr>
          <a:lstStyle/>
          <a:p>
            <a:pPr algn="ctr"/>
            <a:r>
              <a:rPr sz="1200" b="0" i="0">
                <a:solidFill>
                  <a:srgbClr val="6B505A"/>
                </a:solidFill>
                <a:latin typeface="游ゴシック"/>
                <a:ea typeface="游ゴシック"/>
              </a:rPr>
              <a:t>単勝スコア</a:t>
            </a:r>
          </a:p>
        </p:txBody>
      </p:sp>
      <p:sp>
        <p:nvSpPr>
          <p:cNvPr id="11" name="Rectangle 10"/>
          <p:cNvSpPr/>
          <p:nvPr/>
        </p:nvSpPr>
        <p:spPr>
          <a:xfrm>
            <a:off x="594360" y="3703320"/>
            <a:ext cx="4681728" cy="274320"/>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3703320"/>
            <a:ext cx="2891655" cy="274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7472" y="4096512"/>
            <a:ext cx="5120640" cy="22128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 y="4096512"/>
            <a:ext cx="5120640"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133087"/>
            <a:ext cx="4800600" cy="320040"/>
          </a:xfrm>
          <a:prstGeom prst="rect">
            <a:avLst/>
          </a:prstGeom>
          <a:noFill/>
        </p:spPr>
        <p:txBody>
          <a:bodyPr wrap="square">
            <a:spAutoFit/>
          </a:bodyPr>
          <a:lstStyle/>
          <a:p>
            <a:pPr algn="l"/>
            <a:r>
              <a:rPr sz="1200" b="1" i="0">
                <a:solidFill>
                  <a:srgbClr val="FFFFFF"/>
                </a:solidFill>
                <a:latin typeface="游ゴシック"/>
                <a:ea typeface="游ゴシック"/>
              </a:rPr>
              <a:t>単勝1位の理由</a:t>
            </a:r>
          </a:p>
        </p:txBody>
      </p:sp>
      <p:sp>
        <p:nvSpPr>
          <p:cNvPr id="16" name="Rounded Rectangle 15"/>
          <p:cNvSpPr/>
          <p:nvPr/>
        </p:nvSpPr>
        <p:spPr>
          <a:xfrm>
            <a:off x="502920" y="4553712"/>
            <a:ext cx="4791456" cy="365760"/>
          </a:xfrm>
          <a:prstGeom prst="roundRect">
            <a:avLst/>
          </a:prstGeom>
          <a:solidFill>
            <a:srgbClr val="FFF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590288"/>
            <a:ext cx="4526280" cy="292608"/>
          </a:xfrm>
          <a:prstGeom prst="rect">
            <a:avLst/>
          </a:prstGeom>
          <a:noFill/>
        </p:spPr>
        <p:txBody>
          <a:bodyPr wrap="square">
            <a:spAutoFit/>
          </a:bodyPr>
          <a:lstStyle/>
          <a:p>
            <a:pPr algn="l"/>
            <a:r>
              <a:rPr sz="1100" b="0" i="0">
                <a:solidFill>
                  <a:srgbClr val="B45309"/>
                </a:solidFill>
                <a:latin typeface="游ゴシック"/>
                <a:ea typeface="游ゴシック"/>
              </a:rPr>
              <a:t>✓ ZI 132  全馬最高値</a:t>
            </a:r>
          </a:p>
        </p:txBody>
      </p:sp>
      <p:sp>
        <p:nvSpPr>
          <p:cNvPr id="18" name="Rounded Rectangle 17"/>
          <p:cNvSpPr/>
          <p:nvPr/>
        </p:nvSpPr>
        <p:spPr>
          <a:xfrm>
            <a:off x="502920" y="4974336"/>
            <a:ext cx="4791456" cy="365760"/>
          </a:xfrm>
          <a:prstGeom prst="roundRect">
            <a:avLst/>
          </a:prstGeom>
          <a:solidFill>
            <a:srgbClr val="FFF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010912"/>
            <a:ext cx="4526280" cy="292608"/>
          </a:xfrm>
          <a:prstGeom prst="rect">
            <a:avLst/>
          </a:prstGeom>
          <a:noFill/>
        </p:spPr>
        <p:txBody>
          <a:bodyPr wrap="square">
            <a:spAutoFit/>
          </a:bodyPr>
          <a:lstStyle/>
          <a:p>
            <a:pPr algn="l"/>
            <a:r>
              <a:rPr sz="1100" b="0" i="0">
                <a:solidFill>
                  <a:srgbClr val="B45309"/>
                </a:solidFill>
                <a:latin typeface="游ゴシック"/>
                <a:ea typeface="游ゴシック"/>
              </a:rPr>
              <a:t>✓ ローテ S  理想的ローテ</a:t>
            </a:r>
          </a:p>
        </p:txBody>
      </p:sp>
      <p:sp>
        <p:nvSpPr>
          <p:cNvPr id="20" name="Rounded Rectangle 19"/>
          <p:cNvSpPr/>
          <p:nvPr/>
        </p:nvSpPr>
        <p:spPr>
          <a:xfrm>
            <a:off x="502920" y="5394960"/>
            <a:ext cx="4791456" cy="365760"/>
          </a:xfrm>
          <a:prstGeom prst="roundRect">
            <a:avLst/>
          </a:prstGeom>
          <a:solidFill>
            <a:srgbClr val="FFF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431536"/>
            <a:ext cx="4526280" cy="292608"/>
          </a:xfrm>
          <a:prstGeom prst="rect">
            <a:avLst/>
          </a:prstGeom>
          <a:noFill/>
        </p:spPr>
        <p:txBody>
          <a:bodyPr wrap="square">
            <a:spAutoFit/>
          </a:bodyPr>
          <a:lstStyle/>
          <a:p>
            <a:pPr algn="l"/>
            <a:r>
              <a:rPr sz="1100" b="0" i="0">
                <a:solidFill>
                  <a:srgbClr val="B45309"/>
                </a:solidFill>
                <a:latin typeface="游ゴシック"/>
                <a:ea typeface="游ゴシック"/>
              </a:rPr>
              <a:t>✓ 調教 3S  万全仕上がり</a:t>
            </a:r>
          </a:p>
        </p:txBody>
      </p:sp>
      <p:sp>
        <p:nvSpPr>
          <p:cNvPr id="22" name="Rounded Rectangle 21"/>
          <p:cNvSpPr/>
          <p:nvPr/>
        </p:nvSpPr>
        <p:spPr>
          <a:xfrm>
            <a:off x="502920" y="5815584"/>
            <a:ext cx="4791456" cy="365760"/>
          </a:xfrm>
          <a:prstGeom prst="roundRect">
            <a:avLst/>
          </a:prstGeom>
          <a:solidFill>
            <a:srgbClr val="FFF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852159"/>
            <a:ext cx="4526280" cy="292608"/>
          </a:xfrm>
          <a:prstGeom prst="rect">
            <a:avLst/>
          </a:prstGeom>
          <a:noFill/>
        </p:spPr>
        <p:txBody>
          <a:bodyPr wrap="square">
            <a:spAutoFit/>
          </a:bodyPr>
          <a:lstStyle/>
          <a:p>
            <a:pPr algn="l"/>
            <a:r>
              <a:rPr sz="1100" b="0" i="0">
                <a:solidFill>
                  <a:srgbClr val="B45309"/>
                </a:solidFill>
                <a:latin typeface="游ゴシック"/>
                <a:ea typeface="游ゴシック"/>
              </a:rPr>
              <a:t>✓ コース適性 S  阪神マイル向き</a:t>
            </a:r>
          </a:p>
        </p:txBody>
      </p:sp>
      <p:sp>
        <p:nvSpPr>
          <p:cNvPr id="24" name="Rounded Rectangle 23"/>
          <p:cNvSpPr/>
          <p:nvPr/>
        </p:nvSpPr>
        <p:spPr>
          <a:xfrm>
            <a:off x="5742432" y="1417320"/>
            <a:ext cx="612648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742432" y="1417320"/>
            <a:ext cx="6126480" cy="47548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1463040"/>
            <a:ext cx="5806440" cy="384048"/>
          </a:xfrm>
          <a:prstGeom prst="rect">
            <a:avLst/>
          </a:prstGeom>
          <a:noFill/>
        </p:spPr>
        <p:txBody>
          <a:bodyPr wrap="square">
            <a:spAutoFit/>
          </a:bodyPr>
          <a:lstStyle/>
          <a:p>
            <a:pPr algn="l"/>
            <a:r>
              <a:rPr sz="1200" b="1" i="0">
                <a:solidFill>
                  <a:srgbClr val="FFFFFF"/>
                </a:solidFill>
                <a:latin typeface="游ゴシック"/>
                <a:ea typeface="游ゴシック"/>
              </a:rPr>
              <a:t>騎手コメント（前走）</a:t>
            </a:r>
          </a:p>
        </p:txBody>
      </p:sp>
      <p:sp>
        <p:nvSpPr>
          <p:cNvPr id="27" name="TextBox 26"/>
          <p:cNvSpPr txBox="1"/>
          <p:nvPr/>
        </p:nvSpPr>
        <p:spPr>
          <a:xfrm>
            <a:off x="5897880" y="1993392"/>
            <a:ext cx="5870448" cy="2514600"/>
          </a:xfrm>
          <a:prstGeom prst="rect">
            <a:avLst/>
          </a:prstGeom>
          <a:noFill/>
        </p:spPr>
        <p:txBody>
          <a:bodyPr wrap="square">
            <a:spAutoFit/>
          </a:bodyPr>
          <a:lstStyle/>
          <a:p>
            <a:pPr algn="l"/>
            <a:r>
              <a:rPr sz="1000" b="0" i="1">
                <a:solidFill>
                  <a:srgbClr val="0F0A0C"/>
                </a:solidFill>
                <a:latin typeface="游ゴシック"/>
                <a:ea typeface="游ゴシック"/>
              </a:rPr>
              <a:t>1600mへの距離延長にも余裕で対応し、追い出しを我慢できるほどの手応えで押し切った。フットワークが大きく外に出して脚を使わせるのが最適だが、それができれば桜花賞でも直線最強の末脚を炸裂させる可能性がある。ZI最上位の能力は本物だ。</a:t>
            </a:r>
          </a:p>
        </p:txBody>
      </p:sp>
      <p:sp>
        <p:nvSpPr>
          <p:cNvPr id="28" name="Rectangle 27"/>
          <p:cNvSpPr/>
          <p:nvPr/>
        </p:nvSpPr>
        <p:spPr>
          <a:xfrm>
            <a:off x="5742432" y="4572000"/>
            <a:ext cx="6126480" cy="64008"/>
          </a:xfrm>
          <a:prstGeom prst="rect">
            <a:avLst/>
          </a:prstGeom>
          <a:solidFill>
            <a:srgbClr val="E6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42432" y="4681728"/>
            <a:ext cx="6126480" cy="1536192"/>
          </a:xfrm>
          <a:prstGeom prst="rect">
            <a:avLst/>
          </a:prstGeom>
          <a:solidFill>
            <a:srgbClr val="FFF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742432" y="4681728"/>
            <a:ext cx="64008" cy="153619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97880" y="4718304"/>
            <a:ext cx="5870448" cy="1444752"/>
          </a:xfrm>
          <a:prstGeom prst="rect">
            <a:avLst/>
          </a:prstGeom>
          <a:noFill/>
        </p:spPr>
        <p:txBody>
          <a:bodyPr wrap="square">
            <a:spAutoFit/>
          </a:bodyPr>
          <a:lstStyle/>
          <a:p>
            <a:pPr algn="l"/>
            <a:r>
              <a:rPr sz="900" b="0" i="1">
                <a:solidFill>
                  <a:srgbClr val="0F0A0C"/>
                </a:solidFill>
                <a:latin typeface="游ゴシック"/>
                <a:ea typeface="游ゴシック"/>
              </a:rPr>
              <a:t>⭐ G1前走1着(阪神JF)→桜花賞連対率100%（ソダシ1着・リバティアイランド1着・アスコリピチェーノ2着・アルマヴェローチェ2着）／ZI最高値132／体重478kgベストゾーン一致</a:t>
            </a:r>
          </a:p>
        </p:txBody>
      </p:sp>
      <p:pic>
        <p:nvPicPr>
          <p:cNvPr id="32" name="Picture 31" descr="ginyo.jpg"/>
          <p:cNvPicPr>
            <a:picLocks noChangeAspect="1"/>
          </p:cNvPicPr>
          <p:nvPr/>
        </p:nvPicPr>
        <p:blipFill>
          <a:blip r:embed="rId2"/>
          <a:stretch>
            <a:fillRect/>
          </a:stretch>
        </p:blipFill>
        <p:spPr>
          <a:xfrm>
            <a:off x="91440" y="5212080"/>
            <a:ext cx="2834640" cy="2121408"/>
          </a:xfrm>
          <a:prstGeom prst="rect">
            <a:avLst/>
          </a:prstGeom>
        </p:spPr>
      </p:pic>
      <p:sp>
        <p:nvSpPr>
          <p:cNvPr id="33" name="Rectangle 3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35" name="TextBox 34"/>
          <p:cNvSpPr txBox="1"/>
          <p:nvPr/>
        </p:nvSpPr>
        <p:spPr>
          <a:xfrm>
            <a:off x="8686800" y="6519672"/>
            <a:ext cx="3200400" cy="274320"/>
          </a:xfrm>
          <a:prstGeom prst="rect">
            <a:avLst/>
          </a:prstGeom>
          <a:noFill/>
        </p:spPr>
        <p:txBody>
          <a:bodyPr wrap="square">
            <a:spAutoFit/>
          </a:bodyPr>
          <a:lstStyle/>
          <a:p>
            <a:pPr algn="r"/>
            <a:r>
              <a:rPr sz="1000" b="1" i="0">
                <a:solidFill>
                  <a:srgbClr val="FFE696"/>
                </a:solidFill>
                <a:latin typeface="游ゴシック"/>
                <a:ea typeface="游ゴシック"/>
              </a:rPr>
              <a:t>🔒 メンバーシップ限定  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8"/>
        </a:solidFill>
        <a:effectLst/>
      </p:bgPr>
    </p:bg>
    <p:spTree>
      <p:nvGrpSpPr>
        <p:cNvPr id="1" name=""/>
        <p:cNvGrpSpPr/>
        <p:nvPr/>
      </p:nvGrpSpPr>
      <p:grpSpPr/>
      <p:sp>
        <p:nvSpPr>
          <p:cNvPr id="2" name="TextBox 1"/>
          <p:cNvSpPr txBox="1"/>
          <p:nvPr/>
        </p:nvSpPr>
        <p:spPr>
          <a:xfrm>
            <a:off x="137160" y="73152"/>
            <a:ext cx="1463040" cy="594360"/>
          </a:xfrm>
          <a:prstGeom prst="rect">
            <a:avLst/>
          </a:prstGeom>
          <a:noFill/>
        </p:spPr>
        <p:txBody>
          <a:bodyPr wrap="square">
            <a:spAutoFit/>
          </a:bodyPr>
          <a:lstStyle/>
          <a:p>
            <a:pPr algn="l"/>
            <a:r>
              <a:rPr sz="3000" b="1" i="0">
                <a:solidFill>
                  <a:srgbClr val="F5C8AA"/>
                </a:solidFill>
                <a:latin typeface="游ゴシック"/>
                <a:ea typeface="游ゴシック"/>
              </a:rPr>
              <a:t>»»</a:t>
            </a:r>
          </a:p>
        </p:txBody>
      </p:sp>
      <p:sp>
        <p:nvSpPr>
          <p:cNvPr id="3" name="TextBox 2"/>
          <p:cNvSpPr txBox="1"/>
          <p:nvPr/>
        </p:nvSpPr>
        <p:spPr>
          <a:xfrm>
            <a:off x="10424160" y="6144768"/>
            <a:ext cx="1554480" cy="548640"/>
          </a:xfrm>
          <a:prstGeom prst="rect">
            <a:avLst/>
          </a:prstGeom>
          <a:noFill/>
        </p:spPr>
        <p:txBody>
          <a:bodyPr wrap="square">
            <a:spAutoFit/>
          </a:bodyPr>
          <a:lstStyle/>
          <a:p>
            <a:pPr algn="r"/>
            <a:r>
              <a:rPr sz="3000" b="1" i="0">
                <a:solidFill>
                  <a:srgbClr val="F5C8AA"/>
                </a:solidFill>
                <a:latin typeface="游ゴシック"/>
                <a:ea typeface="游ゴシック"/>
              </a:rPr>
              <a:t>»»</a:t>
            </a:r>
          </a:p>
        </p:txBody>
      </p:sp>
      <p:sp>
        <p:nvSpPr>
          <p:cNvPr id="4" name="Rectangle 3"/>
          <p:cNvSpPr/>
          <p:nvPr/>
        </p:nvSpPr>
        <p:spPr>
          <a:xfrm>
            <a:off x="0" y="0"/>
            <a:ext cx="12188952" cy="12618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8229600" cy="685800"/>
          </a:xfrm>
          <a:prstGeom prst="rect">
            <a:avLst/>
          </a:prstGeom>
          <a:noFill/>
        </p:spPr>
        <p:txBody>
          <a:bodyPr wrap="square">
            <a:spAutoFit/>
          </a:bodyPr>
          <a:lstStyle/>
          <a:p>
            <a:pPr algn="l"/>
            <a:r>
              <a:rPr sz="3000" b="1" i="0">
                <a:solidFill>
                  <a:srgbClr val="FFFFFF"/>
                </a:solidFill>
                <a:latin typeface="游明朝"/>
                <a:ea typeface="游明朝"/>
              </a:rPr>
              <a:t>穴馬スコア 1 位</a:t>
            </a:r>
          </a:p>
        </p:txBody>
      </p:sp>
      <p:sp>
        <p:nvSpPr>
          <p:cNvPr id="6" name="TextBox 5"/>
          <p:cNvSpPr txBox="1"/>
          <p:nvPr/>
        </p:nvSpPr>
        <p:spPr>
          <a:xfrm>
            <a:off x="457200" y="804672"/>
            <a:ext cx="10972800" cy="402336"/>
          </a:xfrm>
          <a:prstGeom prst="rect">
            <a:avLst/>
          </a:prstGeom>
          <a:noFill/>
        </p:spPr>
        <p:txBody>
          <a:bodyPr wrap="square">
            <a:spAutoFit/>
          </a:bodyPr>
          <a:lstStyle/>
          <a:p>
            <a:pPr algn="l"/>
            <a:r>
              <a:rPr sz="1200" b="0" i="1">
                <a:solidFill>
                  <a:srgbClr val="DCC8FF"/>
                </a:solidFill>
                <a:latin typeface="游ゴシック"/>
                <a:ea typeface="游ゴシック"/>
              </a:rPr>
              <a:t>穴馬スコア最上位  /  ブラックチャリス  27.7倍  （単8位）</a:t>
            </a:r>
          </a:p>
        </p:txBody>
      </p:sp>
      <p:sp>
        <p:nvSpPr>
          <p:cNvPr id="7" name="Rounded Rectangle 6"/>
          <p:cNvSpPr/>
          <p:nvPr/>
        </p:nvSpPr>
        <p:spPr>
          <a:xfrm>
            <a:off x="347472" y="1417320"/>
            <a:ext cx="512064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08760"/>
            <a:ext cx="4937760" cy="804672"/>
          </a:xfrm>
          <a:prstGeom prst="rect">
            <a:avLst/>
          </a:prstGeom>
          <a:noFill/>
        </p:spPr>
        <p:txBody>
          <a:bodyPr wrap="square">
            <a:spAutoFit/>
          </a:bodyPr>
          <a:lstStyle/>
          <a:p>
            <a:pPr algn="ctr"/>
            <a:r>
              <a:rPr sz="2600" b="1" i="0">
                <a:solidFill>
                  <a:srgbClr val="6D28D9"/>
                </a:solidFill>
                <a:latin typeface="游明朝"/>
                <a:ea typeface="游明朝"/>
              </a:rPr>
              <a:t>ブラックチャリス</a:t>
            </a:r>
          </a:p>
        </p:txBody>
      </p:sp>
      <p:sp>
        <p:nvSpPr>
          <p:cNvPr id="9" name="TextBox 8"/>
          <p:cNvSpPr txBox="1"/>
          <p:nvPr/>
        </p:nvSpPr>
        <p:spPr>
          <a:xfrm>
            <a:off x="411480" y="2377440"/>
            <a:ext cx="4937760" cy="347472"/>
          </a:xfrm>
          <a:prstGeom prst="rect">
            <a:avLst/>
          </a:prstGeom>
          <a:noFill/>
        </p:spPr>
        <p:txBody>
          <a:bodyPr wrap="square">
            <a:spAutoFit/>
          </a:bodyPr>
          <a:lstStyle/>
          <a:p>
            <a:pPr algn="ctr"/>
            <a:r>
              <a:rPr sz="1200" b="0" i="0">
                <a:solidFill>
                  <a:srgbClr val="6B505A"/>
                </a:solidFill>
                <a:latin typeface="游ゴシック"/>
                <a:ea typeface="游ゴシック"/>
              </a:rPr>
              <a:t>27.7倍  /  穴スコア 1.75 pt</a:t>
            </a:r>
          </a:p>
        </p:txBody>
      </p:sp>
      <p:sp>
        <p:nvSpPr>
          <p:cNvPr id="10" name="Rectangle 9"/>
          <p:cNvSpPr/>
          <p:nvPr/>
        </p:nvSpPr>
        <p:spPr>
          <a:xfrm>
            <a:off x="594360" y="2816352"/>
            <a:ext cx="4681728" cy="256032"/>
          </a:xfrm>
          <a:prstGeom prst="rect">
            <a:avLst/>
          </a:prstGeom>
          <a:solidFill>
            <a:srgbClr val="E6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816352"/>
            <a:ext cx="2731008"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18688"/>
            <a:ext cx="4919472" cy="54864"/>
          </a:xfrm>
          <a:prstGeom prst="rect">
            <a:avLst/>
          </a:prstGeom>
          <a:solidFill>
            <a:srgbClr val="C8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3337560"/>
            <a:ext cx="4919472" cy="1188720"/>
          </a:xfrm>
          <a:prstGeom prst="round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3337560"/>
            <a:ext cx="64008" cy="118872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383280"/>
            <a:ext cx="4572000" cy="365760"/>
          </a:xfrm>
          <a:prstGeom prst="rect">
            <a:avLst/>
          </a:prstGeom>
          <a:noFill/>
        </p:spPr>
        <p:txBody>
          <a:bodyPr wrap="square">
            <a:spAutoFit/>
          </a:bodyPr>
          <a:lstStyle/>
          <a:p>
            <a:pPr algn="l"/>
            <a:r>
              <a:rPr sz="1200" b="1" i="0">
                <a:solidFill>
                  <a:srgbClr val="B45309"/>
                </a:solidFill>
                <a:latin typeface="游ゴシック"/>
                <a:ea typeface="游ゴシック"/>
              </a:rPr>
              <a:t>🧬 血統評価  最高</a:t>
            </a:r>
          </a:p>
        </p:txBody>
      </p:sp>
      <p:sp>
        <p:nvSpPr>
          <p:cNvPr id="16" name="TextBox 15"/>
          <p:cNvSpPr txBox="1"/>
          <p:nvPr/>
        </p:nvSpPr>
        <p:spPr>
          <a:xfrm>
            <a:off x="566928" y="3785615"/>
            <a:ext cx="4572000" cy="658368"/>
          </a:xfrm>
          <a:prstGeom prst="rect">
            <a:avLst/>
          </a:prstGeom>
          <a:noFill/>
        </p:spPr>
        <p:txBody>
          <a:bodyPr wrap="square">
            <a:spAutoFit/>
          </a:bodyPr>
          <a:lstStyle/>
          <a:p>
            <a:pPr algn="l"/>
            <a:r>
              <a:rPr sz="1000" b="0" i="0">
                <a:solidFill>
                  <a:srgbClr val="0F0A0C"/>
                </a:solidFill>
                <a:latin typeface="游ゴシック"/>
                <a:ea typeface="游ゴシック"/>
              </a:rPr>
              <a:t>父キタサンブラック →  複勝率 66.7%
全産駒複勝圏の驚異データ</a:t>
            </a:r>
          </a:p>
        </p:txBody>
      </p:sp>
      <p:sp>
        <p:nvSpPr>
          <p:cNvPr id="17" name="Rounded Rectangle 16"/>
          <p:cNvSpPr/>
          <p:nvPr/>
        </p:nvSpPr>
        <p:spPr>
          <a:xfrm>
            <a:off x="411480" y="4617720"/>
            <a:ext cx="4919472" cy="1115568"/>
          </a:xfrm>
          <a:prstGeom prst="roundRect">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617720"/>
            <a:ext cx="64008" cy="111556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663440"/>
            <a:ext cx="4572000" cy="365760"/>
          </a:xfrm>
          <a:prstGeom prst="rect">
            <a:avLst/>
          </a:prstGeom>
          <a:noFill/>
        </p:spPr>
        <p:txBody>
          <a:bodyPr wrap="square">
            <a:spAutoFit/>
          </a:bodyPr>
          <a:lstStyle/>
          <a:p>
            <a:pPr algn="l"/>
            <a:r>
              <a:rPr sz="1200" b="1" i="0">
                <a:solidFill>
                  <a:srgbClr val="DC2626"/>
                </a:solidFill>
                <a:latin typeface="游ゴシック"/>
                <a:ea typeface="游ゴシック"/>
              </a:rPr>
              <a:t>📊 レースデータ  消し根拠あり</a:t>
            </a:r>
          </a:p>
        </p:txBody>
      </p:sp>
      <p:sp>
        <p:nvSpPr>
          <p:cNvPr id="20" name="TextBox 19"/>
          <p:cNvSpPr txBox="1"/>
          <p:nvPr/>
        </p:nvSpPr>
        <p:spPr>
          <a:xfrm>
            <a:off x="566928" y="5065776"/>
            <a:ext cx="4572000" cy="566928"/>
          </a:xfrm>
          <a:prstGeom prst="rect">
            <a:avLst/>
          </a:prstGeom>
          <a:noFill/>
        </p:spPr>
        <p:txBody>
          <a:bodyPr wrap="square">
            <a:spAutoFit/>
          </a:bodyPr>
          <a:lstStyle/>
          <a:p>
            <a:pPr algn="l"/>
            <a:r>
              <a:rPr sz="1000" b="0" i="0">
                <a:solidFill>
                  <a:srgbClr val="0F0A0C"/>
                </a:solidFill>
                <a:latin typeface="游ゴシック"/>
                <a:ea typeface="游ゴシック"/>
              </a:rPr>
              <a:t>穴ボーナス: フェアリーSGIII前走1着+0.8</a:t>
            </a:r>
          </a:p>
        </p:txBody>
      </p:sp>
      <p:sp>
        <p:nvSpPr>
          <p:cNvPr id="21" name="Rounded Rectangle 20"/>
          <p:cNvSpPr/>
          <p:nvPr/>
        </p:nvSpPr>
        <p:spPr>
          <a:xfrm>
            <a:off x="5742432" y="1417320"/>
            <a:ext cx="6126480" cy="4983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42432" y="1417320"/>
            <a:ext cx="6126480" cy="47548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7880" y="1463040"/>
            <a:ext cx="5806440" cy="384048"/>
          </a:xfrm>
          <a:prstGeom prst="rect">
            <a:avLst/>
          </a:prstGeom>
          <a:noFill/>
        </p:spPr>
        <p:txBody>
          <a:bodyPr wrap="square">
            <a:spAutoFit/>
          </a:bodyPr>
          <a:lstStyle/>
          <a:p>
            <a:pPr algn="l"/>
            <a:r>
              <a:rPr sz="1200" b="1" i="0">
                <a:solidFill>
                  <a:srgbClr val="FFFFFF"/>
                </a:solidFill>
                <a:latin typeface="游ゴシック"/>
                <a:ea typeface="游ゴシック"/>
              </a:rPr>
              <a:t>⚡ データの相克  解説</a:t>
            </a:r>
          </a:p>
        </p:txBody>
      </p:sp>
      <p:sp>
        <p:nvSpPr>
          <p:cNvPr id="24" name="TextBox 23"/>
          <p:cNvSpPr txBox="1"/>
          <p:nvPr/>
        </p:nvSpPr>
        <p:spPr>
          <a:xfrm>
            <a:off x="5897880" y="1993392"/>
            <a:ext cx="5870448" cy="1325880"/>
          </a:xfrm>
          <a:prstGeom prst="rect">
            <a:avLst/>
          </a:prstGeom>
          <a:noFill/>
        </p:spPr>
        <p:txBody>
          <a:bodyPr wrap="square">
            <a:spAutoFit/>
          </a:bodyPr>
          <a:lstStyle/>
          <a:p>
            <a:pPr algn="l"/>
            <a:r>
              <a:rPr sz="1000" b="0" i="0">
                <a:solidFill>
                  <a:srgbClr val="0F0A0C"/>
                </a:solidFill>
                <a:latin typeface="游ゴシック"/>
                <a:ea typeface="游ゴシック"/>
              </a:rPr>
              <a:t>血統は「最高評価」、レースデータは「消し根拠あり」という相矛盾するデータが共存。これが「データの相克」。単勝ではなく複勝での少額バックが合理的判断。</a:t>
            </a:r>
          </a:p>
        </p:txBody>
      </p:sp>
      <p:sp>
        <p:nvSpPr>
          <p:cNvPr id="25" name="Rectangle 24"/>
          <p:cNvSpPr/>
          <p:nvPr/>
        </p:nvSpPr>
        <p:spPr>
          <a:xfrm>
            <a:off x="5897880" y="3401568"/>
            <a:ext cx="5715000" cy="54864"/>
          </a:xfrm>
          <a:prstGeom prst="rect">
            <a:avLst/>
          </a:prstGeom>
          <a:solidFill>
            <a:srgbClr val="B4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3511296"/>
            <a:ext cx="5806440" cy="320040"/>
          </a:xfrm>
          <a:prstGeom prst="rect">
            <a:avLst/>
          </a:prstGeom>
          <a:noFill/>
        </p:spPr>
        <p:txBody>
          <a:bodyPr wrap="square">
            <a:spAutoFit/>
          </a:bodyPr>
          <a:lstStyle/>
          <a:p>
            <a:pPr algn="l"/>
            <a:r>
              <a:rPr sz="1100" b="1" i="0">
                <a:solidFill>
                  <a:srgbClr val="6D28D9"/>
                </a:solidFill>
                <a:latin typeface="游ゴシック"/>
                <a:ea typeface="游ゴシック"/>
              </a:rPr>
              <a:t>🧬 血統コメント</a:t>
            </a:r>
          </a:p>
        </p:txBody>
      </p:sp>
      <p:sp>
        <p:nvSpPr>
          <p:cNvPr id="27" name="TextBox 26"/>
          <p:cNvSpPr txBox="1"/>
          <p:nvPr/>
        </p:nvSpPr>
        <p:spPr>
          <a:xfrm>
            <a:off x="5897880" y="3858768"/>
            <a:ext cx="5870448" cy="1261872"/>
          </a:xfrm>
          <a:prstGeom prst="rect">
            <a:avLst/>
          </a:prstGeom>
          <a:noFill/>
        </p:spPr>
        <p:txBody>
          <a:bodyPr wrap="square">
            <a:spAutoFit/>
          </a:bodyPr>
          <a:lstStyle/>
          <a:p>
            <a:pPr algn="l"/>
            <a:r>
              <a:rPr sz="900" b="0" i="1">
                <a:solidFill>
                  <a:srgbClr val="0F0A0C"/>
                </a:solidFill>
                <a:latin typeface="游ゴシック"/>
                <a:ea typeface="游ゴシック"/>
              </a:rPr>
              <a:t>「早期は有利な形態」加点。日本適性○、スピード/スタミナ○。スタミナ核不足は桜花賞では軽微。</a:t>
            </a:r>
          </a:p>
        </p:txBody>
      </p:sp>
      <p:sp>
        <p:nvSpPr>
          <p:cNvPr id="28" name="Rounded Rectangle 27"/>
          <p:cNvSpPr/>
          <p:nvPr/>
        </p:nvSpPr>
        <p:spPr>
          <a:xfrm>
            <a:off x="5742432" y="5212080"/>
            <a:ext cx="6126480" cy="1078992"/>
          </a:xfrm>
          <a:prstGeom prst="roundRect">
            <a:avLst/>
          </a:prstGeom>
          <a:solidFill>
            <a:srgbClr val="F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42432" y="5212080"/>
            <a:ext cx="64008" cy="10789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97880" y="5257800"/>
            <a:ext cx="5806440" cy="365760"/>
          </a:xfrm>
          <a:prstGeom prst="rect">
            <a:avLst/>
          </a:prstGeom>
          <a:noFill/>
        </p:spPr>
        <p:txBody>
          <a:bodyPr wrap="square">
            <a:spAutoFit/>
          </a:bodyPr>
          <a:lstStyle/>
          <a:p>
            <a:pPr algn="l"/>
            <a:r>
              <a:rPr sz="1100" b="1" i="0">
                <a:solidFill>
                  <a:srgbClr val="6D28D9"/>
                </a:solidFill>
                <a:latin typeface="游ゴシック"/>
                <a:ea typeface="游ゴシック"/>
              </a:rPr>
              <a:t>💡 結論  →  複勝で少額バック推奨</a:t>
            </a:r>
          </a:p>
        </p:txBody>
      </p:sp>
      <p:sp>
        <p:nvSpPr>
          <p:cNvPr id="31" name="TextBox 30"/>
          <p:cNvSpPr txBox="1"/>
          <p:nvPr/>
        </p:nvSpPr>
        <p:spPr>
          <a:xfrm>
            <a:off x="5897880" y="5669280"/>
            <a:ext cx="5806440" cy="548640"/>
          </a:xfrm>
          <a:prstGeom prst="rect">
            <a:avLst/>
          </a:prstGeom>
          <a:noFill/>
        </p:spPr>
        <p:txBody>
          <a:bodyPr wrap="square">
            <a:spAutoFit/>
          </a:bodyPr>
          <a:lstStyle/>
          <a:p>
            <a:pPr algn="l"/>
            <a:r>
              <a:rPr sz="1000" b="0" i="0">
                <a:solidFill>
                  <a:srgbClr val="0F0A0C"/>
                </a:solidFill>
                <a:latin typeface="游ゴシック"/>
                <a:ea typeface="游ゴシック"/>
              </a:rPr>
              <a:t>血統最高 × データ消し = 複勝狙い一択</a:t>
            </a:r>
          </a:p>
        </p:txBody>
      </p:sp>
      <p:pic>
        <p:nvPicPr>
          <p:cNvPr id="32" name="Picture 31" descr="ginyo.jpg"/>
          <p:cNvPicPr>
            <a:picLocks noChangeAspect="1"/>
          </p:cNvPicPr>
          <p:nvPr/>
        </p:nvPicPr>
        <p:blipFill>
          <a:blip r:embed="rId2"/>
          <a:stretch>
            <a:fillRect/>
          </a:stretch>
        </p:blipFill>
        <p:spPr>
          <a:xfrm>
            <a:off x="8961120" y="3474720"/>
            <a:ext cx="3017520" cy="2267712"/>
          </a:xfrm>
          <a:prstGeom prst="rect">
            <a:avLst/>
          </a:prstGeom>
        </p:spPr>
      </p:pic>
      <p:sp>
        <p:nvSpPr>
          <p:cNvPr id="33" name="Rectangle 32"/>
          <p:cNvSpPr/>
          <p:nvPr/>
        </p:nvSpPr>
        <p:spPr>
          <a:xfrm>
            <a:off x="0" y="6492240"/>
            <a:ext cx="12188952" cy="365760"/>
          </a:xfrm>
          <a:prstGeom prst="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6519672"/>
            <a:ext cx="86868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35" name="TextBox 34"/>
          <p:cNvSpPr txBox="1"/>
          <p:nvPr/>
        </p:nvSpPr>
        <p:spPr>
          <a:xfrm>
            <a:off x="8686800" y="6519672"/>
            <a:ext cx="3200400" cy="274320"/>
          </a:xfrm>
          <a:prstGeom prst="rect">
            <a:avLst/>
          </a:prstGeom>
          <a:noFill/>
        </p:spPr>
        <p:txBody>
          <a:bodyPr wrap="square">
            <a:spAutoFit/>
          </a:bodyPr>
          <a:lstStyle/>
          <a:p>
            <a:pPr algn="r"/>
            <a:r>
              <a:rPr sz="1000" b="1" i="0">
                <a:solidFill>
                  <a:srgbClr val="FFE696"/>
                </a:solidFill>
                <a:latin typeface="游ゴシック"/>
                <a:ea typeface="游ゴシック"/>
              </a:rPr>
              <a:t>🔒 メンバーシップ限定  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136E"/>
        </a:solidFill>
        <a:effectLst/>
      </p:bgPr>
    </p:bg>
    <p:spTree>
      <p:nvGrpSpPr>
        <p:cNvPr id="1" name=""/>
        <p:cNvGrpSpPr/>
        <p:nvPr/>
      </p:nvGrpSpPr>
      <p:grpSpPr/>
      <p:pic>
        <p:nvPicPr>
          <p:cNvPr id="2" name="Picture 1" descr="brain_cover.jpg"/>
          <p:cNvPicPr>
            <a:picLocks noChangeAspect="1"/>
          </p:cNvPicPr>
          <p:nvPr/>
        </p:nvPicPr>
        <p:blipFill>
          <a:blip r:embed="rId2"/>
          <a:stretch>
            <a:fillRect/>
          </a:stretch>
        </p:blipFill>
        <p:spPr>
          <a:xfrm>
            <a:off x="3200400" y="0"/>
            <a:ext cx="9144000" cy="6858000"/>
          </a:xfrm>
          <a:prstGeom prst="rect">
            <a:avLst/>
          </a:prstGeom>
        </p:spPr>
      </p:pic>
      <p:sp>
        <p:nvSpPr>
          <p:cNvPr id="3" name="Rectangle 2"/>
          <p:cNvSpPr/>
          <p:nvPr/>
        </p:nvSpPr>
        <p:spPr>
          <a:xfrm>
            <a:off x="0" y="0"/>
            <a:ext cx="12188952" cy="68580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731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88952" cy="731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0" y="475488"/>
            <a:ext cx="6702552"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475488"/>
            <a:ext cx="6702552" cy="566928"/>
          </a:xfrm>
          <a:prstGeom prst="rect">
            <a:avLst/>
          </a:prstGeom>
          <a:noFill/>
        </p:spPr>
        <p:txBody>
          <a:bodyPr wrap="square">
            <a:spAutoFit/>
          </a:bodyPr>
          <a:lstStyle/>
          <a:p>
            <a:pPr algn="ctr"/>
            <a:r>
              <a:rPr sz="1500" b="1" i="0">
                <a:solidFill>
                  <a:srgbClr val="E8136E"/>
                </a:solidFill>
                <a:latin typeface="游ゴシック"/>
                <a:ea typeface="游ゴシック"/>
              </a:rPr>
              <a:t>◆  前半ブロック  ここまで  ◆</a:t>
            </a:r>
          </a:p>
        </p:txBody>
      </p:sp>
      <p:sp>
        <p:nvSpPr>
          <p:cNvPr id="8" name="TextBox 7"/>
          <p:cNvSpPr txBox="1"/>
          <p:nvPr/>
        </p:nvSpPr>
        <p:spPr>
          <a:xfrm>
            <a:off x="457200" y="1261872"/>
            <a:ext cx="11274552" cy="2011680"/>
          </a:xfrm>
          <a:prstGeom prst="rect">
            <a:avLst/>
          </a:prstGeom>
          <a:noFill/>
        </p:spPr>
        <p:txBody>
          <a:bodyPr wrap="square">
            <a:spAutoFit/>
          </a:bodyPr>
          <a:lstStyle/>
          <a:p>
            <a:pPr algn="ctr"/>
            <a:r>
              <a:rPr sz="8000" b="1" i="0">
                <a:solidFill>
                  <a:srgbClr val="FFFFFF"/>
                </a:solidFill>
                <a:latin typeface="游明朝"/>
                <a:ea typeface="游明朝"/>
              </a:rPr>
              <a:t>続 き は...</a:t>
            </a:r>
          </a:p>
        </p:txBody>
      </p:sp>
      <p:sp>
        <p:nvSpPr>
          <p:cNvPr id="9" name="TextBox 8"/>
          <p:cNvSpPr txBox="1"/>
          <p:nvPr/>
        </p:nvSpPr>
        <p:spPr>
          <a:xfrm>
            <a:off x="457200" y="3310128"/>
            <a:ext cx="11274552" cy="777240"/>
          </a:xfrm>
          <a:prstGeom prst="rect">
            <a:avLst/>
          </a:prstGeom>
          <a:noFill/>
        </p:spPr>
        <p:txBody>
          <a:bodyPr wrap="square">
            <a:spAutoFit/>
          </a:bodyPr>
          <a:lstStyle/>
          <a:p>
            <a:pPr algn="ctr"/>
            <a:r>
              <a:rPr sz="3000" b="1" i="0">
                <a:solidFill>
                  <a:srgbClr val="F5B731"/>
                </a:solidFill>
                <a:latin typeface="游明朝"/>
                <a:ea typeface="游明朝"/>
              </a:rPr>
              <a:t>有料メンバーシップ  限定公開</a:t>
            </a:r>
          </a:p>
        </p:txBody>
      </p:sp>
      <p:sp>
        <p:nvSpPr>
          <p:cNvPr id="10" name="Rounded Rectangle 9"/>
          <p:cNvSpPr/>
          <p:nvPr/>
        </p:nvSpPr>
        <p:spPr>
          <a:xfrm>
            <a:off x="2011680" y="4206240"/>
            <a:ext cx="8165592" cy="438912"/>
          </a:xfrm>
          <a:prstGeom prst="round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4251960"/>
            <a:ext cx="7772400" cy="329184"/>
          </a:xfrm>
          <a:prstGeom prst="rect">
            <a:avLst/>
          </a:prstGeom>
          <a:noFill/>
        </p:spPr>
        <p:txBody>
          <a:bodyPr wrap="square">
            <a:spAutoFit/>
          </a:bodyPr>
          <a:lstStyle/>
          <a:p>
            <a:pPr algn="l"/>
            <a:r>
              <a:rPr sz="1300" b="0" i="0">
                <a:solidFill>
                  <a:srgbClr val="FFFFFF"/>
                </a:solidFill>
                <a:latin typeface="游ゴシック"/>
                <a:ea typeface="游ゴシック"/>
              </a:rPr>
              <a:t>▶ 全馬スコアランキング完全版（19頭）</a:t>
            </a:r>
          </a:p>
        </p:txBody>
      </p:sp>
      <p:sp>
        <p:nvSpPr>
          <p:cNvPr id="12" name="Rounded Rectangle 11"/>
          <p:cNvSpPr/>
          <p:nvPr/>
        </p:nvSpPr>
        <p:spPr>
          <a:xfrm>
            <a:off x="2011680" y="4718304"/>
            <a:ext cx="8165592" cy="438912"/>
          </a:xfrm>
          <a:prstGeom prst="round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4764024"/>
            <a:ext cx="7772400" cy="329184"/>
          </a:xfrm>
          <a:prstGeom prst="rect">
            <a:avLst/>
          </a:prstGeom>
          <a:noFill/>
        </p:spPr>
        <p:txBody>
          <a:bodyPr wrap="square">
            <a:spAutoFit/>
          </a:bodyPr>
          <a:lstStyle/>
          <a:p>
            <a:pPr algn="l"/>
            <a:r>
              <a:rPr sz="1300" b="0" i="0">
                <a:solidFill>
                  <a:srgbClr val="FFFFFF"/>
                </a:solidFill>
                <a:latin typeface="游ゴシック"/>
                <a:ea typeface="游ゴシック"/>
              </a:rPr>
              <a:t>▶ 対抗馬・注意馬 詳細ファクター解説</a:t>
            </a:r>
          </a:p>
        </p:txBody>
      </p:sp>
      <p:sp>
        <p:nvSpPr>
          <p:cNvPr id="14" name="Rounded Rectangle 13"/>
          <p:cNvSpPr/>
          <p:nvPr/>
        </p:nvSpPr>
        <p:spPr>
          <a:xfrm>
            <a:off x="2011680" y="5230368"/>
            <a:ext cx="8165592" cy="438912"/>
          </a:xfrm>
          <a:prstGeom prst="roundRect">
            <a:avLst/>
          </a:prstGeom>
          <a:solidFill>
            <a:srgbClr val="B40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94560" y="5276088"/>
            <a:ext cx="7772400" cy="329184"/>
          </a:xfrm>
          <a:prstGeom prst="rect">
            <a:avLst/>
          </a:prstGeom>
          <a:noFill/>
        </p:spPr>
        <p:txBody>
          <a:bodyPr wrap="square">
            <a:spAutoFit/>
          </a:bodyPr>
          <a:lstStyle/>
          <a:p>
            <a:pPr algn="l"/>
            <a:r>
              <a:rPr sz="1300" b="0" i="0">
                <a:solidFill>
                  <a:srgbClr val="FFFFFF"/>
                </a:solidFill>
                <a:latin typeface="游ゴシック"/>
                <a:ea typeface="游ゴシック"/>
              </a:rPr>
              <a:t>▶ 完全買い目提案（単勝〜3連単まで）</a:t>
            </a:r>
          </a:p>
        </p:txBody>
      </p:sp>
      <p:sp>
        <p:nvSpPr>
          <p:cNvPr id="16" name="Rounded Rectangle 15"/>
          <p:cNvSpPr/>
          <p:nvPr/>
        </p:nvSpPr>
        <p:spPr>
          <a:xfrm>
            <a:off x="2743200" y="5888736"/>
            <a:ext cx="6702552" cy="621792"/>
          </a:xfrm>
          <a:prstGeom prst="round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5888736"/>
            <a:ext cx="6519672" cy="621792"/>
          </a:xfrm>
          <a:prstGeom prst="rect">
            <a:avLst/>
          </a:prstGeom>
          <a:noFill/>
        </p:spPr>
        <p:txBody>
          <a:bodyPr wrap="square">
            <a:spAutoFit/>
          </a:bodyPr>
          <a:lstStyle/>
          <a:p>
            <a:pPr algn="ctr"/>
            <a:r>
              <a:rPr sz="1400" b="1" i="0">
                <a:solidFill>
                  <a:srgbClr val="0F0A0C"/>
                </a:solidFill>
                <a:latin typeface="游ゴシック"/>
                <a:ea typeface="游ゴシック"/>
              </a:rPr>
              <a:t>▶  チャンネル登録・メンバーシップはこちら</a:t>
            </a:r>
          </a:p>
        </p:txBody>
      </p:sp>
      <p:pic>
        <p:nvPicPr>
          <p:cNvPr id="18" name="Picture 17" descr="ginyo.jpg"/>
          <p:cNvPicPr>
            <a:picLocks noChangeAspect="1"/>
          </p:cNvPicPr>
          <p:nvPr/>
        </p:nvPicPr>
        <p:blipFill>
          <a:blip r:embed="rId3"/>
          <a:stretch>
            <a:fillRect/>
          </a:stretch>
        </p:blipFill>
        <p:spPr>
          <a:xfrm>
            <a:off x="0" y="4206240"/>
            <a:ext cx="2468880" cy="1847088"/>
          </a:xfrm>
          <a:prstGeom prst="rect">
            <a:avLst/>
          </a:prstGeom>
        </p:spPr>
      </p:pic>
      <p:pic>
        <p:nvPicPr>
          <p:cNvPr id="19" name="Picture 18" descr="goto.jpg"/>
          <p:cNvPicPr>
            <a:picLocks noChangeAspect="1"/>
          </p:cNvPicPr>
          <p:nvPr/>
        </p:nvPicPr>
        <p:blipFill>
          <a:blip r:embed="rId4"/>
          <a:stretch>
            <a:fillRect/>
          </a:stretch>
        </p:blipFill>
        <p:spPr>
          <a:xfrm>
            <a:off x="9509760" y="3474720"/>
            <a:ext cx="2651760" cy="1993392"/>
          </a:xfrm>
          <a:prstGeom prst="rect">
            <a:avLst/>
          </a:prstGeom>
        </p:spPr>
      </p:pic>
      <p:sp>
        <p:nvSpPr>
          <p:cNvPr id="20" name="TextBox 19"/>
          <p:cNvSpPr txBox="1"/>
          <p:nvPr/>
        </p:nvSpPr>
        <p:spPr>
          <a:xfrm>
            <a:off x="0" y="6510528"/>
            <a:ext cx="12188952" cy="246888"/>
          </a:xfrm>
          <a:prstGeom prst="rect">
            <a:avLst/>
          </a:prstGeom>
          <a:noFill/>
        </p:spPr>
        <p:txBody>
          <a:bodyPr wrap="square">
            <a:spAutoFit/>
          </a:bodyPr>
          <a:lstStyle/>
          <a:p>
            <a:pPr algn="ctr"/>
            <a:r>
              <a:rPr sz="900" b="0" i="1">
                <a:solidFill>
                  <a:srgbClr val="FFDCEB"/>
                </a:solidFill>
                <a:latin typeface="游ゴシック"/>
                <a:ea typeface="游ゴシック"/>
              </a:rPr>
              <a:t>[チャンネルURL / QRコードをここに挿入]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