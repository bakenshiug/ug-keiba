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8136E"/>
        </a:solidFill>
        <a:effectLst/>
      </p:bgPr>
    </p:bg>
    <p:spTree>
      <p:nvGrpSpPr>
        <p:cNvPr id="1" name=""/>
        <p:cNvGrpSpPr/>
        <p:nvPr/>
      </p:nvGrpSpPr>
      <p:grpSpPr/>
      <p:pic>
        <p:nvPicPr>
          <p:cNvPr id="2" name="Picture 1" descr="brain_cover.jpg"/>
          <p:cNvPicPr>
            <a:picLocks noChangeAspect="1"/>
          </p:cNvPicPr>
          <p:nvPr/>
        </p:nvPicPr>
        <p:blipFill>
          <a:blip r:embed="rId2"/>
          <a:stretch>
            <a:fillRect/>
          </a:stretch>
        </p:blipFill>
        <p:spPr>
          <a:xfrm>
            <a:off x="5303520" y="-91440"/>
            <a:ext cx="7132320" cy="7040880"/>
          </a:xfrm>
          <a:prstGeom prst="rect">
            <a:avLst/>
          </a:prstGeom>
        </p:spPr>
      </p:pic>
      <p:sp>
        <p:nvSpPr>
          <p:cNvPr id="3" name="Rectangle 2"/>
          <p:cNvSpPr/>
          <p:nvPr/>
        </p:nvSpPr>
        <p:spPr>
          <a:xfrm>
            <a:off x="0" y="0"/>
            <a:ext cx="5943600" cy="685800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64008"/>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93992"/>
            <a:ext cx="12188952" cy="64008"/>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594360"/>
            <a:ext cx="1097280" cy="457200"/>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594360"/>
            <a:ext cx="1097280" cy="457200"/>
          </a:xfrm>
          <a:prstGeom prst="rect">
            <a:avLst/>
          </a:prstGeom>
          <a:noFill/>
        </p:spPr>
        <p:txBody>
          <a:bodyPr wrap="square">
            <a:spAutoFit/>
          </a:bodyPr>
          <a:lstStyle/>
          <a:p>
            <a:pPr algn="ctr"/>
            <a:r>
              <a:rPr sz="1800" b="1" i="0">
                <a:solidFill>
                  <a:srgbClr val="1E0A14"/>
                </a:solidFill>
                <a:latin typeface="游明朝"/>
                <a:ea typeface="游明朝"/>
              </a:rPr>
              <a:t>G  1</a:t>
            </a:r>
          </a:p>
        </p:txBody>
      </p:sp>
      <p:sp>
        <p:nvSpPr>
          <p:cNvPr id="8" name="TextBox 7"/>
          <p:cNvSpPr txBox="1"/>
          <p:nvPr/>
        </p:nvSpPr>
        <p:spPr>
          <a:xfrm>
            <a:off x="365760" y="1188720"/>
            <a:ext cx="5486400" cy="1828800"/>
          </a:xfrm>
          <a:prstGeom prst="rect">
            <a:avLst/>
          </a:prstGeom>
          <a:noFill/>
        </p:spPr>
        <p:txBody>
          <a:bodyPr wrap="square">
            <a:spAutoFit/>
          </a:bodyPr>
          <a:lstStyle/>
          <a:p>
            <a:pPr algn="l"/>
            <a:r>
              <a:rPr sz="7200" b="1" i="0">
                <a:solidFill>
                  <a:srgbClr val="FFFFFF"/>
                </a:solidFill>
                <a:latin typeface="游明朝"/>
                <a:ea typeface="游明朝"/>
              </a:rPr>
              <a:t>桜花賞</a:t>
            </a:r>
          </a:p>
        </p:txBody>
      </p:sp>
      <p:sp>
        <p:nvSpPr>
          <p:cNvPr id="9" name="Rectangle 8"/>
          <p:cNvSpPr/>
          <p:nvPr/>
        </p:nvSpPr>
        <p:spPr>
          <a:xfrm>
            <a:off x="365760" y="3127248"/>
            <a:ext cx="5120640" cy="54864"/>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246120"/>
            <a:ext cx="5120640" cy="822960"/>
          </a:xfrm>
          <a:prstGeom prst="rect">
            <a:avLst/>
          </a:prstGeom>
          <a:noFill/>
        </p:spPr>
        <p:txBody>
          <a:bodyPr wrap="square">
            <a:spAutoFit/>
          </a:bodyPr>
          <a:lstStyle/>
          <a:p>
            <a:pPr algn="l"/>
            <a:r>
              <a:rPr sz="3800" b="1" i="0">
                <a:solidFill>
                  <a:srgbClr val="F5B731"/>
                </a:solidFill>
                <a:latin typeface="游明朝"/>
                <a:ea typeface="游明朝"/>
              </a:rPr>
              <a:t>徹底解析</a:t>
            </a:r>
          </a:p>
        </p:txBody>
      </p:sp>
      <p:sp>
        <p:nvSpPr>
          <p:cNvPr id="11" name="TextBox 10"/>
          <p:cNvSpPr txBox="1"/>
          <p:nvPr/>
        </p:nvSpPr>
        <p:spPr>
          <a:xfrm>
            <a:off x="365760" y="4224528"/>
            <a:ext cx="5303520" cy="438912"/>
          </a:xfrm>
          <a:prstGeom prst="rect">
            <a:avLst/>
          </a:prstGeom>
          <a:noFill/>
        </p:spPr>
        <p:txBody>
          <a:bodyPr wrap="square">
            <a:spAutoFit/>
          </a:bodyPr>
          <a:lstStyle/>
          <a:p>
            <a:pPr algn="l"/>
            <a:r>
              <a:rPr sz="1300" b="0" i="0">
                <a:solidFill>
                  <a:srgbClr val="FFDCEB"/>
                </a:solidFill>
                <a:latin typeface="游ゴシック"/>
                <a:ea typeface="游ゴシック"/>
              </a:rPr>
              <a:t>2026年4月12日（日）  阪神競馬場  芝1600m外  19頭立て</a:t>
            </a:r>
          </a:p>
        </p:txBody>
      </p:sp>
      <p:sp>
        <p:nvSpPr>
          <p:cNvPr id="12" name="Rectangle 11"/>
          <p:cNvSpPr/>
          <p:nvPr/>
        </p:nvSpPr>
        <p:spPr>
          <a:xfrm>
            <a:off x="365760" y="4773168"/>
            <a:ext cx="5120640" cy="45720"/>
          </a:xfrm>
          <a:prstGeom prst="rect">
            <a:avLst/>
          </a:prstGeom>
          <a:solidFill>
            <a:srgbClr val="FFB4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4892040"/>
            <a:ext cx="5303520" cy="457200"/>
          </a:xfrm>
          <a:prstGeom prst="rect">
            <a:avLst/>
          </a:prstGeom>
          <a:noFill/>
        </p:spPr>
        <p:txBody>
          <a:bodyPr wrap="square">
            <a:spAutoFit/>
          </a:bodyPr>
          <a:lstStyle/>
          <a:p>
            <a:pPr algn="l"/>
            <a:r>
              <a:rPr sz="1400" b="0" i="1">
                <a:solidFill>
                  <a:srgbClr val="FFF0F8"/>
                </a:solidFill>
                <a:latin typeface="游ゴシック"/>
                <a:ea typeface="游ゴシック"/>
              </a:rPr>
              <a:t>ギーニョ重賞データ×血統×特別解析</a:t>
            </a:r>
          </a:p>
        </p:txBody>
      </p:sp>
      <p:sp>
        <p:nvSpPr>
          <p:cNvPr id="14" name="Rectangle 13"/>
          <p:cNvSpPr/>
          <p:nvPr/>
        </p:nvSpPr>
        <p:spPr>
          <a:xfrm>
            <a:off x="0" y="6291072"/>
            <a:ext cx="6035040" cy="548640"/>
          </a:xfrm>
          <a:prstGeom prst="rect">
            <a:avLst/>
          </a:prstGeom>
          <a:solidFill>
            <a:srgbClr val="FF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6336792"/>
            <a:ext cx="5303520" cy="411480"/>
          </a:xfrm>
          <a:prstGeom prst="rect">
            <a:avLst/>
          </a:prstGeom>
          <a:noFill/>
        </p:spPr>
        <p:txBody>
          <a:bodyPr wrap="square">
            <a:spAutoFit/>
          </a:bodyPr>
          <a:lstStyle/>
          <a:p>
            <a:pPr algn="l"/>
            <a:r>
              <a:rPr sz="1200" b="1" i="0">
                <a:solidFill>
                  <a:srgbClr val="B40850"/>
                </a:solidFill>
                <a:latin typeface="游ゴシック"/>
                <a:ea typeface="游ゴシック"/>
              </a:rPr>
              <a:t>UG競馬 競馬予想チャンネル</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BF5"/>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841248"/>
          </a:xfrm>
          <a:prstGeom prst="rect">
            <a:avLst/>
          </a:prstGeom>
          <a:noFill/>
        </p:spPr>
        <p:txBody>
          <a:bodyPr wrap="square">
            <a:spAutoFit/>
          </a:bodyPr>
          <a:lstStyle/>
          <a:p>
            <a:pPr algn="l"/>
            <a:r>
              <a:rPr sz="3400" b="1" i="0">
                <a:solidFill>
                  <a:srgbClr val="FFFFFF"/>
                </a:solidFill>
                <a:latin typeface="游明朝"/>
                <a:ea typeface="游明朝"/>
              </a:rPr>
              <a:t>レースのポイント</a:t>
            </a:r>
          </a:p>
        </p:txBody>
      </p:sp>
      <p:sp>
        <p:nvSpPr>
          <p:cNvPr id="4" name="TextBox 3"/>
          <p:cNvSpPr txBox="1"/>
          <p:nvPr/>
        </p:nvSpPr>
        <p:spPr>
          <a:xfrm>
            <a:off x="457200" y="896112"/>
            <a:ext cx="10972800" cy="402336"/>
          </a:xfrm>
          <a:prstGeom prst="rect">
            <a:avLst/>
          </a:prstGeom>
          <a:noFill/>
        </p:spPr>
        <p:txBody>
          <a:bodyPr wrap="square">
            <a:spAutoFit/>
          </a:bodyPr>
          <a:lstStyle/>
          <a:p>
            <a:pPr algn="l"/>
            <a:r>
              <a:rPr sz="1200" b="0" i="1">
                <a:solidFill>
                  <a:srgbClr val="FFD2E6"/>
                </a:solidFill>
                <a:latin typeface="游ゴシック"/>
                <a:ea typeface="游ゴシック"/>
              </a:rPr>
              <a:t>ギーニョ 重賞データ解析より　過去10年 桜花賞 徹底分析</a:t>
            </a:r>
          </a:p>
        </p:txBody>
      </p:sp>
      <p:sp>
        <p:nvSpPr>
          <p:cNvPr id="5" name="Rounded Rectangle 4"/>
          <p:cNvSpPr/>
          <p:nvPr/>
        </p:nvSpPr>
        <p:spPr>
          <a:xfrm>
            <a:off x="384048" y="1508760"/>
            <a:ext cx="214884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1508760"/>
            <a:ext cx="2148840" cy="36576"/>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600200"/>
            <a:ext cx="1965960" cy="1081278"/>
          </a:xfrm>
          <a:prstGeom prst="rect">
            <a:avLst/>
          </a:prstGeom>
          <a:noFill/>
        </p:spPr>
        <p:txBody>
          <a:bodyPr wrap="square">
            <a:spAutoFit/>
          </a:bodyPr>
          <a:lstStyle/>
          <a:p>
            <a:pPr algn="ctr"/>
            <a:r>
              <a:rPr sz="2800" b="1" i="0">
                <a:solidFill>
                  <a:srgbClr val="E8136E"/>
                </a:solidFill>
                <a:latin typeface="游明朝"/>
                <a:ea typeface="游明朝"/>
              </a:rPr>
              <a:t>70%</a:t>
            </a:r>
          </a:p>
        </p:txBody>
      </p:sp>
      <p:sp>
        <p:nvSpPr>
          <p:cNvPr id="8" name="TextBox 7"/>
          <p:cNvSpPr txBox="1"/>
          <p:nvPr/>
        </p:nvSpPr>
        <p:spPr>
          <a:xfrm>
            <a:off x="429768" y="2649016"/>
            <a:ext cx="2057400" cy="550468"/>
          </a:xfrm>
          <a:prstGeom prst="rect">
            <a:avLst/>
          </a:prstGeom>
          <a:noFill/>
        </p:spPr>
        <p:txBody>
          <a:bodyPr wrap="square">
            <a:spAutoFit/>
          </a:bodyPr>
          <a:lstStyle/>
          <a:p>
            <a:pPr algn="ctr"/>
            <a:r>
              <a:rPr sz="1000" b="1" i="0">
                <a:solidFill>
                  <a:srgbClr val="1E0A14"/>
                </a:solidFill>
                <a:latin typeface="游ゴシック"/>
                <a:ea typeface="游ゴシック"/>
              </a:rPr>
              <a:t>2番人気の複勝率</a:t>
            </a:r>
          </a:p>
        </p:txBody>
      </p:sp>
      <p:sp>
        <p:nvSpPr>
          <p:cNvPr id="9" name="TextBox 8"/>
          <p:cNvSpPr txBox="1"/>
          <p:nvPr/>
        </p:nvSpPr>
        <p:spPr>
          <a:xfrm>
            <a:off x="429768" y="3120847"/>
            <a:ext cx="2057400" cy="393192"/>
          </a:xfrm>
          <a:prstGeom prst="rect">
            <a:avLst/>
          </a:prstGeom>
          <a:noFill/>
        </p:spPr>
        <p:txBody>
          <a:bodyPr wrap="square">
            <a:spAutoFit/>
          </a:bodyPr>
          <a:lstStyle/>
          <a:p>
            <a:pPr algn="ctr"/>
            <a:r>
              <a:rPr sz="800" b="0" i="1">
                <a:solidFill>
                  <a:srgbClr val="785064"/>
                </a:solidFill>
                <a:latin typeface="游ゴシック"/>
                <a:ea typeface="游ゴシック"/>
              </a:rPr>
              <a:t>1番人気(60%)を上回る最強人気</a:t>
            </a:r>
          </a:p>
        </p:txBody>
      </p:sp>
      <p:sp>
        <p:nvSpPr>
          <p:cNvPr id="10" name="Rectangle 9"/>
          <p:cNvSpPr/>
          <p:nvPr/>
        </p:nvSpPr>
        <p:spPr>
          <a:xfrm>
            <a:off x="384048" y="3419856"/>
            <a:ext cx="2148840" cy="54864"/>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697480" y="1508760"/>
            <a:ext cx="214884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97480" y="1508760"/>
            <a:ext cx="214884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8920" y="1600200"/>
            <a:ext cx="1965960" cy="1081278"/>
          </a:xfrm>
          <a:prstGeom prst="rect">
            <a:avLst/>
          </a:prstGeom>
          <a:noFill/>
        </p:spPr>
        <p:txBody>
          <a:bodyPr wrap="square">
            <a:spAutoFit/>
          </a:bodyPr>
          <a:lstStyle/>
          <a:p>
            <a:pPr algn="ctr"/>
            <a:r>
              <a:rPr sz="2800" b="1" i="0">
                <a:solidFill>
                  <a:srgbClr val="10B981"/>
                </a:solidFill>
                <a:latin typeface="游明朝"/>
                <a:ea typeface="游明朝"/>
              </a:rPr>
              <a:t>100%</a:t>
            </a:r>
          </a:p>
        </p:txBody>
      </p:sp>
      <p:sp>
        <p:nvSpPr>
          <p:cNvPr id="14" name="TextBox 13"/>
          <p:cNvSpPr txBox="1"/>
          <p:nvPr/>
        </p:nvSpPr>
        <p:spPr>
          <a:xfrm>
            <a:off x="2743200" y="2649016"/>
            <a:ext cx="2057400" cy="550468"/>
          </a:xfrm>
          <a:prstGeom prst="rect">
            <a:avLst/>
          </a:prstGeom>
          <a:noFill/>
        </p:spPr>
        <p:txBody>
          <a:bodyPr wrap="square">
            <a:spAutoFit/>
          </a:bodyPr>
          <a:lstStyle/>
          <a:p>
            <a:pPr algn="ctr"/>
            <a:r>
              <a:rPr sz="1000" b="1" i="0">
                <a:solidFill>
                  <a:srgbClr val="1E0A14"/>
                </a:solidFill>
                <a:latin typeface="游ゴシック"/>
                <a:ea typeface="游ゴシック"/>
              </a:rPr>
              <a:t>G1前走1着の複勝率</a:t>
            </a:r>
          </a:p>
        </p:txBody>
      </p:sp>
      <p:sp>
        <p:nvSpPr>
          <p:cNvPr id="15" name="TextBox 14"/>
          <p:cNvSpPr txBox="1"/>
          <p:nvPr/>
        </p:nvSpPr>
        <p:spPr>
          <a:xfrm>
            <a:off x="2743200" y="3120847"/>
            <a:ext cx="2057400" cy="393192"/>
          </a:xfrm>
          <a:prstGeom prst="rect">
            <a:avLst/>
          </a:prstGeom>
          <a:noFill/>
        </p:spPr>
        <p:txBody>
          <a:bodyPr wrap="square">
            <a:spAutoFit/>
          </a:bodyPr>
          <a:lstStyle/>
          <a:p>
            <a:pPr algn="ctr"/>
            <a:r>
              <a:rPr sz="800" b="0" i="1">
                <a:solidFill>
                  <a:srgbClr val="785064"/>
                </a:solidFill>
                <a:latin typeface="游ゴシック"/>
                <a:ea typeface="游ゴシック"/>
              </a:rPr>
              <a:t>阪神JF直行ローテ 過去10年全複勝圏</a:t>
            </a:r>
          </a:p>
        </p:txBody>
      </p:sp>
      <p:sp>
        <p:nvSpPr>
          <p:cNvPr id="16" name="Rectangle 15"/>
          <p:cNvSpPr/>
          <p:nvPr/>
        </p:nvSpPr>
        <p:spPr>
          <a:xfrm>
            <a:off x="2697480" y="3419856"/>
            <a:ext cx="21488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10912" y="1508760"/>
            <a:ext cx="214884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10912" y="1508760"/>
            <a:ext cx="2148840" cy="3657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02352" y="1600200"/>
            <a:ext cx="1965960" cy="1081278"/>
          </a:xfrm>
          <a:prstGeom prst="rect">
            <a:avLst/>
          </a:prstGeom>
          <a:noFill/>
        </p:spPr>
        <p:txBody>
          <a:bodyPr wrap="square">
            <a:spAutoFit/>
          </a:bodyPr>
          <a:lstStyle/>
          <a:p>
            <a:pPr algn="ctr"/>
            <a:r>
              <a:rPr sz="2800" b="1" i="0">
                <a:solidFill>
                  <a:srgbClr val="B45309"/>
                </a:solidFill>
                <a:latin typeface="游明朝"/>
                <a:ea typeface="游明朝"/>
              </a:rPr>
              <a:t>80%</a:t>
            </a:r>
          </a:p>
        </p:txBody>
      </p:sp>
      <p:sp>
        <p:nvSpPr>
          <p:cNvPr id="20" name="TextBox 19"/>
          <p:cNvSpPr txBox="1"/>
          <p:nvPr/>
        </p:nvSpPr>
        <p:spPr>
          <a:xfrm>
            <a:off x="5056632" y="2649016"/>
            <a:ext cx="2057400" cy="550468"/>
          </a:xfrm>
          <a:prstGeom prst="rect">
            <a:avLst/>
          </a:prstGeom>
          <a:noFill/>
        </p:spPr>
        <p:txBody>
          <a:bodyPr wrap="square">
            <a:spAutoFit/>
          </a:bodyPr>
          <a:lstStyle/>
          <a:p>
            <a:pPr algn="ctr"/>
            <a:r>
              <a:rPr sz="1000" b="1" i="0">
                <a:solidFill>
                  <a:srgbClr val="1E0A14"/>
                </a:solidFill>
                <a:latin typeface="游ゴシック"/>
                <a:ea typeface="游ゴシック"/>
              </a:rPr>
              <a:t>上がり3F 1位の複勝率</a:t>
            </a:r>
          </a:p>
        </p:txBody>
      </p:sp>
      <p:sp>
        <p:nvSpPr>
          <p:cNvPr id="21" name="TextBox 20"/>
          <p:cNvSpPr txBox="1"/>
          <p:nvPr/>
        </p:nvSpPr>
        <p:spPr>
          <a:xfrm>
            <a:off x="5056632" y="3120847"/>
            <a:ext cx="2057400" cy="393192"/>
          </a:xfrm>
          <a:prstGeom prst="rect">
            <a:avLst/>
          </a:prstGeom>
          <a:noFill/>
        </p:spPr>
        <p:txBody>
          <a:bodyPr wrap="square">
            <a:spAutoFit/>
          </a:bodyPr>
          <a:lstStyle/>
          <a:p>
            <a:pPr algn="ctr"/>
            <a:r>
              <a:rPr sz="800" b="0" i="1">
                <a:solidFill>
                  <a:srgbClr val="785064"/>
                </a:solidFill>
                <a:latin typeface="游ゴシック"/>
                <a:ea typeface="游ゴシック"/>
              </a:rPr>
              <a:t>直線で切れる馬が主役のレース</a:t>
            </a:r>
          </a:p>
        </p:txBody>
      </p:sp>
      <p:sp>
        <p:nvSpPr>
          <p:cNvPr id="22" name="Rectangle 21"/>
          <p:cNvSpPr/>
          <p:nvPr/>
        </p:nvSpPr>
        <p:spPr>
          <a:xfrm>
            <a:off x="5010912" y="3419856"/>
            <a:ext cx="2148840" cy="54864"/>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24344" y="1508760"/>
            <a:ext cx="214884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4344" y="1508760"/>
            <a:ext cx="2148840" cy="36576"/>
          </a:xfrm>
          <a:prstGeom prst="rect">
            <a:avLst/>
          </a:prstGeom>
          <a:solidFill>
            <a:srgbClr val="78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15784" y="1600200"/>
            <a:ext cx="1965960" cy="1081278"/>
          </a:xfrm>
          <a:prstGeom prst="rect">
            <a:avLst/>
          </a:prstGeom>
          <a:noFill/>
        </p:spPr>
        <p:txBody>
          <a:bodyPr wrap="square">
            <a:spAutoFit/>
          </a:bodyPr>
          <a:lstStyle/>
          <a:p>
            <a:pPr algn="ctr"/>
            <a:r>
              <a:rPr sz="2800" b="1" i="0">
                <a:solidFill>
                  <a:srgbClr val="785064"/>
                </a:solidFill>
                <a:latin typeface="游明朝"/>
                <a:ea typeface="游明朝"/>
              </a:rPr>
              <a:t>0%</a:t>
            </a:r>
          </a:p>
        </p:txBody>
      </p:sp>
      <p:sp>
        <p:nvSpPr>
          <p:cNvPr id="26" name="TextBox 25"/>
          <p:cNvSpPr txBox="1"/>
          <p:nvPr/>
        </p:nvSpPr>
        <p:spPr>
          <a:xfrm>
            <a:off x="7370064" y="2649016"/>
            <a:ext cx="2057400" cy="550468"/>
          </a:xfrm>
          <a:prstGeom prst="rect">
            <a:avLst/>
          </a:prstGeom>
          <a:noFill/>
        </p:spPr>
        <p:txBody>
          <a:bodyPr wrap="square">
            <a:spAutoFit/>
          </a:bodyPr>
          <a:lstStyle/>
          <a:p>
            <a:pPr algn="ctr"/>
            <a:r>
              <a:rPr sz="1000" b="1" i="0">
                <a:solidFill>
                  <a:srgbClr val="1E0A14"/>
                </a:solidFill>
                <a:latin typeface="游ゴシック"/>
                <a:ea typeface="游ゴシック"/>
              </a:rPr>
              <a:t>10番人気以下の複勝率</a:t>
            </a:r>
          </a:p>
        </p:txBody>
      </p:sp>
      <p:sp>
        <p:nvSpPr>
          <p:cNvPr id="27" name="TextBox 26"/>
          <p:cNvSpPr txBox="1"/>
          <p:nvPr/>
        </p:nvSpPr>
        <p:spPr>
          <a:xfrm>
            <a:off x="7370064" y="3120847"/>
            <a:ext cx="2057400" cy="393192"/>
          </a:xfrm>
          <a:prstGeom prst="rect">
            <a:avLst/>
          </a:prstGeom>
          <a:noFill/>
        </p:spPr>
        <p:txBody>
          <a:bodyPr wrap="square">
            <a:spAutoFit/>
          </a:bodyPr>
          <a:lstStyle/>
          <a:p>
            <a:pPr algn="ctr"/>
            <a:r>
              <a:rPr sz="800" b="0" i="1">
                <a:solidFill>
                  <a:srgbClr val="785064"/>
                </a:solidFill>
                <a:latin typeface="游ゴシック"/>
                <a:ea typeface="游ゴシック"/>
              </a:rPr>
              <a:t>人気薄は完全消し。上位人気に集中</a:t>
            </a:r>
          </a:p>
        </p:txBody>
      </p:sp>
      <p:sp>
        <p:nvSpPr>
          <p:cNvPr id="28" name="Rectangle 27"/>
          <p:cNvSpPr/>
          <p:nvPr/>
        </p:nvSpPr>
        <p:spPr>
          <a:xfrm>
            <a:off x="7324344" y="3419856"/>
            <a:ext cx="2148840" cy="54864"/>
          </a:xfrm>
          <a:prstGeom prst="rect">
            <a:avLst/>
          </a:prstGeom>
          <a:solidFill>
            <a:srgbClr val="78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37776" y="1508760"/>
            <a:ext cx="214884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637776" y="1508760"/>
            <a:ext cx="2148840" cy="36576"/>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29216" y="1600200"/>
            <a:ext cx="1965960" cy="1081278"/>
          </a:xfrm>
          <a:prstGeom prst="rect">
            <a:avLst/>
          </a:prstGeom>
          <a:noFill/>
        </p:spPr>
        <p:txBody>
          <a:bodyPr wrap="square">
            <a:spAutoFit/>
          </a:bodyPr>
          <a:lstStyle/>
          <a:p>
            <a:pPr algn="ctr"/>
            <a:r>
              <a:rPr sz="2800" b="1" i="0">
                <a:solidFill>
                  <a:srgbClr val="DC2626"/>
                </a:solidFill>
                <a:latin typeface="游明朝"/>
                <a:ea typeface="游明朝"/>
              </a:rPr>
              <a:t>5%</a:t>
            </a:r>
          </a:p>
        </p:txBody>
      </p:sp>
      <p:sp>
        <p:nvSpPr>
          <p:cNvPr id="32" name="TextBox 31"/>
          <p:cNvSpPr txBox="1"/>
          <p:nvPr/>
        </p:nvSpPr>
        <p:spPr>
          <a:xfrm>
            <a:off x="9683496" y="2649016"/>
            <a:ext cx="2057400" cy="550468"/>
          </a:xfrm>
          <a:prstGeom prst="rect">
            <a:avLst/>
          </a:prstGeom>
          <a:noFill/>
        </p:spPr>
        <p:txBody>
          <a:bodyPr wrap="square">
            <a:spAutoFit/>
          </a:bodyPr>
          <a:lstStyle/>
          <a:p>
            <a:pPr algn="ctr"/>
            <a:r>
              <a:rPr sz="1000" b="1" i="0">
                <a:solidFill>
                  <a:srgbClr val="1E0A14"/>
                </a:solidFill>
                <a:latin typeface="游ゴシック"/>
                <a:ea typeface="游ゴシック"/>
              </a:rPr>
              <a:t>G2前走1着の複勝率</a:t>
            </a:r>
          </a:p>
        </p:txBody>
      </p:sp>
      <p:sp>
        <p:nvSpPr>
          <p:cNvPr id="33" name="TextBox 32"/>
          <p:cNvSpPr txBox="1"/>
          <p:nvPr/>
        </p:nvSpPr>
        <p:spPr>
          <a:xfrm>
            <a:off x="9683496" y="3120847"/>
            <a:ext cx="2057400" cy="393192"/>
          </a:xfrm>
          <a:prstGeom prst="rect">
            <a:avLst/>
          </a:prstGeom>
          <a:noFill/>
        </p:spPr>
        <p:txBody>
          <a:bodyPr wrap="square">
            <a:spAutoFit/>
          </a:bodyPr>
          <a:lstStyle/>
          <a:p>
            <a:pPr algn="ctr"/>
            <a:r>
              <a:rPr sz="800" b="0" i="1">
                <a:solidFill>
                  <a:srgbClr val="785064"/>
                </a:solidFill>
                <a:latin typeface="游ゴシック"/>
                <a:ea typeface="游ゴシック"/>
              </a:rPr>
              <a:t>チューリップ賞前走は危険ゾーン</a:t>
            </a:r>
          </a:p>
        </p:txBody>
      </p:sp>
      <p:sp>
        <p:nvSpPr>
          <p:cNvPr id="34" name="Rectangle 33"/>
          <p:cNvSpPr/>
          <p:nvPr/>
        </p:nvSpPr>
        <p:spPr>
          <a:xfrm>
            <a:off x="9637776" y="3419856"/>
            <a:ext cx="214884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4048" y="3639312"/>
            <a:ext cx="11430000" cy="45720"/>
          </a:xfrm>
          <a:prstGeom prst="rect">
            <a:avLst/>
          </a:prstGeom>
          <a:solidFill>
            <a:srgbClr val="F0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 y="3749039"/>
            <a:ext cx="36576" cy="402336"/>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0352" y="3767328"/>
            <a:ext cx="11155680" cy="420624"/>
          </a:xfrm>
          <a:prstGeom prst="rect">
            <a:avLst/>
          </a:prstGeom>
          <a:noFill/>
        </p:spPr>
        <p:txBody>
          <a:bodyPr wrap="square">
            <a:spAutoFit/>
          </a:bodyPr>
          <a:lstStyle/>
          <a:p>
            <a:pPr algn="l"/>
            <a:r>
              <a:rPr sz="1200" b="1" i="0">
                <a:solidFill>
                  <a:srgbClr val="1E0A14"/>
                </a:solidFill>
                <a:latin typeface="游ゴシック"/>
                <a:ea typeface="游ゴシック"/>
              </a:rPr>
              <a:t>✅ 中9週以上が複勝率34.3%と優位　— 阪神JF直行は最高条件</a:t>
            </a:r>
          </a:p>
        </p:txBody>
      </p:sp>
      <p:sp>
        <p:nvSpPr>
          <p:cNvPr id="38" name="Rectangle 37"/>
          <p:cNvSpPr/>
          <p:nvPr/>
        </p:nvSpPr>
        <p:spPr>
          <a:xfrm>
            <a:off x="384048" y="4370831"/>
            <a:ext cx="36576" cy="402336"/>
          </a:xfrm>
          <a:prstGeom prst="rect">
            <a:avLst/>
          </a:prstGeom>
          <a:solidFill>
            <a:srgbClr val="C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 y="4389120"/>
            <a:ext cx="11155680" cy="420624"/>
          </a:xfrm>
          <a:prstGeom prst="rect">
            <a:avLst/>
          </a:prstGeom>
          <a:noFill/>
        </p:spPr>
        <p:txBody>
          <a:bodyPr wrap="square">
            <a:spAutoFit/>
          </a:bodyPr>
          <a:lstStyle/>
          <a:p>
            <a:pPr algn="l"/>
            <a:r>
              <a:rPr sz="1200" b="0" i="0">
                <a:solidFill>
                  <a:srgbClr val="1E0A14"/>
                </a:solidFill>
                <a:latin typeface="游ゴシック"/>
                <a:ea typeface="游ゴシック"/>
              </a:rPr>
              <a:t>⚠️ アネモネS/フラワーS/紅梅S前走は複勝率0%の完全消し</a:t>
            </a:r>
          </a:p>
        </p:txBody>
      </p:sp>
      <p:sp>
        <p:nvSpPr>
          <p:cNvPr id="40" name="Rectangle 39"/>
          <p:cNvSpPr/>
          <p:nvPr/>
        </p:nvSpPr>
        <p:spPr>
          <a:xfrm>
            <a:off x="384048" y="4992624"/>
            <a:ext cx="36576" cy="402336"/>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0352" y="5010912"/>
            <a:ext cx="11155680" cy="420624"/>
          </a:xfrm>
          <a:prstGeom prst="rect">
            <a:avLst/>
          </a:prstGeom>
          <a:noFill/>
        </p:spPr>
        <p:txBody>
          <a:bodyPr wrap="square">
            <a:spAutoFit/>
          </a:bodyPr>
          <a:lstStyle/>
          <a:p>
            <a:pPr algn="l"/>
            <a:r>
              <a:rPr sz="1200" b="0" i="0">
                <a:solidFill>
                  <a:srgbClr val="1E0A14"/>
                </a:solidFill>
                <a:latin typeface="游ゴシック"/>
                <a:ea typeface="游ゴシック"/>
              </a:rPr>
              <a:t>✅ エルフィンS前走は複勝率40%　— フィリーズレビューは6.8%</a:t>
            </a:r>
          </a:p>
        </p:txBody>
      </p:sp>
      <p:sp>
        <p:nvSpPr>
          <p:cNvPr id="42" name="Rectangle 41"/>
          <p:cNvSpPr/>
          <p:nvPr/>
        </p:nvSpPr>
        <p:spPr>
          <a:xfrm>
            <a:off x="384048" y="5614416"/>
            <a:ext cx="36576" cy="402336"/>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0352" y="5632704"/>
            <a:ext cx="11155680" cy="420624"/>
          </a:xfrm>
          <a:prstGeom prst="rect">
            <a:avLst/>
          </a:prstGeom>
          <a:noFill/>
        </p:spPr>
        <p:txBody>
          <a:bodyPr wrap="square">
            <a:spAutoFit/>
          </a:bodyPr>
          <a:lstStyle/>
          <a:p>
            <a:pPr algn="l"/>
            <a:r>
              <a:rPr sz="1200" b="0" i="0">
                <a:solidFill>
                  <a:srgbClr val="1E0A14"/>
                </a:solidFill>
                <a:latin typeface="游ゴシック"/>
                <a:ea typeface="游ゴシック"/>
              </a:rPr>
              <a:t>✅ 馬体重460〜479kgがベストゾーン（複勝29.4%）</a:t>
            </a:r>
          </a:p>
        </p:txBody>
      </p:sp>
      <p:sp>
        <p:nvSpPr>
          <p:cNvPr id="44" name="Rectangle 43"/>
          <p:cNvSpPr/>
          <p:nvPr/>
        </p:nvSpPr>
        <p:spPr>
          <a:xfrm>
            <a:off x="0" y="6492240"/>
            <a:ext cx="12188952" cy="365760"/>
          </a:xfrm>
          <a:prstGeom prst="rect">
            <a:avLst/>
          </a:prstGeom>
          <a:solidFill>
            <a:srgbClr val="B40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760" y="6519672"/>
            <a:ext cx="91440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46" name="TextBox 45"/>
          <p:cNvSpPr txBox="1"/>
          <p:nvPr/>
        </p:nvSpPr>
        <p:spPr>
          <a:xfrm>
            <a:off x="8686800" y="6519672"/>
            <a:ext cx="3200400" cy="274320"/>
          </a:xfrm>
          <a:prstGeom prst="rect">
            <a:avLst/>
          </a:prstGeom>
          <a:noFill/>
        </p:spPr>
        <p:txBody>
          <a:bodyPr wrap="square">
            <a:spAutoFit/>
          </a:bodyPr>
          <a:lstStyle/>
          <a:p>
            <a:pPr algn="r"/>
            <a:r>
              <a:rPr sz="1000" b="1" i="0">
                <a:solidFill>
                  <a:srgbClr val="F5B731"/>
                </a:solidFill>
                <a:latin typeface="游ゴシック"/>
                <a:ea typeface="游ゴシック"/>
              </a:rPr>
              <a:t>🆓 無料公開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BF5"/>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841248"/>
          </a:xfrm>
          <a:prstGeom prst="rect">
            <a:avLst/>
          </a:prstGeom>
          <a:noFill/>
        </p:spPr>
        <p:txBody>
          <a:bodyPr wrap="square">
            <a:spAutoFit/>
          </a:bodyPr>
          <a:lstStyle/>
          <a:p>
            <a:pPr algn="l"/>
            <a:r>
              <a:rPr sz="3400" b="1" i="0">
                <a:solidFill>
                  <a:srgbClr val="FFFFFF"/>
                </a:solidFill>
                <a:latin typeface="游明朝"/>
                <a:ea typeface="游明朝"/>
              </a:rPr>
              <a:t>血　統</a:t>
            </a:r>
          </a:p>
        </p:txBody>
      </p:sp>
      <p:sp>
        <p:nvSpPr>
          <p:cNvPr id="4" name="TextBox 3"/>
          <p:cNvSpPr txBox="1"/>
          <p:nvPr/>
        </p:nvSpPr>
        <p:spPr>
          <a:xfrm>
            <a:off x="457200" y="896112"/>
            <a:ext cx="10972800" cy="402336"/>
          </a:xfrm>
          <a:prstGeom prst="rect">
            <a:avLst/>
          </a:prstGeom>
          <a:noFill/>
        </p:spPr>
        <p:txBody>
          <a:bodyPr wrap="square">
            <a:spAutoFit/>
          </a:bodyPr>
          <a:lstStyle/>
          <a:p>
            <a:pPr algn="l"/>
            <a:r>
              <a:rPr sz="1200" b="0" i="1">
                <a:solidFill>
                  <a:srgbClr val="FFD2E6"/>
                </a:solidFill>
                <a:latin typeface="游ゴシック"/>
                <a:ea typeface="游ゴシック"/>
              </a:rPr>
              <a:t>ギーニョ 血統データ解析　父系・母父系 複勝率ランキング</a:t>
            </a:r>
          </a:p>
        </p:txBody>
      </p:sp>
      <p:sp>
        <p:nvSpPr>
          <p:cNvPr id="5" name="Rectangle 4"/>
          <p:cNvSpPr/>
          <p:nvPr/>
        </p:nvSpPr>
        <p:spPr>
          <a:xfrm>
            <a:off x="365760" y="1463040"/>
            <a:ext cx="5394960" cy="45720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0"/>
            <a:ext cx="5394960" cy="457200"/>
          </a:xfrm>
          <a:prstGeom prst="rect">
            <a:avLst/>
          </a:prstGeom>
          <a:noFill/>
        </p:spPr>
        <p:txBody>
          <a:bodyPr wrap="square">
            <a:spAutoFit/>
          </a:bodyPr>
          <a:lstStyle/>
          <a:p>
            <a:pPr algn="ctr"/>
            <a:r>
              <a:rPr sz="1600" b="1" i="0">
                <a:solidFill>
                  <a:srgbClr val="FFFFFF"/>
                </a:solidFill>
                <a:latin typeface="游明朝"/>
                <a:ea typeface="游明朝"/>
              </a:rPr>
              <a:t>父　系　ランキング</a:t>
            </a:r>
          </a:p>
        </p:txBody>
      </p:sp>
      <p:sp>
        <p:nvSpPr>
          <p:cNvPr id="7" name="Rounded Rectangle 6"/>
          <p:cNvSpPr/>
          <p:nvPr/>
        </p:nvSpPr>
        <p:spPr>
          <a:xfrm>
            <a:off x="365760" y="2011680"/>
            <a:ext cx="5394960" cy="9875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011680"/>
            <a:ext cx="64008" cy="987552"/>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084832"/>
            <a:ext cx="457200" cy="457200"/>
          </a:xfrm>
          <a:prstGeom prst="rect">
            <a:avLst/>
          </a:prstGeom>
          <a:noFill/>
        </p:spPr>
        <p:txBody>
          <a:bodyPr wrap="square">
            <a:spAutoFit/>
          </a:bodyPr>
          <a:lstStyle/>
          <a:p>
            <a:pPr algn="ctr"/>
            <a:r>
              <a:rPr sz="1600" b="1" i="0">
                <a:solidFill>
                  <a:srgbClr val="F5B731"/>
                </a:solidFill>
                <a:latin typeface="游ゴシック"/>
                <a:ea typeface="游ゴシック"/>
              </a:rPr>
              <a:t>#1</a:t>
            </a:r>
          </a:p>
        </p:txBody>
      </p:sp>
      <p:sp>
        <p:nvSpPr>
          <p:cNvPr id="10" name="TextBox 9"/>
          <p:cNvSpPr txBox="1"/>
          <p:nvPr/>
        </p:nvSpPr>
        <p:spPr>
          <a:xfrm>
            <a:off x="1024128" y="2103120"/>
            <a:ext cx="2651760" cy="384048"/>
          </a:xfrm>
          <a:prstGeom prst="rect">
            <a:avLst/>
          </a:prstGeom>
          <a:noFill/>
        </p:spPr>
        <p:txBody>
          <a:bodyPr wrap="square">
            <a:spAutoFit/>
          </a:bodyPr>
          <a:lstStyle/>
          <a:p>
            <a:pPr algn="l"/>
            <a:r>
              <a:rPr sz="1400" b="1" i="0">
                <a:solidFill>
                  <a:srgbClr val="1E0A14"/>
                </a:solidFill>
                <a:latin typeface="游明朝"/>
                <a:ea typeface="游明朝"/>
              </a:rPr>
              <a:t>キタサンブラック</a:t>
            </a:r>
          </a:p>
        </p:txBody>
      </p:sp>
      <p:sp>
        <p:nvSpPr>
          <p:cNvPr id="11" name="TextBox 10"/>
          <p:cNvSpPr txBox="1"/>
          <p:nvPr/>
        </p:nvSpPr>
        <p:spPr>
          <a:xfrm>
            <a:off x="1024128" y="2514600"/>
            <a:ext cx="2926080" cy="274320"/>
          </a:xfrm>
          <a:prstGeom prst="rect">
            <a:avLst/>
          </a:prstGeom>
          <a:noFill/>
        </p:spPr>
        <p:txBody>
          <a:bodyPr wrap="square">
            <a:spAutoFit/>
          </a:bodyPr>
          <a:lstStyle/>
          <a:p>
            <a:pPr algn="l"/>
            <a:r>
              <a:rPr sz="1000" b="0" i="0">
                <a:solidFill>
                  <a:srgbClr val="785064"/>
                </a:solidFill>
                <a:latin typeface="游ゴシック"/>
                <a:ea typeface="游ゴシック"/>
              </a:rPr>
              <a:t>複勝率 66.7%  (3頭)</a:t>
            </a:r>
          </a:p>
        </p:txBody>
      </p:sp>
      <p:sp>
        <p:nvSpPr>
          <p:cNvPr id="12" name="Rectangle 11"/>
          <p:cNvSpPr/>
          <p:nvPr/>
        </p:nvSpPr>
        <p:spPr>
          <a:xfrm>
            <a:off x="4023360" y="2240280"/>
            <a:ext cx="1508760" cy="182880"/>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23360" y="2240280"/>
            <a:ext cx="1006342" cy="182880"/>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2743200"/>
            <a:ext cx="4297680" cy="201168"/>
          </a:xfrm>
          <a:prstGeom prst="rect">
            <a:avLst/>
          </a:prstGeom>
          <a:noFill/>
        </p:spPr>
        <p:txBody>
          <a:bodyPr wrap="square">
            <a:spAutoFit/>
          </a:bodyPr>
          <a:lstStyle/>
          <a:p>
            <a:pPr algn="l"/>
            <a:r>
              <a:rPr sz="800" b="0" i="1">
                <a:solidFill>
                  <a:srgbClr val="E8136E"/>
                </a:solidFill>
                <a:latin typeface="游ゴシック"/>
                <a:ea typeface="游ゴシック"/>
              </a:rPr>
              <a:t>ブラックチャリス該当</a:t>
            </a:r>
          </a:p>
        </p:txBody>
      </p:sp>
      <p:sp>
        <p:nvSpPr>
          <p:cNvPr id="15" name="Rounded Rectangle 14"/>
          <p:cNvSpPr/>
          <p:nvPr/>
        </p:nvSpPr>
        <p:spPr>
          <a:xfrm>
            <a:off x="365760" y="3127248"/>
            <a:ext cx="5394960" cy="9875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127248"/>
            <a:ext cx="64008" cy="987552"/>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200400"/>
            <a:ext cx="457200" cy="457200"/>
          </a:xfrm>
          <a:prstGeom prst="rect">
            <a:avLst/>
          </a:prstGeom>
          <a:noFill/>
        </p:spPr>
        <p:txBody>
          <a:bodyPr wrap="square">
            <a:spAutoFit/>
          </a:bodyPr>
          <a:lstStyle/>
          <a:p>
            <a:pPr algn="ctr"/>
            <a:r>
              <a:rPr sz="1600" b="1" i="0">
                <a:solidFill>
                  <a:srgbClr val="E8136E"/>
                </a:solidFill>
                <a:latin typeface="游ゴシック"/>
                <a:ea typeface="游ゴシック"/>
              </a:rPr>
              <a:t>#2</a:t>
            </a:r>
          </a:p>
        </p:txBody>
      </p:sp>
      <p:sp>
        <p:nvSpPr>
          <p:cNvPr id="18" name="TextBox 17"/>
          <p:cNvSpPr txBox="1"/>
          <p:nvPr/>
        </p:nvSpPr>
        <p:spPr>
          <a:xfrm>
            <a:off x="1024128" y="3218688"/>
            <a:ext cx="2651760" cy="384048"/>
          </a:xfrm>
          <a:prstGeom prst="rect">
            <a:avLst/>
          </a:prstGeom>
          <a:noFill/>
        </p:spPr>
        <p:txBody>
          <a:bodyPr wrap="square">
            <a:spAutoFit/>
          </a:bodyPr>
          <a:lstStyle/>
          <a:p>
            <a:pPr algn="l"/>
            <a:r>
              <a:rPr sz="1400" b="0" i="0">
                <a:solidFill>
                  <a:srgbClr val="1E0A14"/>
                </a:solidFill>
                <a:latin typeface="游明朝"/>
                <a:ea typeface="游明朝"/>
              </a:rPr>
              <a:t>エピファネイア</a:t>
            </a:r>
          </a:p>
        </p:txBody>
      </p:sp>
      <p:sp>
        <p:nvSpPr>
          <p:cNvPr id="19" name="TextBox 18"/>
          <p:cNvSpPr txBox="1"/>
          <p:nvPr/>
        </p:nvSpPr>
        <p:spPr>
          <a:xfrm>
            <a:off x="1024128" y="3630168"/>
            <a:ext cx="2926080" cy="274320"/>
          </a:xfrm>
          <a:prstGeom prst="rect">
            <a:avLst/>
          </a:prstGeom>
          <a:noFill/>
        </p:spPr>
        <p:txBody>
          <a:bodyPr wrap="square">
            <a:spAutoFit/>
          </a:bodyPr>
          <a:lstStyle/>
          <a:p>
            <a:pPr algn="l"/>
            <a:r>
              <a:rPr sz="1000" b="0" i="0">
                <a:solidFill>
                  <a:srgbClr val="785064"/>
                </a:solidFill>
                <a:latin typeface="游ゴシック"/>
                <a:ea typeface="游ゴシック"/>
              </a:rPr>
              <a:t>複勝率 28.6%  (7頭)</a:t>
            </a:r>
          </a:p>
        </p:txBody>
      </p:sp>
      <p:sp>
        <p:nvSpPr>
          <p:cNvPr id="20" name="Rectangle 19"/>
          <p:cNvSpPr/>
          <p:nvPr/>
        </p:nvSpPr>
        <p:spPr>
          <a:xfrm>
            <a:off x="4023360" y="3355848"/>
            <a:ext cx="1508760" cy="182880"/>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023360" y="3355848"/>
            <a:ext cx="431505" cy="18288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858768"/>
            <a:ext cx="4297680" cy="201168"/>
          </a:xfrm>
          <a:prstGeom prst="rect">
            <a:avLst/>
          </a:prstGeom>
          <a:noFill/>
        </p:spPr>
        <p:txBody>
          <a:bodyPr wrap="square">
            <a:spAutoFit/>
          </a:bodyPr>
          <a:lstStyle/>
          <a:p>
            <a:pPr algn="l"/>
            <a:r>
              <a:rPr sz="800" b="0" i="1">
                <a:solidFill>
                  <a:srgbClr val="E8136E"/>
                </a:solidFill>
                <a:latin typeface="游ゴシック"/>
                <a:ea typeface="游ゴシック"/>
              </a:rPr>
              <a:t>アランカール該当</a:t>
            </a:r>
          </a:p>
        </p:txBody>
      </p:sp>
      <p:sp>
        <p:nvSpPr>
          <p:cNvPr id="23" name="Rounded Rectangle 22"/>
          <p:cNvSpPr/>
          <p:nvPr/>
        </p:nvSpPr>
        <p:spPr>
          <a:xfrm>
            <a:off x="365760" y="4242816"/>
            <a:ext cx="5394960" cy="9875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4242816"/>
            <a:ext cx="64008" cy="987552"/>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315968"/>
            <a:ext cx="457200" cy="457200"/>
          </a:xfrm>
          <a:prstGeom prst="rect">
            <a:avLst/>
          </a:prstGeom>
          <a:noFill/>
        </p:spPr>
        <p:txBody>
          <a:bodyPr wrap="square">
            <a:spAutoFit/>
          </a:bodyPr>
          <a:lstStyle/>
          <a:p>
            <a:pPr algn="ctr"/>
            <a:r>
              <a:rPr sz="1600" b="1" i="0">
                <a:solidFill>
                  <a:srgbClr val="785064"/>
                </a:solidFill>
                <a:latin typeface="游ゴシック"/>
                <a:ea typeface="游ゴシック"/>
              </a:rPr>
              <a:t>#3</a:t>
            </a:r>
          </a:p>
        </p:txBody>
      </p:sp>
      <p:sp>
        <p:nvSpPr>
          <p:cNvPr id="26" name="TextBox 25"/>
          <p:cNvSpPr txBox="1"/>
          <p:nvPr/>
        </p:nvSpPr>
        <p:spPr>
          <a:xfrm>
            <a:off x="1024128" y="4334256"/>
            <a:ext cx="2651760" cy="384048"/>
          </a:xfrm>
          <a:prstGeom prst="rect">
            <a:avLst/>
          </a:prstGeom>
          <a:noFill/>
        </p:spPr>
        <p:txBody>
          <a:bodyPr wrap="square">
            <a:spAutoFit/>
          </a:bodyPr>
          <a:lstStyle/>
          <a:p>
            <a:pPr algn="l"/>
            <a:r>
              <a:rPr sz="1400" b="0" i="0">
                <a:solidFill>
                  <a:srgbClr val="1E0A14"/>
                </a:solidFill>
                <a:latin typeface="游明朝"/>
                <a:ea typeface="游明朝"/>
              </a:rPr>
              <a:t>ロードカナロア</a:t>
            </a:r>
          </a:p>
        </p:txBody>
      </p:sp>
      <p:sp>
        <p:nvSpPr>
          <p:cNvPr id="27" name="TextBox 26"/>
          <p:cNvSpPr txBox="1"/>
          <p:nvPr/>
        </p:nvSpPr>
        <p:spPr>
          <a:xfrm>
            <a:off x="1024128" y="4745736"/>
            <a:ext cx="2926080" cy="274320"/>
          </a:xfrm>
          <a:prstGeom prst="rect">
            <a:avLst/>
          </a:prstGeom>
          <a:noFill/>
        </p:spPr>
        <p:txBody>
          <a:bodyPr wrap="square">
            <a:spAutoFit/>
          </a:bodyPr>
          <a:lstStyle/>
          <a:p>
            <a:pPr algn="l"/>
            <a:r>
              <a:rPr sz="1000" b="0" i="0">
                <a:solidFill>
                  <a:srgbClr val="785064"/>
                </a:solidFill>
                <a:latin typeface="游ゴシック"/>
                <a:ea typeface="游ゴシック"/>
              </a:rPr>
              <a:t>複勝率 22.2%  (勝率0%)</a:t>
            </a:r>
          </a:p>
        </p:txBody>
      </p:sp>
      <p:sp>
        <p:nvSpPr>
          <p:cNvPr id="28" name="Rectangle 27"/>
          <p:cNvSpPr/>
          <p:nvPr/>
        </p:nvSpPr>
        <p:spPr>
          <a:xfrm>
            <a:off x="4023360" y="4471416"/>
            <a:ext cx="1508760" cy="182880"/>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23360" y="4471416"/>
            <a:ext cx="334944" cy="18288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 y="4974336"/>
            <a:ext cx="4297680" cy="201168"/>
          </a:xfrm>
          <a:prstGeom prst="rect">
            <a:avLst/>
          </a:prstGeom>
          <a:noFill/>
        </p:spPr>
        <p:txBody>
          <a:bodyPr wrap="square">
            <a:spAutoFit/>
          </a:bodyPr>
          <a:lstStyle/>
          <a:p>
            <a:pPr algn="l"/>
            <a:r>
              <a:rPr sz="800" b="0" i="1">
                <a:solidFill>
                  <a:srgbClr val="E8136E"/>
                </a:solidFill>
                <a:latin typeface="游ゴシック"/>
                <a:ea typeface="游ゴシック"/>
              </a:rPr>
              <a:t>複は取れるが勝てない血統</a:t>
            </a:r>
          </a:p>
        </p:txBody>
      </p:sp>
      <p:sp>
        <p:nvSpPr>
          <p:cNvPr id="31" name="Rectangle 30"/>
          <p:cNvSpPr/>
          <p:nvPr/>
        </p:nvSpPr>
        <p:spPr>
          <a:xfrm>
            <a:off x="6217920" y="1463040"/>
            <a:ext cx="5486400" cy="457200"/>
          </a:xfrm>
          <a:prstGeom prst="rect">
            <a:avLst/>
          </a:prstGeom>
          <a:solidFill>
            <a:srgbClr val="B40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1463040"/>
            <a:ext cx="5486400" cy="457200"/>
          </a:xfrm>
          <a:prstGeom prst="rect">
            <a:avLst/>
          </a:prstGeom>
          <a:noFill/>
        </p:spPr>
        <p:txBody>
          <a:bodyPr wrap="square">
            <a:spAutoFit/>
          </a:bodyPr>
          <a:lstStyle/>
          <a:p>
            <a:pPr algn="ctr"/>
            <a:r>
              <a:rPr sz="1600" b="1" i="0">
                <a:solidFill>
                  <a:srgbClr val="FFFFFF"/>
                </a:solidFill>
                <a:latin typeface="游明朝"/>
                <a:ea typeface="游明朝"/>
              </a:rPr>
              <a:t>母父系　ランキング</a:t>
            </a:r>
          </a:p>
        </p:txBody>
      </p:sp>
      <p:sp>
        <p:nvSpPr>
          <p:cNvPr id="33" name="Rounded Rectangle 32"/>
          <p:cNvSpPr/>
          <p:nvPr/>
        </p:nvSpPr>
        <p:spPr>
          <a:xfrm>
            <a:off x="6217920" y="2011680"/>
            <a:ext cx="5486400" cy="9875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0" y="2011680"/>
            <a:ext cx="64008" cy="987552"/>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5080" y="2084832"/>
            <a:ext cx="457200" cy="457200"/>
          </a:xfrm>
          <a:prstGeom prst="rect">
            <a:avLst/>
          </a:prstGeom>
          <a:noFill/>
        </p:spPr>
        <p:txBody>
          <a:bodyPr wrap="square">
            <a:spAutoFit/>
          </a:bodyPr>
          <a:lstStyle/>
          <a:p>
            <a:pPr algn="ctr"/>
            <a:r>
              <a:rPr sz="1600" b="1" i="0">
                <a:solidFill>
                  <a:srgbClr val="F5B731"/>
                </a:solidFill>
                <a:latin typeface="游ゴシック"/>
                <a:ea typeface="游ゴシック"/>
              </a:rPr>
              <a:t>#1</a:t>
            </a:r>
          </a:p>
        </p:txBody>
      </p:sp>
      <p:sp>
        <p:nvSpPr>
          <p:cNvPr id="36" name="TextBox 35"/>
          <p:cNvSpPr txBox="1"/>
          <p:nvPr/>
        </p:nvSpPr>
        <p:spPr>
          <a:xfrm>
            <a:off x="6876288" y="2103120"/>
            <a:ext cx="2926080" cy="384048"/>
          </a:xfrm>
          <a:prstGeom prst="rect">
            <a:avLst/>
          </a:prstGeom>
          <a:noFill/>
        </p:spPr>
        <p:txBody>
          <a:bodyPr wrap="square">
            <a:spAutoFit/>
          </a:bodyPr>
          <a:lstStyle/>
          <a:p>
            <a:pPr algn="l"/>
            <a:r>
              <a:rPr sz="1400" b="1" i="0">
                <a:solidFill>
                  <a:srgbClr val="1E0A14"/>
                </a:solidFill>
                <a:latin typeface="游明朝"/>
                <a:ea typeface="游明朝"/>
              </a:rPr>
              <a:t>ハーツクライ</a:t>
            </a:r>
          </a:p>
        </p:txBody>
      </p:sp>
      <p:sp>
        <p:nvSpPr>
          <p:cNvPr id="37" name="TextBox 36"/>
          <p:cNvSpPr txBox="1"/>
          <p:nvPr/>
        </p:nvSpPr>
        <p:spPr>
          <a:xfrm>
            <a:off x="6876288" y="2514600"/>
            <a:ext cx="3108960" cy="274320"/>
          </a:xfrm>
          <a:prstGeom prst="rect">
            <a:avLst/>
          </a:prstGeom>
          <a:noFill/>
        </p:spPr>
        <p:txBody>
          <a:bodyPr wrap="square">
            <a:spAutoFit/>
          </a:bodyPr>
          <a:lstStyle/>
          <a:p>
            <a:pPr algn="l"/>
            <a:r>
              <a:rPr sz="1000" b="0" i="0">
                <a:solidFill>
                  <a:srgbClr val="785064"/>
                </a:solidFill>
                <a:latin typeface="游ゴシック"/>
                <a:ea typeface="游ゴシック"/>
              </a:rPr>
              <a:t>複勝率 50.0%  (2頭)</a:t>
            </a:r>
          </a:p>
        </p:txBody>
      </p:sp>
      <p:sp>
        <p:nvSpPr>
          <p:cNvPr id="38" name="Rectangle 37"/>
          <p:cNvSpPr/>
          <p:nvPr/>
        </p:nvSpPr>
        <p:spPr>
          <a:xfrm>
            <a:off x="9966960" y="2240280"/>
            <a:ext cx="1481328" cy="182880"/>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966960" y="2240280"/>
            <a:ext cx="740664" cy="182880"/>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76288" y="2743200"/>
            <a:ext cx="4663440" cy="201168"/>
          </a:xfrm>
          <a:prstGeom prst="rect">
            <a:avLst/>
          </a:prstGeom>
          <a:noFill/>
        </p:spPr>
        <p:txBody>
          <a:bodyPr wrap="square">
            <a:spAutoFit/>
          </a:bodyPr>
          <a:lstStyle/>
          <a:p>
            <a:pPr algn="l"/>
            <a:r>
              <a:rPr sz="800" b="0" i="1">
                <a:solidFill>
                  <a:srgbClr val="E8136E"/>
                </a:solidFill>
                <a:latin typeface="游ゴシック"/>
                <a:ea typeface="游ゴシック"/>
              </a:rPr>
              <a:t>フェスティバルヒル該当</a:t>
            </a:r>
          </a:p>
        </p:txBody>
      </p:sp>
      <p:sp>
        <p:nvSpPr>
          <p:cNvPr id="41" name="Rounded Rectangle 40"/>
          <p:cNvSpPr/>
          <p:nvPr/>
        </p:nvSpPr>
        <p:spPr>
          <a:xfrm>
            <a:off x="6217920" y="3127248"/>
            <a:ext cx="5486400" cy="9875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7920" y="3127248"/>
            <a:ext cx="64008" cy="987552"/>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80" y="3200400"/>
            <a:ext cx="457200" cy="457200"/>
          </a:xfrm>
          <a:prstGeom prst="rect">
            <a:avLst/>
          </a:prstGeom>
          <a:noFill/>
        </p:spPr>
        <p:txBody>
          <a:bodyPr wrap="square">
            <a:spAutoFit/>
          </a:bodyPr>
          <a:lstStyle/>
          <a:p>
            <a:pPr algn="ctr"/>
            <a:r>
              <a:rPr sz="1600" b="1" i="0">
                <a:solidFill>
                  <a:srgbClr val="E8136E"/>
                </a:solidFill>
                <a:latin typeface="游ゴシック"/>
                <a:ea typeface="游ゴシック"/>
              </a:rPr>
              <a:t>#2</a:t>
            </a:r>
          </a:p>
        </p:txBody>
      </p:sp>
      <p:sp>
        <p:nvSpPr>
          <p:cNvPr id="44" name="TextBox 43"/>
          <p:cNvSpPr txBox="1"/>
          <p:nvPr/>
        </p:nvSpPr>
        <p:spPr>
          <a:xfrm>
            <a:off x="6876288" y="3218688"/>
            <a:ext cx="2926080" cy="384048"/>
          </a:xfrm>
          <a:prstGeom prst="rect">
            <a:avLst/>
          </a:prstGeom>
          <a:noFill/>
        </p:spPr>
        <p:txBody>
          <a:bodyPr wrap="square">
            <a:spAutoFit/>
          </a:bodyPr>
          <a:lstStyle/>
          <a:p>
            <a:pPr algn="l"/>
            <a:r>
              <a:rPr sz="1400" b="0" i="0">
                <a:solidFill>
                  <a:srgbClr val="1E0A14"/>
                </a:solidFill>
                <a:latin typeface="游明朝"/>
                <a:ea typeface="游明朝"/>
              </a:rPr>
              <a:t>クロフネ</a:t>
            </a:r>
          </a:p>
        </p:txBody>
      </p:sp>
      <p:sp>
        <p:nvSpPr>
          <p:cNvPr id="45" name="TextBox 44"/>
          <p:cNvSpPr txBox="1"/>
          <p:nvPr/>
        </p:nvSpPr>
        <p:spPr>
          <a:xfrm>
            <a:off x="6876288" y="3630168"/>
            <a:ext cx="3108960" cy="274320"/>
          </a:xfrm>
          <a:prstGeom prst="rect">
            <a:avLst/>
          </a:prstGeom>
          <a:noFill/>
        </p:spPr>
        <p:txBody>
          <a:bodyPr wrap="square">
            <a:spAutoFit/>
          </a:bodyPr>
          <a:lstStyle/>
          <a:p>
            <a:pPr algn="l"/>
            <a:r>
              <a:rPr sz="1000" b="0" i="0">
                <a:solidFill>
                  <a:srgbClr val="785064"/>
                </a:solidFill>
                <a:latin typeface="游ゴシック"/>
                <a:ea typeface="游ゴシック"/>
              </a:rPr>
              <a:t>複勝率 42.9%  (7頭)</a:t>
            </a:r>
          </a:p>
        </p:txBody>
      </p:sp>
      <p:sp>
        <p:nvSpPr>
          <p:cNvPr id="46" name="Rectangle 45"/>
          <p:cNvSpPr/>
          <p:nvPr/>
        </p:nvSpPr>
        <p:spPr>
          <a:xfrm>
            <a:off x="9966960" y="3355848"/>
            <a:ext cx="1481328" cy="182880"/>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966960" y="3355848"/>
            <a:ext cx="635489" cy="18288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217920" y="4242816"/>
            <a:ext cx="5486400" cy="9875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217920" y="4242816"/>
            <a:ext cx="64008" cy="987552"/>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5080" y="4315968"/>
            <a:ext cx="457200" cy="457200"/>
          </a:xfrm>
          <a:prstGeom prst="rect">
            <a:avLst/>
          </a:prstGeom>
          <a:noFill/>
        </p:spPr>
        <p:txBody>
          <a:bodyPr wrap="square">
            <a:spAutoFit/>
          </a:bodyPr>
          <a:lstStyle/>
          <a:p>
            <a:pPr algn="ctr"/>
            <a:r>
              <a:rPr sz="1600" b="1" i="0">
                <a:solidFill>
                  <a:srgbClr val="785064"/>
                </a:solidFill>
                <a:latin typeface="游ゴシック"/>
                <a:ea typeface="游ゴシック"/>
              </a:rPr>
              <a:t>#3</a:t>
            </a:r>
          </a:p>
        </p:txBody>
      </p:sp>
      <p:sp>
        <p:nvSpPr>
          <p:cNvPr id="51" name="TextBox 50"/>
          <p:cNvSpPr txBox="1"/>
          <p:nvPr/>
        </p:nvSpPr>
        <p:spPr>
          <a:xfrm>
            <a:off x="6876288" y="4334256"/>
            <a:ext cx="2926080" cy="384048"/>
          </a:xfrm>
          <a:prstGeom prst="rect">
            <a:avLst/>
          </a:prstGeom>
          <a:noFill/>
        </p:spPr>
        <p:txBody>
          <a:bodyPr wrap="square">
            <a:spAutoFit/>
          </a:bodyPr>
          <a:lstStyle/>
          <a:p>
            <a:pPr algn="l"/>
            <a:r>
              <a:rPr sz="1400" b="0" i="0">
                <a:solidFill>
                  <a:srgbClr val="1E0A14"/>
                </a:solidFill>
                <a:latin typeface="游明朝"/>
                <a:ea typeface="游明朝"/>
              </a:rPr>
              <a:t>ディープインパクト</a:t>
            </a:r>
          </a:p>
        </p:txBody>
      </p:sp>
      <p:sp>
        <p:nvSpPr>
          <p:cNvPr id="52" name="TextBox 51"/>
          <p:cNvSpPr txBox="1"/>
          <p:nvPr/>
        </p:nvSpPr>
        <p:spPr>
          <a:xfrm>
            <a:off x="6876288" y="4745736"/>
            <a:ext cx="3108960" cy="274320"/>
          </a:xfrm>
          <a:prstGeom prst="rect">
            <a:avLst/>
          </a:prstGeom>
          <a:noFill/>
        </p:spPr>
        <p:txBody>
          <a:bodyPr wrap="square">
            <a:spAutoFit/>
          </a:bodyPr>
          <a:lstStyle/>
          <a:p>
            <a:pPr algn="l"/>
            <a:r>
              <a:rPr sz="1000" b="0" i="0">
                <a:solidFill>
                  <a:srgbClr val="785064"/>
                </a:solidFill>
                <a:latin typeface="游ゴシック"/>
                <a:ea typeface="游ゴシック"/>
              </a:rPr>
              <a:t>複勝率 0.0%  (多数)</a:t>
            </a:r>
          </a:p>
        </p:txBody>
      </p:sp>
      <p:sp>
        <p:nvSpPr>
          <p:cNvPr id="53" name="Rectangle 52"/>
          <p:cNvSpPr/>
          <p:nvPr/>
        </p:nvSpPr>
        <p:spPr>
          <a:xfrm>
            <a:off x="9966960" y="4471416"/>
            <a:ext cx="1481328" cy="182880"/>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76288" y="4974336"/>
            <a:ext cx="4663440" cy="201168"/>
          </a:xfrm>
          <a:prstGeom prst="rect">
            <a:avLst/>
          </a:prstGeom>
          <a:noFill/>
        </p:spPr>
        <p:txBody>
          <a:bodyPr wrap="square">
            <a:spAutoFit/>
          </a:bodyPr>
          <a:lstStyle/>
          <a:p>
            <a:pPr algn="l"/>
            <a:r>
              <a:rPr sz="800" b="0" i="1">
                <a:solidFill>
                  <a:srgbClr val="E8136E"/>
                </a:solidFill>
                <a:latin typeface="游ゴシック"/>
                <a:ea typeface="游ゴシック"/>
              </a:rPr>
              <a:t>ルールザウェイヴ要注意</a:t>
            </a:r>
          </a:p>
        </p:txBody>
      </p:sp>
      <p:sp>
        <p:nvSpPr>
          <p:cNvPr id="55" name="Rectangle 54"/>
          <p:cNvSpPr/>
          <p:nvPr/>
        </p:nvSpPr>
        <p:spPr>
          <a:xfrm>
            <a:off x="365760" y="5376672"/>
            <a:ext cx="11430000" cy="54864"/>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65760" y="5486400"/>
            <a:ext cx="11430000" cy="8961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65760" y="5486400"/>
            <a:ext cx="64008" cy="896112"/>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5522976"/>
            <a:ext cx="1828800" cy="274320"/>
          </a:xfrm>
          <a:prstGeom prst="rect">
            <a:avLst/>
          </a:prstGeom>
          <a:noFill/>
        </p:spPr>
        <p:txBody>
          <a:bodyPr wrap="square">
            <a:spAutoFit/>
          </a:bodyPr>
          <a:lstStyle/>
          <a:p>
            <a:pPr algn="l"/>
            <a:r>
              <a:rPr sz="1100" b="1" i="0">
                <a:solidFill>
                  <a:srgbClr val="E8136E"/>
                </a:solidFill>
                <a:latin typeface="游ゴシック"/>
                <a:ea typeface="游ゴシック"/>
              </a:rPr>
              <a:t>血統総括</a:t>
            </a:r>
          </a:p>
        </p:txBody>
      </p:sp>
      <p:sp>
        <p:nvSpPr>
          <p:cNvPr id="59" name="TextBox 58"/>
          <p:cNvSpPr txBox="1"/>
          <p:nvPr/>
        </p:nvSpPr>
        <p:spPr>
          <a:xfrm>
            <a:off x="548640" y="5806440"/>
            <a:ext cx="11155680" cy="530352"/>
          </a:xfrm>
          <a:prstGeom prst="rect">
            <a:avLst/>
          </a:prstGeom>
          <a:noFill/>
        </p:spPr>
        <p:txBody>
          <a:bodyPr wrap="square">
            <a:spAutoFit/>
          </a:bodyPr>
          <a:lstStyle/>
          <a:p>
            <a:pPr algn="l"/>
            <a:r>
              <a:rPr sz="1100" b="0" i="0">
                <a:solidFill>
                  <a:srgbClr val="1E0A14"/>
                </a:solidFill>
                <a:latin typeface="游ゴシック"/>
                <a:ea typeface="游ゴシック"/>
              </a:rPr>
              <a:t>血統トップ：ブラックチャリス（父キタサンブラック66.7%）とフェスティバルヒル（母父ハーツクライ50%）。ただしブラックチャリスはレースデータとの「データの相克」あり。取捨は慎重に。</a:t>
            </a:r>
          </a:p>
        </p:txBody>
      </p:sp>
      <p:sp>
        <p:nvSpPr>
          <p:cNvPr id="60" name="Rectangle 59"/>
          <p:cNvSpPr/>
          <p:nvPr/>
        </p:nvSpPr>
        <p:spPr>
          <a:xfrm>
            <a:off x="0" y="6492240"/>
            <a:ext cx="12188952" cy="365760"/>
          </a:xfrm>
          <a:prstGeom prst="rect">
            <a:avLst/>
          </a:prstGeom>
          <a:solidFill>
            <a:srgbClr val="B40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5760" y="6519672"/>
            <a:ext cx="91440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62" name="TextBox 61"/>
          <p:cNvSpPr txBox="1"/>
          <p:nvPr/>
        </p:nvSpPr>
        <p:spPr>
          <a:xfrm>
            <a:off x="8686800" y="6519672"/>
            <a:ext cx="3200400" cy="274320"/>
          </a:xfrm>
          <a:prstGeom prst="rect">
            <a:avLst/>
          </a:prstGeom>
          <a:noFill/>
        </p:spPr>
        <p:txBody>
          <a:bodyPr wrap="square">
            <a:spAutoFit/>
          </a:bodyPr>
          <a:lstStyle/>
          <a:p>
            <a:pPr algn="r"/>
            <a:r>
              <a:rPr sz="1000" b="1" i="0">
                <a:solidFill>
                  <a:srgbClr val="F5B731"/>
                </a:solidFill>
                <a:latin typeface="游ゴシック"/>
                <a:ea typeface="游ゴシック"/>
              </a:rPr>
              <a:t>🆓 無料公開  3/8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BF5"/>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841248"/>
          </a:xfrm>
          <a:prstGeom prst="rect">
            <a:avLst/>
          </a:prstGeom>
          <a:noFill/>
        </p:spPr>
        <p:txBody>
          <a:bodyPr wrap="square">
            <a:spAutoFit/>
          </a:bodyPr>
          <a:lstStyle/>
          <a:p>
            <a:pPr algn="l"/>
            <a:r>
              <a:rPr sz="3400" b="1" i="0">
                <a:solidFill>
                  <a:srgbClr val="FFFFFF"/>
                </a:solidFill>
                <a:latin typeface="游明朝"/>
                <a:ea typeface="游明朝"/>
              </a:rPr>
              <a:t>特別解析</a:t>
            </a:r>
          </a:p>
        </p:txBody>
      </p:sp>
      <p:sp>
        <p:nvSpPr>
          <p:cNvPr id="4" name="TextBox 3"/>
          <p:cNvSpPr txBox="1"/>
          <p:nvPr/>
        </p:nvSpPr>
        <p:spPr>
          <a:xfrm>
            <a:off x="457200" y="896112"/>
            <a:ext cx="10972800" cy="402336"/>
          </a:xfrm>
          <a:prstGeom prst="rect">
            <a:avLst/>
          </a:prstGeom>
          <a:noFill/>
        </p:spPr>
        <p:txBody>
          <a:bodyPr wrap="square">
            <a:spAutoFit/>
          </a:bodyPr>
          <a:lstStyle/>
          <a:p>
            <a:pPr algn="l"/>
            <a:r>
              <a:rPr sz="1200" b="0" i="1">
                <a:solidFill>
                  <a:srgbClr val="FFD2E6"/>
                </a:solidFill>
                <a:latin typeface="游ゴシック"/>
                <a:ea typeface="游ゴシック"/>
              </a:rPr>
              <a:t>ギーニョ重賞データ×specialNote 特別ファクター該当馬一覧</a:t>
            </a:r>
          </a:p>
        </p:txBody>
      </p:sp>
      <p:sp>
        <p:nvSpPr>
          <p:cNvPr id="5" name="Rounded Rectangle 4"/>
          <p:cNvSpPr/>
          <p:nvPr/>
        </p:nvSpPr>
        <p:spPr>
          <a:xfrm>
            <a:off x="365760" y="1463040"/>
            <a:ext cx="5541264"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63040"/>
            <a:ext cx="5541264" cy="45720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08760"/>
            <a:ext cx="5358383" cy="365760"/>
          </a:xfrm>
          <a:prstGeom prst="rect">
            <a:avLst/>
          </a:prstGeom>
          <a:noFill/>
        </p:spPr>
        <p:txBody>
          <a:bodyPr wrap="square">
            <a:spAutoFit/>
          </a:bodyPr>
          <a:lstStyle/>
          <a:p>
            <a:pPr algn="l"/>
            <a:r>
              <a:rPr sz="1300" b="1" i="0">
                <a:solidFill>
                  <a:srgbClr val="FFFFFF"/>
                </a:solidFill>
                <a:latin typeface="游ゴシック"/>
                <a:ea typeface="游ゴシック"/>
              </a:rPr>
              <a:t>⭐ 特注  4.2倍</a:t>
            </a:r>
          </a:p>
        </p:txBody>
      </p:sp>
      <p:sp>
        <p:nvSpPr>
          <p:cNvPr id="8" name="TextBox 7"/>
          <p:cNvSpPr txBox="1"/>
          <p:nvPr/>
        </p:nvSpPr>
        <p:spPr>
          <a:xfrm>
            <a:off x="457200" y="1993392"/>
            <a:ext cx="5358383" cy="502920"/>
          </a:xfrm>
          <a:prstGeom prst="rect">
            <a:avLst/>
          </a:prstGeom>
          <a:noFill/>
        </p:spPr>
        <p:txBody>
          <a:bodyPr wrap="square">
            <a:spAutoFit/>
          </a:bodyPr>
          <a:lstStyle/>
          <a:p>
            <a:pPr algn="l"/>
            <a:r>
              <a:rPr sz="2000" b="1" i="0">
                <a:solidFill>
                  <a:srgbClr val="E8136E"/>
                </a:solidFill>
                <a:latin typeface="游明朝"/>
                <a:ea typeface="游明朝"/>
              </a:rPr>
              <a:t>スターアニス</a:t>
            </a:r>
          </a:p>
        </p:txBody>
      </p:sp>
      <p:sp>
        <p:nvSpPr>
          <p:cNvPr id="9" name="TextBox 8"/>
          <p:cNvSpPr txBox="1"/>
          <p:nvPr/>
        </p:nvSpPr>
        <p:spPr>
          <a:xfrm>
            <a:off x="457200" y="2560320"/>
            <a:ext cx="5358383" cy="658368"/>
          </a:xfrm>
          <a:prstGeom prst="rect">
            <a:avLst/>
          </a:prstGeom>
          <a:noFill/>
        </p:spPr>
        <p:txBody>
          <a:bodyPr wrap="square">
            <a:spAutoFit/>
          </a:bodyPr>
          <a:lstStyle/>
          <a:p>
            <a:pPr algn="l"/>
            <a:r>
              <a:rPr sz="900" b="0" i="1">
                <a:solidFill>
                  <a:srgbClr val="1E0A14"/>
                </a:solidFill>
                <a:latin typeface="游ゴシック"/>
                <a:ea typeface="游ゴシック"/>
              </a:rPr>
              <a:t>G1前走1着(阪神JF)→桜花賞連対率100%（ソダシ1着・リバティアイランド1着・アスコリピチェーノ2着・アルマヴェローチェ2着）／ZI最高値132／体重478kgベストゾーン一致</a:t>
            </a:r>
          </a:p>
        </p:txBody>
      </p:sp>
      <p:sp>
        <p:nvSpPr>
          <p:cNvPr id="10" name="Rounded Rectangle 9"/>
          <p:cNvSpPr/>
          <p:nvPr/>
        </p:nvSpPr>
        <p:spPr>
          <a:xfrm>
            <a:off x="6272784" y="1463040"/>
            <a:ext cx="5541264"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2784" y="1463040"/>
            <a:ext cx="5541264" cy="45720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1508760"/>
            <a:ext cx="5358383" cy="365760"/>
          </a:xfrm>
          <a:prstGeom prst="rect">
            <a:avLst/>
          </a:prstGeom>
          <a:noFill/>
        </p:spPr>
        <p:txBody>
          <a:bodyPr wrap="square">
            <a:spAutoFit/>
          </a:bodyPr>
          <a:lstStyle/>
          <a:p>
            <a:pPr algn="l"/>
            <a:r>
              <a:rPr sz="1300" b="1" i="0">
                <a:solidFill>
                  <a:srgbClr val="FFFFFF"/>
                </a:solidFill>
                <a:latin typeface="游ゴシック"/>
                <a:ea typeface="游ゴシック"/>
              </a:rPr>
              <a:t>⭐ 特注  3.0倍</a:t>
            </a:r>
          </a:p>
        </p:txBody>
      </p:sp>
      <p:sp>
        <p:nvSpPr>
          <p:cNvPr id="13" name="TextBox 12"/>
          <p:cNvSpPr txBox="1"/>
          <p:nvPr/>
        </p:nvSpPr>
        <p:spPr>
          <a:xfrm>
            <a:off x="6364224" y="1993392"/>
            <a:ext cx="5358383" cy="502920"/>
          </a:xfrm>
          <a:prstGeom prst="rect">
            <a:avLst/>
          </a:prstGeom>
          <a:noFill/>
        </p:spPr>
        <p:txBody>
          <a:bodyPr wrap="square">
            <a:spAutoFit/>
          </a:bodyPr>
          <a:lstStyle/>
          <a:p>
            <a:pPr algn="l"/>
            <a:r>
              <a:rPr sz="2000" b="1" i="0">
                <a:solidFill>
                  <a:srgbClr val="E8136E"/>
                </a:solidFill>
                <a:latin typeface="游明朝"/>
                <a:ea typeface="游明朝"/>
              </a:rPr>
              <a:t>ドリームコア</a:t>
            </a:r>
          </a:p>
        </p:txBody>
      </p:sp>
      <p:sp>
        <p:nvSpPr>
          <p:cNvPr id="14" name="TextBox 13"/>
          <p:cNvSpPr txBox="1"/>
          <p:nvPr/>
        </p:nvSpPr>
        <p:spPr>
          <a:xfrm>
            <a:off x="6364224" y="2560320"/>
            <a:ext cx="5358383" cy="658368"/>
          </a:xfrm>
          <a:prstGeom prst="rect">
            <a:avLst/>
          </a:prstGeom>
          <a:noFill/>
        </p:spPr>
        <p:txBody>
          <a:bodyPr wrap="square">
            <a:spAutoFit/>
          </a:bodyPr>
          <a:lstStyle/>
          <a:p>
            <a:pPr algn="l"/>
            <a:r>
              <a:rPr sz="900" b="0" i="1">
                <a:solidFill>
                  <a:srgbClr val="1E0A14"/>
                </a:solidFill>
                <a:latin typeface="游ゴシック"/>
                <a:ea typeface="游ゴシック"/>
              </a:rPr>
              <a:t>クイーンCG3 1着ローテ→2022スターズオンアース(7番人気1着)の同パターン／ZI=123上位</a:t>
            </a:r>
          </a:p>
        </p:txBody>
      </p:sp>
      <p:sp>
        <p:nvSpPr>
          <p:cNvPr id="15" name="Rectangle 14"/>
          <p:cNvSpPr/>
          <p:nvPr/>
        </p:nvSpPr>
        <p:spPr>
          <a:xfrm>
            <a:off x="365760" y="3493008"/>
            <a:ext cx="1143000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611880"/>
            <a:ext cx="114300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611880"/>
            <a:ext cx="64008"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648456"/>
            <a:ext cx="10972800" cy="329184"/>
          </a:xfrm>
          <a:prstGeom prst="rect">
            <a:avLst/>
          </a:prstGeom>
          <a:noFill/>
        </p:spPr>
        <p:txBody>
          <a:bodyPr wrap="square">
            <a:spAutoFit/>
          </a:bodyPr>
          <a:lstStyle/>
          <a:p>
            <a:pPr algn="l"/>
            <a:r>
              <a:rPr sz="1300" b="1" i="0">
                <a:solidFill>
                  <a:srgbClr val="B41414"/>
                </a:solidFill>
                <a:latin typeface="游ゴシック"/>
                <a:ea typeface="游ゴシック"/>
              </a:rPr>
              <a:t>⚠️ G2前走消し vs G1前走推し（データからの結論）</a:t>
            </a:r>
          </a:p>
        </p:txBody>
      </p:sp>
      <p:sp>
        <p:nvSpPr>
          <p:cNvPr id="19" name="TextBox 18"/>
          <p:cNvSpPr txBox="1"/>
          <p:nvPr/>
        </p:nvSpPr>
        <p:spPr>
          <a:xfrm>
            <a:off x="548640" y="4041648"/>
            <a:ext cx="11155680" cy="502920"/>
          </a:xfrm>
          <a:prstGeom prst="rect">
            <a:avLst/>
          </a:prstGeom>
          <a:noFill/>
        </p:spPr>
        <p:txBody>
          <a:bodyPr wrap="square">
            <a:spAutoFit/>
          </a:bodyPr>
          <a:lstStyle/>
          <a:p>
            <a:pPr algn="l"/>
            <a:r>
              <a:rPr sz="1100" b="0" i="0">
                <a:solidFill>
                  <a:srgbClr val="1E0A14"/>
                </a:solidFill>
                <a:latin typeface="游ゴシック"/>
                <a:ea typeface="游ゴシック"/>
              </a:rPr>
              <a:t>G2前走1着（チューリップ賞など）の複勝率わずか5%。どんなに実力があっても割り引くのがデータの正解。一方でG1前走（阪神JF等）は複勝率53.8%、前走1着は100%。前走クラスは最重要ファクター。</a:t>
            </a:r>
          </a:p>
        </p:txBody>
      </p:sp>
      <p:sp>
        <p:nvSpPr>
          <p:cNvPr id="20" name="Rectangle 19"/>
          <p:cNvSpPr/>
          <p:nvPr/>
        </p:nvSpPr>
        <p:spPr>
          <a:xfrm>
            <a:off x="365760" y="4709160"/>
            <a:ext cx="11430000" cy="347472"/>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773168"/>
            <a:ext cx="10972800" cy="256032"/>
          </a:xfrm>
          <a:prstGeom prst="rect">
            <a:avLst/>
          </a:prstGeom>
          <a:noFill/>
        </p:spPr>
        <p:txBody>
          <a:bodyPr wrap="square">
            <a:spAutoFit/>
          </a:bodyPr>
          <a:lstStyle/>
          <a:p>
            <a:pPr algn="l"/>
            <a:r>
              <a:rPr sz="1000" b="0" i="0">
                <a:solidFill>
                  <a:srgbClr val="B41414"/>
                </a:solidFill>
                <a:latin typeface="游ゴシック"/>
                <a:ea typeface="游ゴシック"/>
              </a:rPr>
              <a:t>前走消しローテ該当馬 要確認</a:t>
            </a:r>
          </a:p>
        </p:txBody>
      </p:sp>
      <p:sp>
        <p:nvSpPr>
          <p:cNvPr id="22" name="Rectangle 21"/>
          <p:cNvSpPr/>
          <p:nvPr/>
        </p:nvSpPr>
        <p:spPr>
          <a:xfrm>
            <a:off x="365760" y="5138928"/>
            <a:ext cx="11430000" cy="36576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184648"/>
            <a:ext cx="10972800" cy="274320"/>
          </a:xfrm>
          <a:prstGeom prst="rect">
            <a:avLst/>
          </a:prstGeom>
          <a:noFill/>
        </p:spPr>
        <p:txBody>
          <a:bodyPr wrap="square">
            <a:spAutoFit/>
          </a:bodyPr>
          <a:lstStyle/>
          <a:p>
            <a:pPr algn="l"/>
            <a:r>
              <a:rPr sz="1200" b="1" i="0">
                <a:solidFill>
                  <a:srgbClr val="FFFFFF"/>
                </a:solidFill>
                <a:latin typeface="游ゴシック"/>
                <a:ea typeface="游ゴシック"/>
              </a:rPr>
              <a:t>穴馬ファクター該当馬（raceAnaBonus 1.0以上）</a:t>
            </a:r>
          </a:p>
        </p:txBody>
      </p:sp>
      <p:sp>
        <p:nvSpPr>
          <p:cNvPr id="24" name="Rectangle 23"/>
          <p:cNvSpPr/>
          <p:nvPr/>
        </p:nvSpPr>
        <p:spPr>
          <a:xfrm>
            <a:off x="365760" y="5541264"/>
            <a:ext cx="1143000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577840"/>
            <a:ext cx="11247120" cy="777240"/>
          </a:xfrm>
          <a:prstGeom prst="rect">
            <a:avLst/>
          </a:prstGeom>
          <a:noFill/>
        </p:spPr>
        <p:txBody>
          <a:bodyPr wrap="square">
            <a:spAutoFit/>
          </a:bodyPr>
          <a:lstStyle/>
          <a:p>
            <a:pPr algn="l"/>
            <a:r>
              <a:rPr sz="1000" b="0" i="0">
                <a:solidFill>
                  <a:srgbClr val="1E0A14"/>
                </a:solidFill>
                <a:latin typeface="游ゴシック"/>
                <a:ea typeface="游ゴシック"/>
              </a:rPr>
              <a:t>スウィートハピネス（エルフィ(L)前走1着（ライトバックと同パターン）+1.2）  /  ディアダイヤモンド（アネモネ(L)前走1着（ライトバックと同パターン）+1.2）  /  ドリームコア（クイーンCGIII前走1着（スターズオンアースと同パターン）+1.2）  /  フェスティバルヒル（ファンタジーSGIII前走1着（1400→1600延長）+1.2）  /  アランカール（チューリップ賞GII経由（過去3頭穴輩出・着順不問）+0.8 / 前走3着（好走加算）+0.3）  /  ナムラコスモス（チューリップ賞GII経由（過去3頭穴輩出・着順不問）+0.8 / 前走2着（好走加算）+0.3）  /  アイニードユー（フィリーズR前走3着（1400→1600延長組）+1.0）  /  サンアントワーヌ（フィリーズR前走2着（1400→1600延長組）+1.0）  /  リリージョワ（紅梅S(L)前走1着（1400→1600延長）+1.0）</a:t>
            </a:r>
          </a:p>
        </p:txBody>
      </p:sp>
      <p:sp>
        <p:nvSpPr>
          <p:cNvPr id="26" name="Rectangle 25"/>
          <p:cNvSpPr/>
          <p:nvPr/>
        </p:nvSpPr>
        <p:spPr>
          <a:xfrm>
            <a:off x="0" y="6492240"/>
            <a:ext cx="12188952" cy="365760"/>
          </a:xfrm>
          <a:prstGeom prst="rect">
            <a:avLst/>
          </a:prstGeom>
          <a:solidFill>
            <a:srgbClr val="B40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6519672"/>
            <a:ext cx="91440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28" name="TextBox 27"/>
          <p:cNvSpPr txBox="1"/>
          <p:nvPr/>
        </p:nvSpPr>
        <p:spPr>
          <a:xfrm>
            <a:off x="8686800" y="6519672"/>
            <a:ext cx="3200400" cy="274320"/>
          </a:xfrm>
          <a:prstGeom prst="rect">
            <a:avLst/>
          </a:prstGeom>
          <a:noFill/>
        </p:spPr>
        <p:txBody>
          <a:bodyPr wrap="square">
            <a:spAutoFit/>
          </a:bodyPr>
          <a:lstStyle/>
          <a:p>
            <a:pPr algn="r"/>
            <a:r>
              <a:rPr sz="1000" b="1" i="0">
                <a:solidFill>
                  <a:srgbClr val="F5B731"/>
                </a:solidFill>
                <a:latin typeface="游ゴシック"/>
                <a:ea typeface="游ゴシック"/>
              </a:rPr>
              <a:t>🆓 無料公開  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BF5"/>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841248"/>
          </a:xfrm>
          <a:prstGeom prst="rect">
            <a:avLst/>
          </a:prstGeom>
          <a:noFill/>
        </p:spPr>
        <p:txBody>
          <a:bodyPr wrap="square">
            <a:spAutoFit/>
          </a:bodyPr>
          <a:lstStyle/>
          <a:p>
            <a:pPr algn="l"/>
            <a:r>
              <a:rPr sz="3400" b="1" i="0">
                <a:solidFill>
                  <a:srgbClr val="FFFFFF"/>
                </a:solidFill>
                <a:latin typeface="游明朝"/>
                <a:ea typeface="游明朝"/>
              </a:rPr>
              <a:t>総合スコア 1位</a:t>
            </a:r>
          </a:p>
        </p:txBody>
      </p:sp>
      <p:sp>
        <p:nvSpPr>
          <p:cNvPr id="4" name="TextBox 3"/>
          <p:cNvSpPr txBox="1"/>
          <p:nvPr/>
        </p:nvSpPr>
        <p:spPr>
          <a:xfrm>
            <a:off x="457200" y="896112"/>
            <a:ext cx="10972800" cy="402336"/>
          </a:xfrm>
          <a:prstGeom prst="rect">
            <a:avLst/>
          </a:prstGeom>
          <a:noFill/>
        </p:spPr>
        <p:txBody>
          <a:bodyPr wrap="square">
            <a:spAutoFit/>
          </a:bodyPr>
          <a:lstStyle/>
          <a:p>
            <a:pPr algn="l"/>
            <a:r>
              <a:rPr sz="1200" b="0" i="1">
                <a:solidFill>
                  <a:srgbClr val="FFD2E6"/>
                </a:solidFill>
                <a:latin typeface="游ゴシック"/>
                <a:ea typeface="游ゴシック"/>
              </a:rPr>
              <a:t>単勝×複勝 バランス総合評価  —  スターアニス  4.2倍</a:t>
            </a:r>
          </a:p>
        </p:txBody>
      </p:sp>
      <p:sp>
        <p:nvSpPr>
          <p:cNvPr id="5" name="Rectangle 4"/>
          <p:cNvSpPr/>
          <p:nvPr/>
        </p:nvSpPr>
        <p:spPr>
          <a:xfrm>
            <a:off x="365760" y="1463040"/>
            <a:ext cx="5029200" cy="4892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63040"/>
            <a:ext cx="5029200" cy="50292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08760"/>
            <a:ext cx="4754880" cy="411480"/>
          </a:xfrm>
          <a:prstGeom prst="rect">
            <a:avLst/>
          </a:prstGeom>
          <a:noFill/>
        </p:spPr>
        <p:txBody>
          <a:bodyPr wrap="square">
            <a:spAutoFit/>
          </a:bodyPr>
          <a:lstStyle/>
          <a:p>
            <a:pPr algn="l"/>
            <a:r>
              <a:rPr sz="1400" b="1" i="0">
                <a:solidFill>
                  <a:srgbClr val="FFFFFF"/>
                </a:solidFill>
                <a:latin typeface="游ゴシック"/>
                <a:ea typeface="游ゴシック"/>
              </a:rPr>
              <a:t>総合スコア  #1</a:t>
            </a:r>
          </a:p>
        </p:txBody>
      </p:sp>
      <p:sp>
        <p:nvSpPr>
          <p:cNvPr id="8" name="TextBox 7"/>
          <p:cNvSpPr txBox="1"/>
          <p:nvPr/>
        </p:nvSpPr>
        <p:spPr>
          <a:xfrm>
            <a:off x="457200" y="2057400"/>
            <a:ext cx="4846320" cy="914400"/>
          </a:xfrm>
          <a:prstGeom prst="rect">
            <a:avLst/>
          </a:prstGeom>
          <a:noFill/>
        </p:spPr>
        <p:txBody>
          <a:bodyPr wrap="square">
            <a:spAutoFit/>
          </a:bodyPr>
          <a:lstStyle/>
          <a:p>
            <a:pPr algn="ctr"/>
            <a:r>
              <a:rPr sz="3600" b="1" i="0">
                <a:solidFill>
                  <a:srgbClr val="E8136E"/>
                </a:solidFill>
                <a:latin typeface="游明朝"/>
                <a:ea typeface="游明朝"/>
              </a:rPr>
              <a:t>スターアニス</a:t>
            </a:r>
          </a:p>
        </p:txBody>
      </p:sp>
      <p:sp>
        <p:nvSpPr>
          <p:cNvPr id="9" name="TextBox 8"/>
          <p:cNvSpPr txBox="1"/>
          <p:nvPr/>
        </p:nvSpPr>
        <p:spPr>
          <a:xfrm>
            <a:off x="457200" y="3035808"/>
            <a:ext cx="4846320" cy="347472"/>
          </a:xfrm>
          <a:prstGeom prst="rect">
            <a:avLst/>
          </a:prstGeom>
          <a:noFill/>
        </p:spPr>
        <p:txBody>
          <a:bodyPr wrap="square">
            <a:spAutoFit/>
          </a:bodyPr>
          <a:lstStyle/>
          <a:p>
            <a:pPr algn="ctr"/>
            <a:r>
              <a:rPr sz="1400" b="0" i="0">
                <a:solidFill>
                  <a:srgbClr val="785064"/>
                </a:solidFill>
                <a:latin typeface="游ゴシック"/>
                <a:ea typeface="游ゴシック"/>
              </a:rPr>
              <a:t>想定オッズ 4.2倍</a:t>
            </a:r>
          </a:p>
        </p:txBody>
      </p:sp>
      <p:sp>
        <p:nvSpPr>
          <p:cNvPr id="10" name="TextBox 9"/>
          <p:cNvSpPr txBox="1"/>
          <p:nvPr/>
        </p:nvSpPr>
        <p:spPr>
          <a:xfrm>
            <a:off x="502920" y="3547872"/>
            <a:ext cx="548640" cy="384048"/>
          </a:xfrm>
          <a:prstGeom prst="rect">
            <a:avLst/>
          </a:prstGeom>
          <a:noFill/>
        </p:spPr>
        <p:txBody>
          <a:bodyPr wrap="square">
            <a:spAutoFit/>
          </a:bodyPr>
          <a:lstStyle/>
          <a:p>
            <a:pPr algn="l"/>
            <a:r>
              <a:rPr sz="1000" b="1" i="0">
                <a:solidFill>
                  <a:srgbClr val="E8136E"/>
                </a:solidFill>
                <a:latin typeface="游ゴシック"/>
                <a:ea typeface="游ゴシック"/>
              </a:rPr>
              <a:t>総合</a:t>
            </a:r>
          </a:p>
        </p:txBody>
      </p:sp>
      <p:sp>
        <p:nvSpPr>
          <p:cNvPr id="11" name="Rectangle 10"/>
          <p:cNvSpPr/>
          <p:nvPr/>
        </p:nvSpPr>
        <p:spPr>
          <a:xfrm>
            <a:off x="1115568" y="3639312"/>
            <a:ext cx="3200400" cy="201168"/>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15568" y="3639312"/>
            <a:ext cx="1984561" cy="201168"/>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0832" y="3547872"/>
            <a:ext cx="777240" cy="384048"/>
          </a:xfrm>
          <a:prstGeom prst="rect">
            <a:avLst/>
          </a:prstGeom>
          <a:noFill/>
        </p:spPr>
        <p:txBody>
          <a:bodyPr wrap="square">
            <a:spAutoFit/>
          </a:bodyPr>
          <a:lstStyle/>
          <a:p>
            <a:pPr algn="r"/>
            <a:r>
              <a:rPr sz="1100" b="1" i="0">
                <a:solidFill>
                  <a:srgbClr val="E8136E"/>
                </a:solidFill>
                <a:latin typeface="游ゴシック"/>
                <a:ea typeface="游ゴシック"/>
              </a:rPr>
              <a:t>62.0%</a:t>
            </a:r>
          </a:p>
        </p:txBody>
      </p:sp>
      <p:sp>
        <p:nvSpPr>
          <p:cNvPr id="14" name="TextBox 13"/>
          <p:cNvSpPr txBox="1"/>
          <p:nvPr/>
        </p:nvSpPr>
        <p:spPr>
          <a:xfrm>
            <a:off x="502920" y="4114800"/>
            <a:ext cx="548640" cy="384048"/>
          </a:xfrm>
          <a:prstGeom prst="rect">
            <a:avLst/>
          </a:prstGeom>
          <a:noFill/>
        </p:spPr>
        <p:txBody>
          <a:bodyPr wrap="square">
            <a:spAutoFit/>
          </a:bodyPr>
          <a:lstStyle/>
          <a:p>
            <a:pPr algn="l"/>
            <a:r>
              <a:rPr sz="1000" b="1" i="0">
                <a:solidFill>
                  <a:srgbClr val="B45309"/>
                </a:solidFill>
                <a:latin typeface="游ゴシック"/>
                <a:ea typeface="游ゴシック"/>
              </a:rPr>
              <a:t>単勝</a:t>
            </a:r>
          </a:p>
        </p:txBody>
      </p:sp>
      <p:sp>
        <p:nvSpPr>
          <p:cNvPr id="15" name="Rectangle 14"/>
          <p:cNvSpPr/>
          <p:nvPr/>
        </p:nvSpPr>
        <p:spPr>
          <a:xfrm>
            <a:off x="1115568" y="4206240"/>
            <a:ext cx="3200400" cy="201168"/>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15568" y="4206240"/>
            <a:ext cx="1976717" cy="20116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0832" y="4114800"/>
            <a:ext cx="777240" cy="384048"/>
          </a:xfrm>
          <a:prstGeom prst="rect">
            <a:avLst/>
          </a:prstGeom>
          <a:noFill/>
        </p:spPr>
        <p:txBody>
          <a:bodyPr wrap="square">
            <a:spAutoFit/>
          </a:bodyPr>
          <a:lstStyle/>
          <a:p>
            <a:pPr algn="r"/>
            <a:r>
              <a:rPr sz="1100" b="1" i="0">
                <a:solidFill>
                  <a:srgbClr val="B45309"/>
                </a:solidFill>
                <a:latin typeface="游ゴシック"/>
                <a:ea typeface="游ゴシック"/>
              </a:rPr>
              <a:t>61.8%</a:t>
            </a:r>
          </a:p>
        </p:txBody>
      </p:sp>
      <p:sp>
        <p:nvSpPr>
          <p:cNvPr id="18" name="TextBox 17"/>
          <p:cNvSpPr txBox="1"/>
          <p:nvPr/>
        </p:nvSpPr>
        <p:spPr>
          <a:xfrm>
            <a:off x="502920" y="4681728"/>
            <a:ext cx="548640" cy="384048"/>
          </a:xfrm>
          <a:prstGeom prst="rect">
            <a:avLst/>
          </a:prstGeom>
          <a:noFill/>
        </p:spPr>
        <p:txBody>
          <a:bodyPr wrap="square">
            <a:spAutoFit/>
          </a:bodyPr>
          <a:lstStyle/>
          <a:p>
            <a:pPr algn="l"/>
            <a:r>
              <a:rPr sz="1000" b="1" i="0">
                <a:solidFill>
                  <a:srgbClr val="10B981"/>
                </a:solidFill>
                <a:latin typeface="游ゴシック"/>
                <a:ea typeface="游ゴシック"/>
              </a:rPr>
              <a:t>複勝</a:t>
            </a:r>
          </a:p>
        </p:txBody>
      </p:sp>
      <p:sp>
        <p:nvSpPr>
          <p:cNvPr id="19" name="Rectangle 18"/>
          <p:cNvSpPr/>
          <p:nvPr/>
        </p:nvSpPr>
        <p:spPr>
          <a:xfrm>
            <a:off x="1115568" y="4773168"/>
            <a:ext cx="3200400" cy="201168"/>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15568" y="4773168"/>
            <a:ext cx="1992405" cy="2011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0832" y="4681728"/>
            <a:ext cx="777240" cy="384048"/>
          </a:xfrm>
          <a:prstGeom prst="rect">
            <a:avLst/>
          </a:prstGeom>
          <a:noFill/>
        </p:spPr>
        <p:txBody>
          <a:bodyPr wrap="square">
            <a:spAutoFit/>
          </a:bodyPr>
          <a:lstStyle/>
          <a:p>
            <a:pPr algn="r"/>
            <a:r>
              <a:rPr sz="1100" b="1" i="0">
                <a:solidFill>
                  <a:srgbClr val="10B981"/>
                </a:solidFill>
                <a:latin typeface="游ゴシック"/>
                <a:ea typeface="游ゴシック"/>
              </a:rPr>
              <a:t>62.3%</a:t>
            </a:r>
          </a:p>
        </p:txBody>
      </p:sp>
      <p:sp>
        <p:nvSpPr>
          <p:cNvPr id="22" name="Rectangle 21"/>
          <p:cNvSpPr/>
          <p:nvPr/>
        </p:nvSpPr>
        <p:spPr>
          <a:xfrm>
            <a:off x="502920" y="5285232"/>
            <a:ext cx="4754880" cy="54864"/>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394960"/>
            <a:ext cx="4754880" cy="804672"/>
          </a:xfrm>
          <a:prstGeom prst="rect">
            <a:avLst/>
          </a:prstGeom>
          <a:noFill/>
        </p:spPr>
        <p:txBody>
          <a:bodyPr wrap="square">
            <a:spAutoFit/>
          </a:bodyPr>
          <a:lstStyle/>
          <a:p>
            <a:pPr algn="l"/>
            <a:r>
              <a:rPr sz="900" b="0" i="1">
                <a:solidFill>
                  <a:srgbClr val="1E0A14"/>
                </a:solidFill>
                <a:latin typeface="游ゴシック"/>
                <a:ea typeface="游ゴシック"/>
              </a:rPr>
              <a:t>⭐  G1前走1着(阪神JF)→桜花賞連対率100%（ソダシ1着・リバティアイランド1着・アスコリピチェーノ2着・アルマヴェローチェ2着）／ZI最高値132／体重478kgベストゾーン一致</a:t>
            </a:r>
          </a:p>
        </p:txBody>
      </p:sp>
      <p:sp>
        <p:nvSpPr>
          <p:cNvPr id="24" name="Rectangle 23"/>
          <p:cNvSpPr/>
          <p:nvPr/>
        </p:nvSpPr>
        <p:spPr>
          <a:xfrm>
            <a:off x="5669280" y="1463040"/>
            <a:ext cx="6126480" cy="4892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0" y="1463040"/>
            <a:ext cx="6126480" cy="502920"/>
          </a:xfrm>
          <a:prstGeom prst="rect">
            <a:avLst/>
          </a:prstGeom>
          <a:solidFill>
            <a:srgbClr val="B40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33872" y="1508760"/>
            <a:ext cx="5760720" cy="411480"/>
          </a:xfrm>
          <a:prstGeom prst="rect">
            <a:avLst/>
          </a:prstGeom>
          <a:noFill/>
        </p:spPr>
        <p:txBody>
          <a:bodyPr wrap="square">
            <a:spAutoFit/>
          </a:bodyPr>
          <a:lstStyle/>
          <a:p>
            <a:pPr algn="l"/>
            <a:r>
              <a:rPr sz="1400" b="1" i="0">
                <a:solidFill>
                  <a:srgbClr val="FFFFFF"/>
                </a:solidFill>
                <a:latin typeface="游ゴシック"/>
                <a:ea typeface="游ゴシック"/>
              </a:rPr>
              <a:t>ファクター詳細</a:t>
            </a:r>
          </a:p>
        </p:txBody>
      </p:sp>
      <p:sp>
        <p:nvSpPr>
          <p:cNvPr id="27" name="Rectangle 26"/>
          <p:cNvSpPr/>
          <p:nvPr/>
        </p:nvSpPr>
        <p:spPr>
          <a:xfrm>
            <a:off x="5669280" y="2084831"/>
            <a:ext cx="6126480" cy="475488"/>
          </a:xfrm>
          <a:prstGeom prst="rect">
            <a:avLst/>
          </a:prstGeom>
          <a:solidFill>
            <a:srgbClr val="FF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06440" y="2157984"/>
            <a:ext cx="2194560" cy="329184"/>
          </a:xfrm>
          <a:prstGeom prst="rect">
            <a:avLst/>
          </a:prstGeom>
          <a:noFill/>
        </p:spPr>
        <p:txBody>
          <a:bodyPr wrap="square">
            <a:spAutoFit/>
          </a:bodyPr>
          <a:lstStyle/>
          <a:p>
            <a:pPr algn="l"/>
            <a:r>
              <a:rPr sz="1000" b="0" i="0">
                <a:solidFill>
                  <a:srgbClr val="785064"/>
                </a:solidFill>
                <a:latin typeface="游ゴシック"/>
                <a:ea typeface="游ゴシック"/>
              </a:rPr>
              <a:t>能力(ZI)</a:t>
            </a:r>
          </a:p>
        </p:txBody>
      </p:sp>
      <p:sp>
        <p:nvSpPr>
          <p:cNvPr id="29" name="TextBox 28"/>
          <p:cNvSpPr txBox="1"/>
          <p:nvPr/>
        </p:nvSpPr>
        <p:spPr>
          <a:xfrm>
            <a:off x="8092440" y="2157984"/>
            <a:ext cx="3566160" cy="329184"/>
          </a:xfrm>
          <a:prstGeom prst="rect">
            <a:avLst/>
          </a:prstGeom>
          <a:noFill/>
        </p:spPr>
        <p:txBody>
          <a:bodyPr wrap="square">
            <a:spAutoFit/>
          </a:bodyPr>
          <a:lstStyle/>
          <a:p>
            <a:pPr algn="r"/>
            <a:r>
              <a:rPr sz="1100" b="1" i="0">
                <a:solidFill>
                  <a:srgbClr val="E8136E"/>
                </a:solidFill>
                <a:latin typeface="游ゴシック"/>
                <a:ea typeface="游ゴシック"/>
              </a:rPr>
              <a:t>132  (最上位)</a:t>
            </a:r>
          </a:p>
        </p:txBody>
      </p:sp>
      <p:sp>
        <p:nvSpPr>
          <p:cNvPr id="30" name="Rectangle 29"/>
          <p:cNvSpPr/>
          <p:nvPr/>
        </p:nvSpPr>
        <p:spPr>
          <a:xfrm>
            <a:off x="5669280" y="2596896"/>
            <a:ext cx="61264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06440" y="2670048"/>
            <a:ext cx="2194560" cy="329184"/>
          </a:xfrm>
          <a:prstGeom prst="rect">
            <a:avLst/>
          </a:prstGeom>
          <a:noFill/>
        </p:spPr>
        <p:txBody>
          <a:bodyPr wrap="square">
            <a:spAutoFit/>
          </a:bodyPr>
          <a:lstStyle/>
          <a:p>
            <a:pPr algn="l"/>
            <a:r>
              <a:rPr sz="1000" b="0" i="0">
                <a:solidFill>
                  <a:srgbClr val="785064"/>
                </a:solidFill>
                <a:latin typeface="游ゴシック"/>
                <a:ea typeface="游ゴシック"/>
              </a:rPr>
              <a:t>近走</a:t>
            </a:r>
          </a:p>
        </p:txBody>
      </p:sp>
      <p:sp>
        <p:nvSpPr>
          <p:cNvPr id="32" name="TextBox 31"/>
          <p:cNvSpPr txBox="1"/>
          <p:nvPr/>
        </p:nvSpPr>
        <p:spPr>
          <a:xfrm>
            <a:off x="8092440" y="2670048"/>
            <a:ext cx="3566160" cy="329184"/>
          </a:xfrm>
          <a:prstGeom prst="rect">
            <a:avLst/>
          </a:prstGeom>
          <a:noFill/>
        </p:spPr>
        <p:txBody>
          <a:bodyPr wrap="square">
            <a:spAutoFit/>
          </a:bodyPr>
          <a:lstStyle/>
          <a:p>
            <a:pPr algn="r"/>
            <a:r>
              <a:rPr sz="1100" b="1" i="0">
                <a:solidFill>
                  <a:srgbClr val="E8136E"/>
                </a:solidFill>
                <a:latin typeface="游ゴシック"/>
                <a:ea typeface="游ゴシック"/>
              </a:rPr>
              <a:t>3S</a:t>
            </a:r>
          </a:p>
        </p:txBody>
      </p:sp>
      <p:sp>
        <p:nvSpPr>
          <p:cNvPr id="33" name="Rectangle 32"/>
          <p:cNvSpPr/>
          <p:nvPr/>
        </p:nvSpPr>
        <p:spPr>
          <a:xfrm>
            <a:off x="5669280" y="3108960"/>
            <a:ext cx="6126480" cy="475488"/>
          </a:xfrm>
          <a:prstGeom prst="rect">
            <a:avLst/>
          </a:prstGeom>
          <a:solidFill>
            <a:srgbClr val="FF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06440" y="3182112"/>
            <a:ext cx="2194560" cy="329184"/>
          </a:xfrm>
          <a:prstGeom prst="rect">
            <a:avLst/>
          </a:prstGeom>
          <a:noFill/>
        </p:spPr>
        <p:txBody>
          <a:bodyPr wrap="square">
            <a:spAutoFit/>
          </a:bodyPr>
          <a:lstStyle/>
          <a:p>
            <a:pPr algn="l"/>
            <a:r>
              <a:rPr sz="1000" b="0" i="0">
                <a:solidFill>
                  <a:srgbClr val="785064"/>
                </a:solidFill>
                <a:latin typeface="游ゴシック"/>
                <a:ea typeface="游ゴシック"/>
              </a:rPr>
              <a:t>コース適性</a:t>
            </a:r>
          </a:p>
        </p:txBody>
      </p:sp>
      <p:sp>
        <p:nvSpPr>
          <p:cNvPr id="35" name="TextBox 34"/>
          <p:cNvSpPr txBox="1"/>
          <p:nvPr/>
        </p:nvSpPr>
        <p:spPr>
          <a:xfrm>
            <a:off x="8092440" y="3182112"/>
            <a:ext cx="3566160" cy="329184"/>
          </a:xfrm>
          <a:prstGeom prst="rect">
            <a:avLst/>
          </a:prstGeom>
          <a:noFill/>
        </p:spPr>
        <p:txBody>
          <a:bodyPr wrap="square">
            <a:spAutoFit/>
          </a:bodyPr>
          <a:lstStyle/>
          <a:p>
            <a:pPr algn="r"/>
            <a:r>
              <a:rPr sz="1100" b="1" i="0">
                <a:solidFill>
                  <a:srgbClr val="E8136E"/>
                </a:solidFill>
                <a:latin typeface="游ゴシック"/>
                <a:ea typeface="游ゴシック"/>
              </a:rPr>
              <a:t>S</a:t>
            </a:r>
          </a:p>
        </p:txBody>
      </p:sp>
      <p:sp>
        <p:nvSpPr>
          <p:cNvPr id="36" name="Rectangle 35"/>
          <p:cNvSpPr/>
          <p:nvPr/>
        </p:nvSpPr>
        <p:spPr>
          <a:xfrm>
            <a:off x="5669280" y="3621024"/>
            <a:ext cx="61264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06440" y="3694176"/>
            <a:ext cx="2194560" cy="329184"/>
          </a:xfrm>
          <a:prstGeom prst="rect">
            <a:avLst/>
          </a:prstGeom>
          <a:noFill/>
        </p:spPr>
        <p:txBody>
          <a:bodyPr wrap="square">
            <a:spAutoFit/>
          </a:bodyPr>
          <a:lstStyle/>
          <a:p>
            <a:pPr algn="l"/>
            <a:r>
              <a:rPr sz="1000" b="0" i="0">
                <a:solidFill>
                  <a:srgbClr val="785064"/>
                </a:solidFill>
                <a:latin typeface="游ゴシック"/>
                <a:ea typeface="游ゴシック"/>
              </a:rPr>
              <a:t>ローテ</a:t>
            </a:r>
          </a:p>
        </p:txBody>
      </p:sp>
      <p:sp>
        <p:nvSpPr>
          <p:cNvPr id="38" name="TextBox 37"/>
          <p:cNvSpPr txBox="1"/>
          <p:nvPr/>
        </p:nvSpPr>
        <p:spPr>
          <a:xfrm>
            <a:off x="8092440" y="3694176"/>
            <a:ext cx="3566160" cy="329184"/>
          </a:xfrm>
          <a:prstGeom prst="rect">
            <a:avLst/>
          </a:prstGeom>
          <a:noFill/>
        </p:spPr>
        <p:txBody>
          <a:bodyPr wrap="square">
            <a:spAutoFit/>
          </a:bodyPr>
          <a:lstStyle/>
          <a:p>
            <a:pPr algn="r"/>
            <a:r>
              <a:rPr sz="1100" b="1" i="0">
                <a:solidFill>
                  <a:srgbClr val="E8136E"/>
                </a:solidFill>
                <a:latin typeface="游ゴシック"/>
                <a:ea typeface="游ゴシック"/>
              </a:rPr>
              <a:t>S</a:t>
            </a:r>
          </a:p>
        </p:txBody>
      </p:sp>
      <p:sp>
        <p:nvSpPr>
          <p:cNvPr id="39" name="Rectangle 38"/>
          <p:cNvSpPr/>
          <p:nvPr/>
        </p:nvSpPr>
        <p:spPr>
          <a:xfrm>
            <a:off x="5669280" y="4133087"/>
            <a:ext cx="6126480" cy="475488"/>
          </a:xfrm>
          <a:prstGeom prst="rect">
            <a:avLst/>
          </a:prstGeom>
          <a:solidFill>
            <a:srgbClr val="FF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06440" y="4206240"/>
            <a:ext cx="2194560" cy="329184"/>
          </a:xfrm>
          <a:prstGeom prst="rect">
            <a:avLst/>
          </a:prstGeom>
          <a:noFill/>
        </p:spPr>
        <p:txBody>
          <a:bodyPr wrap="square">
            <a:spAutoFit/>
          </a:bodyPr>
          <a:lstStyle/>
          <a:p>
            <a:pPr algn="l"/>
            <a:r>
              <a:rPr sz="1000" b="0" i="0">
                <a:solidFill>
                  <a:srgbClr val="785064"/>
                </a:solidFill>
                <a:latin typeface="游ゴシック"/>
                <a:ea typeface="游ゴシック"/>
              </a:rPr>
              <a:t>厩舎</a:t>
            </a:r>
          </a:p>
        </p:txBody>
      </p:sp>
      <p:sp>
        <p:nvSpPr>
          <p:cNvPr id="41" name="TextBox 40"/>
          <p:cNvSpPr txBox="1"/>
          <p:nvPr/>
        </p:nvSpPr>
        <p:spPr>
          <a:xfrm>
            <a:off x="8092440" y="4206240"/>
            <a:ext cx="3566160" cy="329184"/>
          </a:xfrm>
          <a:prstGeom prst="rect">
            <a:avLst/>
          </a:prstGeom>
          <a:noFill/>
        </p:spPr>
        <p:txBody>
          <a:bodyPr wrap="square">
            <a:spAutoFit/>
          </a:bodyPr>
          <a:lstStyle/>
          <a:p>
            <a:pPr algn="r"/>
            <a:r>
              <a:rPr sz="1100" b="1" i="0">
                <a:solidFill>
                  <a:srgbClr val="E8136E"/>
                </a:solidFill>
                <a:latin typeface="游ゴシック"/>
                <a:ea typeface="游ゴシック"/>
              </a:rPr>
              <a:t>A</a:t>
            </a:r>
          </a:p>
        </p:txBody>
      </p:sp>
      <p:sp>
        <p:nvSpPr>
          <p:cNvPr id="42" name="Rectangle 41"/>
          <p:cNvSpPr/>
          <p:nvPr/>
        </p:nvSpPr>
        <p:spPr>
          <a:xfrm>
            <a:off x="5669280" y="4645152"/>
            <a:ext cx="61264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06440" y="4718304"/>
            <a:ext cx="2194560" cy="329184"/>
          </a:xfrm>
          <a:prstGeom prst="rect">
            <a:avLst/>
          </a:prstGeom>
          <a:noFill/>
        </p:spPr>
        <p:txBody>
          <a:bodyPr wrap="square">
            <a:spAutoFit/>
          </a:bodyPr>
          <a:lstStyle/>
          <a:p>
            <a:pPr algn="l"/>
            <a:r>
              <a:rPr sz="1000" b="0" i="0">
                <a:solidFill>
                  <a:srgbClr val="785064"/>
                </a:solidFill>
                <a:latin typeface="游ゴシック"/>
                <a:ea typeface="游ゴシック"/>
              </a:rPr>
              <a:t>調教</a:t>
            </a:r>
          </a:p>
        </p:txBody>
      </p:sp>
      <p:sp>
        <p:nvSpPr>
          <p:cNvPr id="44" name="TextBox 43"/>
          <p:cNvSpPr txBox="1"/>
          <p:nvPr/>
        </p:nvSpPr>
        <p:spPr>
          <a:xfrm>
            <a:off x="8092440" y="4718304"/>
            <a:ext cx="3566160" cy="329184"/>
          </a:xfrm>
          <a:prstGeom prst="rect">
            <a:avLst/>
          </a:prstGeom>
          <a:noFill/>
        </p:spPr>
        <p:txBody>
          <a:bodyPr wrap="square">
            <a:spAutoFit/>
          </a:bodyPr>
          <a:lstStyle/>
          <a:p>
            <a:pPr algn="r"/>
            <a:r>
              <a:rPr sz="1100" b="1" i="0">
                <a:solidFill>
                  <a:srgbClr val="E8136E"/>
                </a:solidFill>
                <a:latin typeface="游ゴシック"/>
                <a:ea typeface="游ゴシック"/>
              </a:rPr>
              <a:t>3S</a:t>
            </a:r>
          </a:p>
        </p:txBody>
      </p:sp>
      <p:sp>
        <p:nvSpPr>
          <p:cNvPr id="45" name="Rectangle 44"/>
          <p:cNvSpPr/>
          <p:nvPr/>
        </p:nvSpPr>
        <p:spPr>
          <a:xfrm>
            <a:off x="5669280" y="5157216"/>
            <a:ext cx="6126480" cy="475488"/>
          </a:xfrm>
          <a:prstGeom prst="rect">
            <a:avLst/>
          </a:prstGeom>
          <a:solidFill>
            <a:srgbClr val="FF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06440" y="5230368"/>
            <a:ext cx="2194560" cy="329184"/>
          </a:xfrm>
          <a:prstGeom prst="rect">
            <a:avLst/>
          </a:prstGeom>
          <a:noFill/>
        </p:spPr>
        <p:txBody>
          <a:bodyPr wrap="square">
            <a:spAutoFit/>
          </a:bodyPr>
          <a:lstStyle/>
          <a:p>
            <a:pPr algn="l"/>
            <a:r>
              <a:rPr sz="1000" b="0" i="0">
                <a:solidFill>
                  <a:srgbClr val="785064"/>
                </a:solidFill>
                <a:latin typeface="游ゴシック"/>
                <a:ea typeface="游ゴシック"/>
              </a:rPr>
              <a:t>前走</a:t>
            </a:r>
          </a:p>
        </p:txBody>
      </p:sp>
      <p:sp>
        <p:nvSpPr>
          <p:cNvPr id="47" name="TextBox 46"/>
          <p:cNvSpPr txBox="1"/>
          <p:nvPr/>
        </p:nvSpPr>
        <p:spPr>
          <a:xfrm>
            <a:off x="8092440" y="5230368"/>
            <a:ext cx="3566160" cy="329184"/>
          </a:xfrm>
          <a:prstGeom prst="rect">
            <a:avLst/>
          </a:prstGeom>
          <a:noFill/>
        </p:spPr>
        <p:txBody>
          <a:bodyPr wrap="square">
            <a:spAutoFit/>
          </a:bodyPr>
          <a:lstStyle/>
          <a:p>
            <a:pPr algn="r"/>
            <a:r>
              <a:rPr sz="1100" b="0" i="0">
                <a:solidFill>
                  <a:srgbClr val="1E0A14"/>
                </a:solidFill>
                <a:latin typeface="游ゴシック"/>
                <a:ea typeface="游ゴシック"/>
              </a:rPr>
              <a:t>阪神ジュG1</a:t>
            </a:r>
          </a:p>
        </p:txBody>
      </p:sp>
      <p:sp>
        <p:nvSpPr>
          <p:cNvPr id="48" name="Rectangle 47"/>
          <p:cNvSpPr/>
          <p:nvPr/>
        </p:nvSpPr>
        <p:spPr>
          <a:xfrm>
            <a:off x="5669280" y="5669280"/>
            <a:ext cx="61264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06440" y="5742432"/>
            <a:ext cx="2194560" cy="329184"/>
          </a:xfrm>
          <a:prstGeom prst="rect">
            <a:avLst/>
          </a:prstGeom>
          <a:noFill/>
        </p:spPr>
        <p:txBody>
          <a:bodyPr wrap="square">
            <a:spAutoFit/>
          </a:bodyPr>
          <a:lstStyle/>
          <a:p>
            <a:pPr algn="l"/>
            <a:r>
              <a:rPr sz="1000" b="0" i="0">
                <a:solidFill>
                  <a:srgbClr val="785064"/>
                </a:solidFill>
                <a:latin typeface="游ゴシック"/>
                <a:ea typeface="游ゴシック"/>
              </a:rPr>
              <a:t>前走結果</a:t>
            </a:r>
          </a:p>
        </p:txBody>
      </p:sp>
      <p:sp>
        <p:nvSpPr>
          <p:cNvPr id="50" name="TextBox 49"/>
          <p:cNvSpPr txBox="1"/>
          <p:nvPr/>
        </p:nvSpPr>
        <p:spPr>
          <a:xfrm>
            <a:off x="8092440" y="5742432"/>
            <a:ext cx="3566160" cy="329184"/>
          </a:xfrm>
          <a:prstGeom prst="rect">
            <a:avLst/>
          </a:prstGeom>
          <a:noFill/>
        </p:spPr>
        <p:txBody>
          <a:bodyPr wrap="square">
            <a:spAutoFit/>
          </a:bodyPr>
          <a:lstStyle/>
          <a:p>
            <a:pPr algn="r"/>
            <a:r>
              <a:rPr sz="1100" b="1" i="0">
                <a:solidFill>
                  <a:srgbClr val="E8136E"/>
                </a:solidFill>
                <a:latin typeface="游ゴシック"/>
                <a:ea typeface="游ゴシック"/>
              </a:rPr>
              <a:t>1着</a:t>
            </a:r>
          </a:p>
        </p:txBody>
      </p:sp>
      <p:sp>
        <p:nvSpPr>
          <p:cNvPr id="51" name="Rectangle 50"/>
          <p:cNvSpPr/>
          <p:nvPr/>
        </p:nvSpPr>
        <p:spPr>
          <a:xfrm>
            <a:off x="5669280" y="5513832"/>
            <a:ext cx="6126480" cy="777240"/>
          </a:xfrm>
          <a:prstGeom prst="rect">
            <a:avLst/>
          </a:prstGeom>
          <a:solidFill>
            <a:srgbClr val="FF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0" y="5513832"/>
            <a:ext cx="54864" cy="777240"/>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06440" y="5550408"/>
            <a:ext cx="5897880" cy="658368"/>
          </a:xfrm>
          <a:prstGeom prst="rect">
            <a:avLst/>
          </a:prstGeom>
          <a:noFill/>
        </p:spPr>
        <p:txBody>
          <a:bodyPr wrap="square">
            <a:spAutoFit/>
          </a:bodyPr>
          <a:lstStyle/>
          <a:p>
            <a:pPr algn="l"/>
            <a:r>
              <a:rPr sz="800" b="0" i="1">
                <a:solidFill>
                  <a:srgbClr val="1E0A14"/>
                </a:solidFill>
                <a:latin typeface="游ゴシック"/>
                <a:ea typeface="游ゴシック"/>
              </a:rPr>
              <a:t>栗東坂路でスピード感と力強さが同居する稀な内容。馬体に程よい丸みと張り感。ぶっつけ本番にもかかわらず仕上がり不安ゼロ。陣営も「かなりいい状態で戻ってこられた」と自信の言葉。全項目文句のつけどころなし。…</a:t>
            </a:r>
          </a:p>
        </p:txBody>
      </p:sp>
      <p:sp>
        <p:nvSpPr>
          <p:cNvPr id="54" name="Rectangle 53"/>
          <p:cNvSpPr/>
          <p:nvPr/>
        </p:nvSpPr>
        <p:spPr>
          <a:xfrm>
            <a:off x="0" y="6492240"/>
            <a:ext cx="12188952" cy="365760"/>
          </a:xfrm>
          <a:prstGeom prst="rect">
            <a:avLst/>
          </a:prstGeom>
          <a:solidFill>
            <a:srgbClr val="B40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5760" y="6519672"/>
            <a:ext cx="91440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56" name="TextBox 55"/>
          <p:cNvSpPr txBox="1"/>
          <p:nvPr/>
        </p:nvSpPr>
        <p:spPr>
          <a:xfrm>
            <a:off x="8686800" y="6519672"/>
            <a:ext cx="3200400" cy="274320"/>
          </a:xfrm>
          <a:prstGeom prst="rect">
            <a:avLst/>
          </a:prstGeom>
          <a:noFill/>
        </p:spPr>
        <p:txBody>
          <a:bodyPr wrap="square">
            <a:spAutoFit/>
          </a:bodyPr>
          <a:lstStyle/>
          <a:p>
            <a:pPr algn="r"/>
            <a:r>
              <a:rPr sz="1000" b="1" i="0">
                <a:solidFill>
                  <a:srgbClr val="FFDC82"/>
                </a:solidFill>
                <a:latin typeface="游ゴシック"/>
                <a:ea typeface="游ゴシック"/>
              </a:rPr>
              <a:t>🔒 有料限定  5/8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BF5"/>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841248"/>
          </a:xfrm>
          <a:prstGeom prst="rect">
            <a:avLst/>
          </a:prstGeom>
          <a:noFill/>
        </p:spPr>
        <p:txBody>
          <a:bodyPr wrap="square">
            <a:spAutoFit/>
          </a:bodyPr>
          <a:lstStyle/>
          <a:p>
            <a:pPr algn="l"/>
            <a:r>
              <a:rPr sz="3400" b="1" i="0">
                <a:solidFill>
                  <a:srgbClr val="FFFFFF"/>
                </a:solidFill>
                <a:latin typeface="游明朝"/>
                <a:ea typeface="游明朝"/>
              </a:rPr>
              <a:t>単勝スコア 1位</a:t>
            </a:r>
          </a:p>
        </p:txBody>
      </p:sp>
      <p:sp>
        <p:nvSpPr>
          <p:cNvPr id="4" name="TextBox 3"/>
          <p:cNvSpPr txBox="1"/>
          <p:nvPr/>
        </p:nvSpPr>
        <p:spPr>
          <a:xfrm>
            <a:off x="457200" y="896112"/>
            <a:ext cx="10972800" cy="402336"/>
          </a:xfrm>
          <a:prstGeom prst="rect">
            <a:avLst/>
          </a:prstGeom>
          <a:noFill/>
        </p:spPr>
        <p:txBody>
          <a:bodyPr wrap="square">
            <a:spAutoFit/>
          </a:bodyPr>
          <a:lstStyle/>
          <a:p>
            <a:pPr algn="l"/>
            <a:r>
              <a:rPr sz="1200" b="0" i="1">
                <a:solidFill>
                  <a:srgbClr val="FFF0C8"/>
                </a:solidFill>
                <a:latin typeface="游ゴシック"/>
                <a:ea typeface="游ゴシック"/>
              </a:rPr>
              <a:t>単勝確率最上位馬  —  スターアニス  4.2倍</a:t>
            </a:r>
          </a:p>
        </p:txBody>
      </p:sp>
      <p:sp>
        <p:nvSpPr>
          <p:cNvPr id="5" name="Rectangle 4"/>
          <p:cNvSpPr/>
          <p:nvPr/>
        </p:nvSpPr>
        <p:spPr>
          <a:xfrm>
            <a:off x="365760" y="1463040"/>
            <a:ext cx="50292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54480"/>
            <a:ext cx="4846320" cy="914400"/>
          </a:xfrm>
          <a:prstGeom prst="rect">
            <a:avLst/>
          </a:prstGeom>
          <a:noFill/>
        </p:spPr>
        <p:txBody>
          <a:bodyPr wrap="square">
            <a:spAutoFit/>
          </a:bodyPr>
          <a:lstStyle/>
          <a:p>
            <a:pPr algn="ctr"/>
            <a:r>
              <a:rPr sz="3000" b="1" i="0">
                <a:solidFill>
                  <a:srgbClr val="B45309"/>
                </a:solidFill>
                <a:latin typeface="游明朝"/>
                <a:ea typeface="游明朝"/>
              </a:rPr>
              <a:t>スターアニス</a:t>
            </a:r>
          </a:p>
        </p:txBody>
      </p:sp>
      <p:sp>
        <p:nvSpPr>
          <p:cNvPr id="7" name="TextBox 6"/>
          <p:cNvSpPr txBox="1"/>
          <p:nvPr/>
        </p:nvSpPr>
        <p:spPr>
          <a:xfrm>
            <a:off x="457200" y="2514600"/>
            <a:ext cx="4846320" cy="411480"/>
          </a:xfrm>
          <a:prstGeom prst="rect">
            <a:avLst/>
          </a:prstGeom>
          <a:noFill/>
        </p:spPr>
        <p:txBody>
          <a:bodyPr wrap="square">
            <a:spAutoFit/>
          </a:bodyPr>
          <a:lstStyle/>
          <a:p>
            <a:pPr algn="ctr"/>
            <a:r>
              <a:rPr sz="1600" b="1" i="0">
                <a:solidFill>
                  <a:srgbClr val="B45309"/>
                </a:solidFill>
                <a:latin typeface="游ゴシック"/>
                <a:ea typeface="游ゴシック"/>
              </a:rPr>
              <a:t>単勝スコア  61.8%</a:t>
            </a:r>
          </a:p>
        </p:txBody>
      </p:sp>
      <p:sp>
        <p:nvSpPr>
          <p:cNvPr id="8" name="Rectangle 7"/>
          <p:cNvSpPr/>
          <p:nvPr/>
        </p:nvSpPr>
        <p:spPr>
          <a:xfrm>
            <a:off x="548640" y="2999232"/>
            <a:ext cx="4663440" cy="237744"/>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999232"/>
            <a:ext cx="2880360" cy="237744"/>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310128"/>
            <a:ext cx="4846320" cy="292608"/>
          </a:xfrm>
          <a:prstGeom prst="rect">
            <a:avLst/>
          </a:prstGeom>
          <a:noFill/>
        </p:spPr>
        <p:txBody>
          <a:bodyPr wrap="square">
            <a:spAutoFit/>
          </a:bodyPr>
          <a:lstStyle/>
          <a:p>
            <a:pPr algn="ctr"/>
            <a:r>
              <a:rPr sz="1000" b="0" i="0">
                <a:solidFill>
                  <a:srgbClr val="785064"/>
                </a:solidFill>
                <a:latin typeface="游ゴシック"/>
                <a:ea typeface="游ゴシック"/>
              </a:rPr>
              <a:t>19頭中 単勝1位 / 複勝2位</a:t>
            </a:r>
          </a:p>
        </p:txBody>
      </p:sp>
      <p:sp>
        <p:nvSpPr>
          <p:cNvPr id="11" name="Rectangle 10"/>
          <p:cNvSpPr/>
          <p:nvPr/>
        </p:nvSpPr>
        <p:spPr>
          <a:xfrm>
            <a:off x="5669280" y="1463040"/>
            <a:ext cx="612648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0" y="1463040"/>
            <a:ext cx="6126480" cy="3840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06440" y="1508760"/>
            <a:ext cx="5760720" cy="320040"/>
          </a:xfrm>
          <a:prstGeom prst="rect">
            <a:avLst/>
          </a:prstGeom>
          <a:noFill/>
        </p:spPr>
        <p:txBody>
          <a:bodyPr wrap="square">
            <a:spAutoFit/>
          </a:bodyPr>
          <a:lstStyle/>
          <a:p>
            <a:pPr algn="l"/>
            <a:r>
              <a:rPr sz="1300" b="1" i="0">
                <a:solidFill>
                  <a:srgbClr val="FFFFFF"/>
                </a:solidFill>
                <a:latin typeface="游ゴシック"/>
                <a:ea typeface="游ゴシック"/>
              </a:rPr>
              <a:t>なぜ単勝1位か？</a:t>
            </a:r>
          </a:p>
        </p:txBody>
      </p:sp>
      <p:sp>
        <p:nvSpPr>
          <p:cNvPr id="14" name="Rectangle 13"/>
          <p:cNvSpPr/>
          <p:nvPr/>
        </p:nvSpPr>
        <p:spPr>
          <a:xfrm>
            <a:off x="5806440" y="1938528"/>
            <a:ext cx="5852160" cy="365760"/>
          </a:xfrm>
          <a:prstGeom prst="rect">
            <a:avLst/>
          </a:prstGeom>
          <a:solidFill>
            <a:srgbClr val="FFF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975104"/>
            <a:ext cx="5577840" cy="292608"/>
          </a:xfrm>
          <a:prstGeom prst="rect">
            <a:avLst/>
          </a:prstGeom>
          <a:noFill/>
        </p:spPr>
        <p:txBody>
          <a:bodyPr wrap="square">
            <a:spAutoFit/>
          </a:bodyPr>
          <a:lstStyle/>
          <a:p>
            <a:pPr algn="l"/>
            <a:r>
              <a:rPr sz="1100" b="0" i="0">
                <a:solidFill>
                  <a:srgbClr val="B45309"/>
                </a:solidFill>
                <a:latin typeface="游ゴシック"/>
                <a:ea typeface="游ゴシック"/>
              </a:rPr>
              <a:t>✓ ZI=132（全馬最上位）</a:t>
            </a:r>
          </a:p>
        </p:txBody>
      </p:sp>
      <p:sp>
        <p:nvSpPr>
          <p:cNvPr id="16" name="Rectangle 15"/>
          <p:cNvSpPr/>
          <p:nvPr/>
        </p:nvSpPr>
        <p:spPr>
          <a:xfrm>
            <a:off x="5806440" y="2368296"/>
            <a:ext cx="585216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0" y="2404872"/>
            <a:ext cx="5577840" cy="292608"/>
          </a:xfrm>
          <a:prstGeom prst="rect">
            <a:avLst/>
          </a:prstGeom>
          <a:noFill/>
        </p:spPr>
        <p:txBody>
          <a:bodyPr wrap="square">
            <a:spAutoFit/>
          </a:bodyPr>
          <a:lstStyle/>
          <a:p>
            <a:pPr algn="l"/>
            <a:r>
              <a:rPr sz="1100" b="0" i="0">
                <a:solidFill>
                  <a:srgbClr val="B45309"/>
                </a:solidFill>
                <a:latin typeface="游ゴシック"/>
                <a:ea typeface="游ゴシック"/>
              </a:rPr>
              <a:t>✓ ローテS（最高ローテ）</a:t>
            </a:r>
          </a:p>
        </p:txBody>
      </p:sp>
      <p:sp>
        <p:nvSpPr>
          <p:cNvPr id="18" name="Rectangle 17"/>
          <p:cNvSpPr/>
          <p:nvPr/>
        </p:nvSpPr>
        <p:spPr>
          <a:xfrm>
            <a:off x="5806440" y="2798064"/>
            <a:ext cx="5852160" cy="365760"/>
          </a:xfrm>
          <a:prstGeom prst="rect">
            <a:avLst/>
          </a:prstGeom>
          <a:solidFill>
            <a:srgbClr val="FFF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0" y="2834640"/>
            <a:ext cx="5577840" cy="292608"/>
          </a:xfrm>
          <a:prstGeom prst="rect">
            <a:avLst/>
          </a:prstGeom>
          <a:noFill/>
        </p:spPr>
        <p:txBody>
          <a:bodyPr wrap="square">
            <a:spAutoFit/>
          </a:bodyPr>
          <a:lstStyle/>
          <a:p>
            <a:pPr algn="l"/>
            <a:r>
              <a:rPr sz="1100" b="0" i="0">
                <a:solidFill>
                  <a:srgbClr val="B45309"/>
                </a:solidFill>
                <a:latin typeface="游ゴシック"/>
                <a:ea typeface="游ゴシック"/>
              </a:rPr>
              <a:t>✓ 調教3S（万全仕上がり）</a:t>
            </a:r>
          </a:p>
        </p:txBody>
      </p:sp>
      <p:sp>
        <p:nvSpPr>
          <p:cNvPr id="20" name="Rectangle 19"/>
          <p:cNvSpPr/>
          <p:nvPr/>
        </p:nvSpPr>
        <p:spPr>
          <a:xfrm>
            <a:off x="5806440" y="3227832"/>
            <a:ext cx="585216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0" y="3264408"/>
            <a:ext cx="5577840" cy="292608"/>
          </a:xfrm>
          <a:prstGeom prst="rect">
            <a:avLst/>
          </a:prstGeom>
          <a:noFill/>
        </p:spPr>
        <p:txBody>
          <a:bodyPr wrap="square">
            <a:spAutoFit/>
          </a:bodyPr>
          <a:lstStyle/>
          <a:p>
            <a:pPr algn="l"/>
            <a:r>
              <a:rPr sz="1100" b="0" i="0">
                <a:solidFill>
                  <a:srgbClr val="B45309"/>
                </a:solidFill>
                <a:latin typeface="游ゴシック"/>
                <a:ea typeface="游ゴシック"/>
              </a:rPr>
              <a:t>✓ コース適性S</a:t>
            </a:r>
          </a:p>
        </p:txBody>
      </p:sp>
      <p:sp>
        <p:nvSpPr>
          <p:cNvPr id="22" name="Rectangle 21"/>
          <p:cNvSpPr/>
          <p:nvPr/>
        </p:nvSpPr>
        <p:spPr>
          <a:xfrm>
            <a:off x="365760" y="3794760"/>
            <a:ext cx="11430000" cy="45720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840480"/>
            <a:ext cx="10972800" cy="347472"/>
          </a:xfrm>
          <a:prstGeom prst="rect">
            <a:avLst/>
          </a:prstGeom>
          <a:noFill/>
        </p:spPr>
        <p:txBody>
          <a:bodyPr wrap="square">
            <a:spAutoFit/>
          </a:bodyPr>
          <a:lstStyle/>
          <a:p>
            <a:pPr algn="l"/>
            <a:r>
              <a:rPr sz="1200" b="1" i="0">
                <a:solidFill>
                  <a:srgbClr val="FFFFFF"/>
                </a:solidFill>
                <a:latin typeface="游ゴシック"/>
                <a:ea typeface="游ゴシック"/>
              </a:rPr>
              <a:t>騎手コメント（前走）</a:t>
            </a:r>
          </a:p>
        </p:txBody>
      </p:sp>
      <p:sp>
        <p:nvSpPr>
          <p:cNvPr id="24" name="Rectangle 23"/>
          <p:cNvSpPr/>
          <p:nvPr/>
        </p:nvSpPr>
        <p:spPr>
          <a:xfrm>
            <a:off x="365760" y="4297680"/>
            <a:ext cx="1143000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4297680"/>
            <a:ext cx="54864" cy="1143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 y="4352544"/>
            <a:ext cx="11155680" cy="1024128"/>
          </a:xfrm>
          <a:prstGeom prst="rect">
            <a:avLst/>
          </a:prstGeom>
          <a:noFill/>
        </p:spPr>
        <p:txBody>
          <a:bodyPr wrap="square">
            <a:spAutoFit/>
          </a:bodyPr>
          <a:lstStyle/>
          <a:p>
            <a:pPr algn="l"/>
            <a:r>
              <a:rPr sz="1000" b="0" i="1">
                <a:solidFill>
                  <a:srgbClr val="1E0A14"/>
                </a:solidFill>
                <a:latin typeface="游ゴシック"/>
                <a:ea typeface="游ゴシック"/>
              </a:rPr>
              <a:t>1600mへの距離延長にも余裕で対応し、追い出しを我慢できるほどの手応えで押し切った。フットワークが大きく外に出して脚を使わせるのが最適だが、それができれば桜花賞でも直線最強の末脚を炸裂させる可能性がある。ZI最上位の能力は本物だ。</a:t>
            </a:r>
          </a:p>
        </p:txBody>
      </p:sp>
      <p:sp>
        <p:nvSpPr>
          <p:cNvPr id="27" name="Rectangle 26"/>
          <p:cNvSpPr/>
          <p:nvPr/>
        </p:nvSpPr>
        <p:spPr>
          <a:xfrm>
            <a:off x="365760" y="5522976"/>
            <a:ext cx="11430000" cy="420624"/>
          </a:xfrm>
          <a:prstGeom prst="rect">
            <a:avLst/>
          </a:prstGeom>
          <a:solidFill>
            <a:srgbClr val="FFF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5522976"/>
            <a:ext cx="54864" cy="420624"/>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5568696"/>
            <a:ext cx="11155680" cy="320040"/>
          </a:xfrm>
          <a:prstGeom prst="rect">
            <a:avLst/>
          </a:prstGeom>
          <a:noFill/>
        </p:spPr>
        <p:txBody>
          <a:bodyPr wrap="square">
            <a:spAutoFit/>
          </a:bodyPr>
          <a:lstStyle/>
          <a:p>
            <a:pPr algn="l"/>
            <a:r>
              <a:rPr sz="1000" b="0" i="1">
                <a:solidFill>
                  <a:srgbClr val="1E0A14"/>
                </a:solidFill>
                <a:latin typeface="游ゴシック"/>
                <a:ea typeface="游ゴシック"/>
              </a:rPr>
              <a:t>⭐ G1前走1着(阪神JF)→桜花賞連対率100%（ソダシ1着・リバティアイランド1着・アスコリピチェーノ2着・アルマヴェローチェ2着）／ZI最高値132／体重478kgベストゾーン一致</a:t>
            </a:r>
          </a:p>
        </p:txBody>
      </p:sp>
      <p:sp>
        <p:nvSpPr>
          <p:cNvPr id="30" name="Rectangle 29"/>
          <p:cNvSpPr/>
          <p:nvPr/>
        </p:nvSpPr>
        <p:spPr>
          <a:xfrm>
            <a:off x="0" y="6492240"/>
            <a:ext cx="12188952" cy="365760"/>
          </a:xfrm>
          <a:prstGeom prst="rect">
            <a:avLst/>
          </a:prstGeom>
          <a:solidFill>
            <a:srgbClr val="B40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19672"/>
            <a:ext cx="91440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32" name="TextBox 31"/>
          <p:cNvSpPr txBox="1"/>
          <p:nvPr/>
        </p:nvSpPr>
        <p:spPr>
          <a:xfrm>
            <a:off x="8686800" y="6519672"/>
            <a:ext cx="3200400" cy="274320"/>
          </a:xfrm>
          <a:prstGeom prst="rect">
            <a:avLst/>
          </a:prstGeom>
          <a:noFill/>
        </p:spPr>
        <p:txBody>
          <a:bodyPr wrap="square">
            <a:spAutoFit/>
          </a:bodyPr>
          <a:lstStyle/>
          <a:p>
            <a:pPr algn="r"/>
            <a:r>
              <a:rPr sz="1000" b="1" i="0">
                <a:solidFill>
                  <a:srgbClr val="FFDC82"/>
                </a:solidFill>
                <a:latin typeface="游ゴシック"/>
                <a:ea typeface="游ゴシック"/>
              </a:rPr>
              <a:t>🔒 有料限定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BF5"/>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9144000" cy="841248"/>
          </a:xfrm>
          <a:prstGeom prst="rect">
            <a:avLst/>
          </a:prstGeom>
          <a:noFill/>
        </p:spPr>
        <p:txBody>
          <a:bodyPr wrap="square">
            <a:spAutoFit/>
          </a:bodyPr>
          <a:lstStyle/>
          <a:p>
            <a:pPr algn="l"/>
            <a:r>
              <a:rPr sz="3400" b="1" i="0">
                <a:solidFill>
                  <a:srgbClr val="FFFFFF"/>
                </a:solidFill>
                <a:latin typeface="游明朝"/>
                <a:ea typeface="游明朝"/>
              </a:rPr>
              <a:t>穴馬スコア 1位</a:t>
            </a:r>
          </a:p>
        </p:txBody>
      </p:sp>
      <p:sp>
        <p:nvSpPr>
          <p:cNvPr id="4" name="TextBox 3"/>
          <p:cNvSpPr txBox="1"/>
          <p:nvPr/>
        </p:nvSpPr>
        <p:spPr>
          <a:xfrm>
            <a:off x="457200" y="896112"/>
            <a:ext cx="10972800" cy="402336"/>
          </a:xfrm>
          <a:prstGeom prst="rect">
            <a:avLst/>
          </a:prstGeom>
          <a:noFill/>
        </p:spPr>
        <p:txBody>
          <a:bodyPr wrap="square">
            <a:spAutoFit/>
          </a:bodyPr>
          <a:lstStyle/>
          <a:p>
            <a:pPr algn="l"/>
            <a:r>
              <a:rPr sz="1200" b="0" i="1">
                <a:solidFill>
                  <a:srgbClr val="DCC8FF"/>
                </a:solidFill>
                <a:latin typeface="游ゴシック"/>
                <a:ea typeface="游ゴシック"/>
              </a:rPr>
              <a:t>穴馬スコア最上位  —  ブラックチャリス  27.7倍  (単8位)</a:t>
            </a:r>
          </a:p>
        </p:txBody>
      </p:sp>
      <p:sp>
        <p:nvSpPr>
          <p:cNvPr id="5" name="Rectangle 4"/>
          <p:cNvSpPr/>
          <p:nvPr/>
        </p:nvSpPr>
        <p:spPr>
          <a:xfrm>
            <a:off x="365760" y="1463040"/>
            <a:ext cx="5029200" cy="4892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63040"/>
            <a:ext cx="5029200"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08760"/>
            <a:ext cx="4754880" cy="365760"/>
          </a:xfrm>
          <a:prstGeom prst="rect">
            <a:avLst/>
          </a:prstGeom>
          <a:noFill/>
        </p:spPr>
        <p:txBody>
          <a:bodyPr wrap="square">
            <a:spAutoFit/>
          </a:bodyPr>
          <a:lstStyle/>
          <a:p>
            <a:pPr algn="l"/>
            <a:r>
              <a:rPr sz="1300" b="1" i="0">
                <a:solidFill>
                  <a:srgbClr val="FFFFFF"/>
                </a:solidFill>
                <a:latin typeface="游ゴシック"/>
                <a:ea typeface="游ゴシック"/>
              </a:rPr>
              <a:t>穴馬スコア  #1</a:t>
            </a:r>
          </a:p>
        </p:txBody>
      </p:sp>
      <p:sp>
        <p:nvSpPr>
          <p:cNvPr id="8" name="TextBox 7"/>
          <p:cNvSpPr txBox="1"/>
          <p:nvPr/>
        </p:nvSpPr>
        <p:spPr>
          <a:xfrm>
            <a:off x="457200" y="1993392"/>
            <a:ext cx="4846320" cy="804672"/>
          </a:xfrm>
          <a:prstGeom prst="rect">
            <a:avLst/>
          </a:prstGeom>
          <a:noFill/>
        </p:spPr>
        <p:txBody>
          <a:bodyPr wrap="square">
            <a:spAutoFit/>
          </a:bodyPr>
          <a:lstStyle/>
          <a:p>
            <a:pPr algn="ctr"/>
            <a:r>
              <a:rPr sz="2800" b="1" i="0">
                <a:solidFill>
                  <a:srgbClr val="6D28D9"/>
                </a:solidFill>
                <a:latin typeface="游明朝"/>
                <a:ea typeface="游明朝"/>
              </a:rPr>
              <a:t>ブラックチャリス</a:t>
            </a:r>
          </a:p>
        </p:txBody>
      </p:sp>
      <p:sp>
        <p:nvSpPr>
          <p:cNvPr id="9" name="TextBox 8"/>
          <p:cNvSpPr txBox="1"/>
          <p:nvPr/>
        </p:nvSpPr>
        <p:spPr>
          <a:xfrm>
            <a:off x="457200" y="2834640"/>
            <a:ext cx="4846320" cy="347472"/>
          </a:xfrm>
          <a:prstGeom prst="rect">
            <a:avLst/>
          </a:prstGeom>
          <a:noFill/>
        </p:spPr>
        <p:txBody>
          <a:bodyPr wrap="square">
            <a:spAutoFit/>
          </a:bodyPr>
          <a:lstStyle/>
          <a:p>
            <a:pPr algn="ctr"/>
            <a:r>
              <a:rPr sz="1200" b="0" i="0">
                <a:solidFill>
                  <a:srgbClr val="785064"/>
                </a:solidFill>
                <a:latin typeface="游ゴシック"/>
                <a:ea typeface="游ゴシック"/>
              </a:rPr>
              <a:t>27.7倍  (想定28番人気前後)</a:t>
            </a:r>
          </a:p>
        </p:txBody>
      </p:sp>
      <p:sp>
        <p:nvSpPr>
          <p:cNvPr id="10" name="TextBox 9"/>
          <p:cNvSpPr txBox="1"/>
          <p:nvPr/>
        </p:nvSpPr>
        <p:spPr>
          <a:xfrm>
            <a:off x="502920" y="3310128"/>
            <a:ext cx="1371600" cy="384048"/>
          </a:xfrm>
          <a:prstGeom prst="rect">
            <a:avLst/>
          </a:prstGeom>
          <a:noFill/>
        </p:spPr>
        <p:txBody>
          <a:bodyPr wrap="square">
            <a:spAutoFit/>
          </a:bodyPr>
          <a:lstStyle/>
          <a:p>
            <a:pPr algn="l"/>
            <a:r>
              <a:rPr sz="900" b="1" i="0">
                <a:solidFill>
                  <a:srgbClr val="6D28D9"/>
                </a:solidFill>
                <a:latin typeface="游ゴシック"/>
                <a:ea typeface="游ゴシック"/>
              </a:rPr>
              <a:t>穴スコア</a:t>
            </a:r>
          </a:p>
        </p:txBody>
      </p:sp>
      <p:sp>
        <p:nvSpPr>
          <p:cNvPr id="11" name="Rectangle 10"/>
          <p:cNvSpPr/>
          <p:nvPr/>
        </p:nvSpPr>
        <p:spPr>
          <a:xfrm>
            <a:off x="1965960" y="3401568"/>
            <a:ext cx="2834640" cy="182880"/>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65960" y="3401568"/>
            <a:ext cx="1653540" cy="1828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3310128"/>
            <a:ext cx="502920" cy="384048"/>
          </a:xfrm>
          <a:prstGeom prst="rect">
            <a:avLst/>
          </a:prstGeom>
          <a:noFill/>
        </p:spPr>
        <p:txBody>
          <a:bodyPr wrap="square">
            <a:spAutoFit/>
          </a:bodyPr>
          <a:lstStyle/>
          <a:p>
            <a:pPr algn="r"/>
            <a:r>
              <a:rPr sz="1000" b="1" i="0">
                <a:solidFill>
                  <a:srgbClr val="6D28D9"/>
                </a:solidFill>
                <a:latin typeface="游ゴシック"/>
                <a:ea typeface="游ゴシック"/>
              </a:rPr>
              <a:t>1.75pt</a:t>
            </a:r>
          </a:p>
        </p:txBody>
      </p:sp>
      <p:sp>
        <p:nvSpPr>
          <p:cNvPr id="14" name="TextBox 13"/>
          <p:cNvSpPr txBox="1"/>
          <p:nvPr/>
        </p:nvSpPr>
        <p:spPr>
          <a:xfrm>
            <a:off x="502920" y="3858768"/>
            <a:ext cx="1371600" cy="384048"/>
          </a:xfrm>
          <a:prstGeom prst="rect">
            <a:avLst/>
          </a:prstGeom>
          <a:noFill/>
        </p:spPr>
        <p:txBody>
          <a:bodyPr wrap="square">
            <a:spAutoFit/>
          </a:bodyPr>
          <a:lstStyle/>
          <a:p>
            <a:pPr algn="l"/>
            <a:r>
              <a:rPr sz="900" b="1" i="0">
                <a:solidFill>
                  <a:srgbClr val="B45309"/>
                </a:solidFill>
                <a:latin typeface="游ゴシック"/>
                <a:ea typeface="游ゴシック"/>
              </a:rPr>
              <a:t>単勝スコア</a:t>
            </a:r>
          </a:p>
        </p:txBody>
      </p:sp>
      <p:sp>
        <p:nvSpPr>
          <p:cNvPr id="15" name="Rectangle 14"/>
          <p:cNvSpPr/>
          <p:nvPr/>
        </p:nvSpPr>
        <p:spPr>
          <a:xfrm>
            <a:off x="1965960" y="3950207"/>
            <a:ext cx="2834640" cy="182880"/>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965960" y="3950207"/>
            <a:ext cx="1070864" cy="1828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3858768"/>
            <a:ext cx="502920" cy="384048"/>
          </a:xfrm>
          <a:prstGeom prst="rect">
            <a:avLst/>
          </a:prstGeom>
          <a:noFill/>
        </p:spPr>
        <p:txBody>
          <a:bodyPr wrap="square">
            <a:spAutoFit/>
          </a:bodyPr>
          <a:lstStyle/>
          <a:p>
            <a:pPr algn="r"/>
            <a:r>
              <a:rPr sz="1000" b="1" i="0">
                <a:solidFill>
                  <a:srgbClr val="B45309"/>
                </a:solidFill>
                <a:latin typeface="游ゴシック"/>
                <a:ea typeface="游ゴシック"/>
              </a:rPr>
              <a:t>37.8%</a:t>
            </a:r>
          </a:p>
        </p:txBody>
      </p:sp>
      <p:sp>
        <p:nvSpPr>
          <p:cNvPr id="18" name="TextBox 17"/>
          <p:cNvSpPr txBox="1"/>
          <p:nvPr/>
        </p:nvSpPr>
        <p:spPr>
          <a:xfrm>
            <a:off x="502920" y="4407408"/>
            <a:ext cx="1371600" cy="384048"/>
          </a:xfrm>
          <a:prstGeom prst="rect">
            <a:avLst/>
          </a:prstGeom>
          <a:noFill/>
        </p:spPr>
        <p:txBody>
          <a:bodyPr wrap="square">
            <a:spAutoFit/>
          </a:bodyPr>
          <a:lstStyle/>
          <a:p>
            <a:pPr algn="l"/>
            <a:r>
              <a:rPr sz="900" b="1" i="0">
                <a:solidFill>
                  <a:srgbClr val="10B981"/>
                </a:solidFill>
                <a:latin typeface="游ゴシック"/>
                <a:ea typeface="游ゴシック"/>
              </a:rPr>
              <a:t>複勝スコア</a:t>
            </a:r>
          </a:p>
        </p:txBody>
      </p:sp>
      <p:sp>
        <p:nvSpPr>
          <p:cNvPr id="19" name="Rectangle 18"/>
          <p:cNvSpPr/>
          <p:nvPr/>
        </p:nvSpPr>
        <p:spPr>
          <a:xfrm>
            <a:off x="1965960" y="4498848"/>
            <a:ext cx="2834640" cy="182880"/>
          </a:xfrm>
          <a:prstGeom prst="rect">
            <a:avLst/>
          </a:prstGeom>
          <a:solidFill>
            <a:srgbClr val="E6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65960" y="4498848"/>
            <a:ext cx="1527556" cy="182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6320" y="4407408"/>
            <a:ext cx="502920" cy="384048"/>
          </a:xfrm>
          <a:prstGeom prst="rect">
            <a:avLst/>
          </a:prstGeom>
          <a:noFill/>
        </p:spPr>
        <p:txBody>
          <a:bodyPr wrap="square">
            <a:spAutoFit/>
          </a:bodyPr>
          <a:lstStyle/>
          <a:p>
            <a:pPr algn="r"/>
            <a:r>
              <a:rPr sz="1000" b="1" i="0">
                <a:solidFill>
                  <a:srgbClr val="10B981"/>
                </a:solidFill>
                <a:latin typeface="游ゴシック"/>
                <a:ea typeface="游ゴシック"/>
              </a:rPr>
              <a:t>53.9%</a:t>
            </a:r>
          </a:p>
        </p:txBody>
      </p:sp>
      <p:sp>
        <p:nvSpPr>
          <p:cNvPr id="22" name="Rectangle 21"/>
          <p:cNvSpPr/>
          <p:nvPr/>
        </p:nvSpPr>
        <p:spPr>
          <a:xfrm>
            <a:off x="502920" y="5029200"/>
            <a:ext cx="4754880" cy="54864"/>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138928"/>
            <a:ext cx="4754880" cy="384048"/>
          </a:xfrm>
          <a:prstGeom prst="rect">
            <a:avLst/>
          </a:prstGeom>
          <a:noFill/>
        </p:spPr>
        <p:txBody>
          <a:bodyPr wrap="square">
            <a:spAutoFit/>
          </a:bodyPr>
          <a:lstStyle/>
          <a:p>
            <a:pPr algn="l"/>
            <a:r>
              <a:rPr sz="1000" b="1" i="0">
                <a:solidFill>
                  <a:srgbClr val="B45309"/>
                </a:solidFill>
                <a:latin typeface="游ゴシック"/>
                <a:ea typeface="游ゴシック"/>
              </a:rPr>
              <a:t>🎯 フェアリーSGIII前走1着+0.8</a:t>
            </a:r>
          </a:p>
        </p:txBody>
      </p:sp>
      <p:sp>
        <p:nvSpPr>
          <p:cNvPr id="24" name="Rectangle 23"/>
          <p:cNvSpPr/>
          <p:nvPr/>
        </p:nvSpPr>
        <p:spPr>
          <a:xfrm>
            <a:off x="5669280" y="1463040"/>
            <a:ext cx="6126480" cy="4892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0" y="1463040"/>
            <a:ext cx="6126480" cy="4572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33872" y="1508760"/>
            <a:ext cx="5760720" cy="365760"/>
          </a:xfrm>
          <a:prstGeom prst="rect">
            <a:avLst/>
          </a:prstGeom>
          <a:noFill/>
        </p:spPr>
        <p:txBody>
          <a:bodyPr wrap="square">
            <a:spAutoFit/>
          </a:bodyPr>
          <a:lstStyle/>
          <a:p>
            <a:pPr algn="l"/>
            <a:r>
              <a:rPr sz="1200" b="1" i="0">
                <a:solidFill>
                  <a:srgbClr val="FFFFFF"/>
                </a:solidFill>
                <a:latin typeface="游ゴシック"/>
                <a:ea typeface="游ゴシック"/>
              </a:rPr>
              <a:t>データの相克　—— なぜ穴馬か</a:t>
            </a:r>
          </a:p>
        </p:txBody>
      </p:sp>
      <p:sp>
        <p:nvSpPr>
          <p:cNvPr id="27" name="Rectangle 26"/>
          <p:cNvSpPr/>
          <p:nvPr/>
        </p:nvSpPr>
        <p:spPr>
          <a:xfrm>
            <a:off x="5669280" y="1993392"/>
            <a:ext cx="6126480" cy="1188720"/>
          </a:xfrm>
          <a:prstGeom prst="rect">
            <a:avLst/>
          </a:prstGeom>
          <a:solidFill>
            <a:srgbClr val="FFF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0" y="1993392"/>
            <a:ext cx="54864" cy="1188720"/>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06440" y="2029968"/>
            <a:ext cx="5760720" cy="329184"/>
          </a:xfrm>
          <a:prstGeom prst="rect">
            <a:avLst/>
          </a:prstGeom>
          <a:noFill/>
        </p:spPr>
        <p:txBody>
          <a:bodyPr wrap="square">
            <a:spAutoFit/>
          </a:bodyPr>
          <a:lstStyle/>
          <a:p>
            <a:pPr algn="l"/>
            <a:r>
              <a:rPr sz="1200" b="1" i="0">
                <a:solidFill>
                  <a:srgbClr val="B45309"/>
                </a:solidFill>
                <a:latin typeface="游ゴシック"/>
                <a:ea typeface="游ゴシック"/>
              </a:rPr>
              <a:t>血統評価：最高</a:t>
            </a:r>
          </a:p>
        </p:txBody>
      </p:sp>
      <p:sp>
        <p:nvSpPr>
          <p:cNvPr id="30" name="TextBox 29"/>
          <p:cNvSpPr txBox="1"/>
          <p:nvPr/>
        </p:nvSpPr>
        <p:spPr>
          <a:xfrm>
            <a:off x="5806440" y="2395728"/>
            <a:ext cx="5760720" cy="713232"/>
          </a:xfrm>
          <a:prstGeom prst="rect">
            <a:avLst/>
          </a:prstGeom>
          <a:noFill/>
        </p:spPr>
        <p:txBody>
          <a:bodyPr wrap="square">
            <a:spAutoFit/>
          </a:bodyPr>
          <a:lstStyle/>
          <a:p>
            <a:pPr algn="l"/>
            <a:r>
              <a:rPr sz="1000" b="0" i="0">
                <a:solidFill>
                  <a:srgbClr val="1E0A14"/>
                </a:solidFill>
                <a:latin typeface="游ゴシック"/>
                <a:ea typeface="游ゴシック"/>
              </a:rPr>
              <a:t>父キタサンブラック → 桜花賞複勝率66.7%
全産駒が複勝圏という驚異的データ</a:t>
            </a:r>
          </a:p>
        </p:txBody>
      </p:sp>
      <p:sp>
        <p:nvSpPr>
          <p:cNvPr id="31" name="Rectangle 30"/>
          <p:cNvSpPr/>
          <p:nvPr/>
        </p:nvSpPr>
        <p:spPr>
          <a:xfrm>
            <a:off x="5669280" y="3273552"/>
            <a:ext cx="6126480" cy="118872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0" y="3273552"/>
            <a:ext cx="54864" cy="1188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06440" y="3310128"/>
            <a:ext cx="5760720" cy="329184"/>
          </a:xfrm>
          <a:prstGeom prst="rect">
            <a:avLst/>
          </a:prstGeom>
          <a:noFill/>
        </p:spPr>
        <p:txBody>
          <a:bodyPr wrap="square">
            <a:spAutoFit/>
          </a:bodyPr>
          <a:lstStyle/>
          <a:p>
            <a:pPr algn="l"/>
            <a:r>
              <a:rPr sz="1200" b="1" i="0">
                <a:solidFill>
                  <a:srgbClr val="B41414"/>
                </a:solidFill>
                <a:latin typeface="游ゴシック"/>
                <a:ea typeface="游ゴシック"/>
              </a:rPr>
              <a:t>レースデータ：消し根拠あり</a:t>
            </a:r>
          </a:p>
        </p:txBody>
      </p:sp>
      <p:sp>
        <p:nvSpPr>
          <p:cNvPr id="34" name="TextBox 33"/>
          <p:cNvSpPr txBox="1"/>
          <p:nvPr/>
        </p:nvSpPr>
        <p:spPr>
          <a:xfrm>
            <a:off x="5806440" y="3675887"/>
            <a:ext cx="5760720" cy="713232"/>
          </a:xfrm>
          <a:prstGeom prst="rect">
            <a:avLst/>
          </a:prstGeom>
          <a:noFill/>
        </p:spPr>
        <p:txBody>
          <a:bodyPr wrap="square">
            <a:spAutoFit/>
          </a:bodyPr>
          <a:lstStyle/>
          <a:p>
            <a:pPr algn="l"/>
            <a:r>
              <a:rPr sz="1000" b="0" i="0">
                <a:solidFill>
                  <a:srgbClr val="1E0A14"/>
                </a:solidFill>
                <a:latin typeface="游ゴシック"/>
                <a:ea typeface="游ゴシック"/>
              </a:rPr>
              <a:t>前走：フェアリG3
穴馬ファクター加点があるが、他のデータ消し根拠と交差</a:t>
            </a:r>
          </a:p>
        </p:txBody>
      </p:sp>
      <p:sp>
        <p:nvSpPr>
          <p:cNvPr id="35" name="Rectangle 34"/>
          <p:cNvSpPr/>
          <p:nvPr/>
        </p:nvSpPr>
        <p:spPr>
          <a:xfrm>
            <a:off x="5669280" y="4553712"/>
            <a:ext cx="6126480" cy="1755648"/>
          </a:xfrm>
          <a:prstGeom prst="rect">
            <a:avLst/>
          </a:prstGeom>
          <a:solidFill>
            <a:srgbClr val="F5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0" y="4553712"/>
            <a:ext cx="54864" cy="175564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06440" y="4590288"/>
            <a:ext cx="5760720" cy="329184"/>
          </a:xfrm>
          <a:prstGeom prst="rect">
            <a:avLst/>
          </a:prstGeom>
          <a:noFill/>
        </p:spPr>
        <p:txBody>
          <a:bodyPr wrap="square">
            <a:spAutoFit/>
          </a:bodyPr>
          <a:lstStyle/>
          <a:p>
            <a:pPr algn="l"/>
            <a:r>
              <a:rPr sz="1200" b="1" i="0">
                <a:solidFill>
                  <a:srgbClr val="6D28D9"/>
                </a:solidFill>
                <a:latin typeface="游ゴシック"/>
                <a:ea typeface="游ゴシック"/>
              </a:rPr>
              <a:t>⚡ 結論：少額で複勝押さえ</a:t>
            </a:r>
          </a:p>
        </p:txBody>
      </p:sp>
      <p:sp>
        <p:nvSpPr>
          <p:cNvPr id="38" name="TextBox 37"/>
          <p:cNvSpPr txBox="1"/>
          <p:nvPr/>
        </p:nvSpPr>
        <p:spPr>
          <a:xfrm>
            <a:off x="5806440" y="4974336"/>
            <a:ext cx="5760720" cy="1234440"/>
          </a:xfrm>
          <a:prstGeom prst="rect">
            <a:avLst/>
          </a:prstGeom>
          <a:noFill/>
        </p:spPr>
        <p:txBody>
          <a:bodyPr wrap="square">
            <a:spAutoFit/>
          </a:bodyPr>
          <a:lstStyle/>
          <a:p>
            <a:pPr algn="l"/>
            <a:r>
              <a:rPr sz="900" b="0" i="1">
                <a:solidFill>
                  <a:srgbClr val="1E0A14"/>
                </a:solidFill>
                <a:latin typeface="游ゴシック"/>
                <a:ea typeface="游ゴシック"/>
              </a:rPr>
              <a:t>「早期は有利な形態」加点。日本適性○、スピード/スタミナ○。スタミナ核不足は桜花賞では軽微。</a:t>
            </a:r>
          </a:p>
        </p:txBody>
      </p:sp>
      <p:sp>
        <p:nvSpPr>
          <p:cNvPr id="39" name="Rectangle 38"/>
          <p:cNvSpPr/>
          <p:nvPr/>
        </p:nvSpPr>
        <p:spPr>
          <a:xfrm>
            <a:off x="0" y="6492240"/>
            <a:ext cx="12188952" cy="365760"/>
          </a:xfrm>
          <a:prstGeom prst="rect">
            <a:avLst/>
          </a:prstGeom>
          <a:solidFill>
            <a:srgbClr val="B40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6519672"/>
            <a:ext cx="9144000" cy="274320"/>
          </a:xfrm>
          <a:prstGeom prst="rect">
            <a:avLst/>
          </a:prstGeom>
          <a:noFill/>
        </p:spPr>
        <p:txBody>
          <a:bodyPr wrap="square">
            <a:spAutoFit/>
          </a:bodyPr>
          <a:lstStyle/>
          <a:p>
            <a:pPr algn="l"/>
            <a:r>
              <a:rPr sz="1000" b="0" i="0">
                <a:solidFill>
                  <a:srgbClr val="FFD2E6"/>
                </a:solidFill>
                <a:latin typeface="游ゴシック"/>
                <a:ea typeface="游ゴシック"/>
              </a:rPr>
              <a:t>UG競馬 競馬予想チャンネル  ／  桜花賞徹底解析 2026</a:t>
            </a:r>
          </a:p>
        </p:txBody>
      </p:sp>
      <p:sp>
        <p:nvSpPr>
          <p:cNvPr id="41" name="TextBox 40"/>
          <p:cNvSpPr txBox="1"/>
          <p:nvPr/>
        </p:nvSpPr>
        <p:spPr>
          <a:xfrm>
            <a:off x="8686800" y="6519672"/>
            <a:ext cx="3200400" cy="274320"/>
          </a:xfrm>
          <a:prstGeom prst="rect">
            <a:avLst/>
          </a:prstGeom>
          <a:noFill/>
        </p:spPr>
        <p:txBody>
          <a:bodyPr wrap="square">
            <a:spAutoFit/>
          </a:bodyPr>
          <a:lstStyle/>
          <a:p>
            <a:pPr algn="r"/>
            <a:r>
              <a:rPr sz="1000" b="1" i="0">
                <a:solidFill>
                  <a:srgbClr val="FFDC82"/>
                </a:solidFill>
                <a:latin typeface="游ゴシック"/>
                <a:ea typeface="游ゴシック"/>
              </a:rPr>
              <a:t>🔒 有料限定  7/8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136E"/>
        </a:solidFill>
        <a:effectLst/>
      </p:bgPr>
    </p:bg>
    <p:spTree>
      <p:nvGrpSpPr>
        <p:cNvPr id="1" name=""/>
        <p:cNvGrpSpPr/>
        <p:nvPr/>
      </p:nvGrpSpPr>
      <p:grpSpPr/>
      <p:pic>
        <p:nvPicPr>
          <p:cNvPr id="2" name="Picture 1" descr="brain_cover.jpg"/>
          <p:cNvPicPr>
            <a:picLocks noChangeAspect="1"/>
          </p:cNvPicPr>
          <p:nvPr/>
        </p:nvPicPr>
        <p:blipFill>
          <a:blip r:embed="rId2"/>
          <a:stretch>
            <a:fillRect/>
          </a:stretch>
        </p:blipFill>
        <p:spPr>
          <a:xfrm>
            <a:off x="2743200" y="0"/>
            <a:ext cx="9601200" cy="6858000"/>
          </a:xfrm>
          <a:prstGeom prst="rect">
            <a:avLst/>
          </a:prstGeom>
        </p:spPr>
      </p:pic>
      <p:sp>
        <p:nvSpPr>
          <p:cNvPr id="3" name="Rectangle 2"/>
          <p:cNvSpPr/>
          <p:nvPr/>
        </p:nvSpPr>
        <p:spPr>
          <a:xfrm>
            <a:off x="0" y="0"/>
            <a:ext cx="12188952" cy="6858000"/>
          </a:xfrm>
          <a:prstGeom prst="rect">
            <a:avLst/>
          </a:prstGeom>
          <a:solidFill>
            <a:srgbClr val="E81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73152"/>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84848"/>
            <a:ext cx="12188952" cy="73152"/>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0" y="502920"/>
            <a:ext cx="706831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0" y="502920"/>
            <a:ext cx="7068312" cy="548640"/>
          </a:xfrm>
          <a:prstGeom prst="rect">
            <a:avLst/>
          </a:prstGeom>
          <a:noFill/>
        </p:spPr>
        <p:txBody>
          <a:bodyPr wrap="square">
            <a:spAutoFit/>
          </a:bodyPr>
          <a:lstStyle/>
          <a:p>
            <a:pPr algn="ctr"/>
            <a:r>
              <a:rPr sz="1600" b="1" i="0">
                <a:solidFill>
                  <a:srgbClr val="E8136E"/>
                </a:solidFill>
                <a:latin typeface="游ゴシック"/>
                <a:ea typeface="游ゴシック"/>
              </a:rPr>
              <a:t>◆  前半ブロック  ここまで  ◆</a:t>
            </a:r>
          </a:p>
        </p:txBody>
      </p:sp>
      <p:sp>
        <p:nvSpPr>
          <p:cNvPr id="8" name="TextBox 7"/>
          <p:cNvSpPr txBox="1"/>
          <p:nvPr/>
        </p:nvSpPr>
        <p:spPr>
          <a:xfrm>
            <a:off x="914400" y="1234440"/>
            <a:ext cx="10360152" cy="1920240"/>
          </a:xfrm>
          <a:prstGeom prst="rect">
            <a:avLst/>
          </a:prstGeom>
          <a:noFill/>
        </p:spPr>
        <p:txBody>
          <a:bodyPr wrap="square">
            <a:spAutoFit/>
          </a:bodyPr>
          <a:lstStyle/>
          <a:p>
            <a:pPr algn="ctr"/>
            <a:r>
              <a:rPr sz="8000" b="1" i="0">
                <a:solidFill>
                  <a:srgbClr val="FFFFFF"/>
                </a:solidFill>
                <a:latin typeface="游明朝"/>
                <a:ea typeface="游明朝"/>
              </a:rPr>
              <a:t>続きは...</a:t>
            </a:r>
          </a:p>
        </p:txBody>
      </p:sp>
      <p:sp>
        <p:nvSpPr>
          <p:cNvPr id="9" name="TextBox 8"/>
          <p:cNvSpPr txBox="1"/>
          <p:nvPr/>
        </p:nvSpPr>
        <p:spPr>
          <a:xfrm>
            <a:off x="914400" y="3246120"/>
            <a:ext cx="10360152" cy="777240"/>
          </a:xfrm>
          <a:prstGeom prst="rect">
            <a:avLst/>
          </a:prstGeom>
          <a:noFill/>
        </p:spPr>
        <p:txBody>
          <a:bodyPr wrap="square">
            <a:spAutoFit/>
          </a:bodyPr>
          <a:lstStyle/>
          <a:p>
            <a:pPr algn="ctr"/>
            <a:r>
              <a:rPr sz="3000" b="1" i="0">
                <a:solidFill>
                  <a:srgbClr val="F5B731"/>
                </a:solidFill>
                <a:latin typeface="游明朝"/>
                <a:ea typeface="游明朝"/>
              </a:rPr>
              <a:t>有料メンバーシップ　限定公開</a:t>
            </a:r>
          </a:p>
        </p:txBody>
      </p:sp>
      <p:sp>
        <p:nvSpPr>
          <p:cNvPr id="10" name="Rectangle 9"/>
          <p:cNvSpPr/>
          <p:nvPr/>
        </p:nvSpPr>
        <p:spPr>
          <a:xfrm>
            <a:off x="2011680" y="4224528"/>
            <a:ext cx="8165592" cy="457200"/>
          </a:xfrm>
          <a:prstGeom prst="rect">
            <a:avLst/>
          </a:prstGeom>
          <a:solidFill>
            <a:srgbClr val="B40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94560" y="4288536"/>
            <a:ext cx="7772400" cy="320040"/>
          </a:xfrm>
          <a:prstGeom prst="rect">
            <a:avLst/>
          </a:prstGeom>
          <a:noFill/>
        </p:spPr>
        <p:txBody>
          <a:bodyPr wrap="square">
            <a:spAutoFit/>
          </a:bodyPr>
          <a:lstStyle/>
          <a:p>
            <a:pPr algn="l"/>
            <a:r>
              <a:rPr sz="1300" b="0" i="0">
                <a:solidFill>
                  <a:srgbClr val="FFFFFF"/>
                </a:solidFill>
                <a:latin typeface="游ゴシック"/>
                <a:ea typeface="游ゴシック"/>
              </a:rPr>
              <a:t>▶ 全頭スコアランキング完全版（19頭）</a:t>
            </a:r>
          </a:p>
        </p:txBody>
      </p:sp>
      <p:sp>
        <p:nvSpPr>
          <p:cNvPr id="12" name="Rectangle 11"/>
          <p:cNvSpPr/>
          <p:nvPr/>
        </p:nvSpPr>
        <p:spPr>
          <a:xfrm>
            <a:off x="2011680" y="4754880"/>
            <a:ext cx="8165592" cy="457200"/>
          </a:xfrm>
          <a:prstGeom prst="rect">
            <a:avLst/>
          </a:prstGeom>
          <a:solidFill>
            <a:srgbClr val="B40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0" y="4818888"/>
            <a:ext cx="7772400" cy="320040"/>
          </a:xfrm>
          <a:prstGeom prst="rect">
            <a:avLst/>
          </a:prstGeom>
          <a:noFill/>
        </p:spPr>
        <p:txBody>
          <a:bodyPr wrap="square">
            <a:spAutoFit/>
          </a:bodyPr>
          <a:lstStyle/>
          <a:p>
            <a:pPr algn="l"/>
            <a:r>
              <a:rPr sz="1300" b="0" i="0">
                <a:solidFill>
                  <a:srgbClr val="FFFFFF"/>
                </a:solidFill>
                <a:latin typeface="游ゴシック"/>
                <a:ea typeface="游ゴシック"/>
              </a:rPr>
              <a:t>▶ 対抗馬・注意馬 詳細ファクター解説</a:t>
            </a:r>
          </a:p>
        </p:txBody>
      </p:sp>
      <p:sp>
        <p:nvSpPr>
          <p:cNvPr id="14" name="Rectangle 13"/>
          <p:cNvSpPr/>
          <p:nvPr/>
        </p:nvSpPr>
        <p:spPr>
          <a:xfrm>
            <a:off x="2011680" y="5285232"/>
            <a:ext cx="8165592" cy="457200"/>
          </a:xfrm>
          <a:prstGeom prst="rect">
            <a:avLst/>
          </a:prstGeom>
          <a:solidFill>
            <a:srgbClr val="B40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94560" y="5349240"/>
            <a:ext cx="7772400" cy="320040"/>
          </a:xfrm>
          <a:prstGeom prst="rect">
            <a:avLst/>
          </a:prstGeom>
          <a:noFill/>
        </p:spPr>
        <p:txBody>
          <a:bodyPr wrap="square">
            <a:spAutoFit/>
          </a:bodyPr>
          <a:lstStyle/>
          <a:p>
            <a:pPr algn="l"/>
            <a:r>
              <a:rPr sz="1300" b="0" i="0">
                <a:solidFill>
                  <a:srgbClr val="FFFFFF"/>
                </a:solidFill>
                <a:latin typeface="游ゴシック"/>
                <a:ea typeface="游ゴシック"/>
              </a:rPr>
              <a:t>▶ 完全買い目提案（単勝〜3連単まで）</a:t>
            </a:r>
          </a:p>
        </p:txBody>
      </p:sp>
      <p:sp>
        <p:nvSpPr>
          <p:cNvPr id="16" name="Rectangle 15"/>
          <p:cNvSpPr/>
          <p:nvPr/>
        </p:nvSpPr>
        <p:spPr>
          <a:xfrm>
            <a:off x="2743200" y="5943600"/>
            <a:ext cx="6702552" cy="658368"/>
          </a:xfrm>
          <a:prstGeom prst="rect">
            <a:avLst/>
          </a:prstGeom>
          <a:solidFill>
            <a:srgbClr val="F5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0" y="5943600"/>
            <a:ext cx="6702552" cy="658368"/>
          </a:xfrm>
          <a:prstGeom prst="rect">
            <a:avLst/>
          </a:prstGeom>
          <a:noFill/>
        </p:spPr>
        <p:txBody>
          <a:bodyPr wrap="square">
            <a:spAutoFit/>
          </a:bodyPr>
          <a:lstStyle/>
          <a:p>
            <a:pPr algn="ctr"/>
            <a:r>
              <a:rPr sz="1400" b="1" i="0">
                <a:solidFill>
                  <a:srgbClr val="1E0A14"/>
                </a:solidFill>
                <a:latin typeface="游ゴシック"/>
                <a:ea typeface="游ゴシック"/>
              </a:rPr>
              <a:t>▶ チャンネル登録・メンバーシップ登録はこちら</a:t>
            </a:r>
          </a:p>
        </p:txBody>
      </p:sp>
      <p:sp>
        <p:nvSpPr>
          <p:cNvPr id="18" name="TextBox 17"/>
          <p:cNvSpPr txBox="1"/>
          <p:nvPr/>
        </p:nvSpPr>
        <p:spPr>
          <a:xfrm>
            <a:off x="0" y="6510528"/>
            <a:ext cx="12188952" cy="256032"/>
          </a:xfrm>
          <a:prstGeom prst="rect">
            <a:avLst/>
          </a:prstGeom>
          <a:noFill/>
        </p:spPr>
        <p:txBody>
          <a:bodyPr wrap="square">
            <a:spAutoFit/>
          </a:bodyPr>
          <a:lstStyle/>
          <a:p>
            <a:pPr algn="ctr"/>
            <a:r>
              <a:rPr sz="1000" b="0" i="1">
                <a:solidFill>
                  <a:srgbClr val="FFDCEB"/>
                </a:solidFill>
                <a:latin typeface="游ゴシック"/>
                <a:ea typeface="游ゴシック"/>
              </a:rPr>
              <a:t>[チャンネルURL・QRコードをここに挿入]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